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792" y="475488"/>
            <a:ext cx="5852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700">
                <a:solidFill>
                  <a:srgbClr val="4FE3C1"/>
                </a:solidFill>
                <a:latin typeface="Aptos"/>
              </a:rPr>
              <a:t>JUMP THAILAND HACKATHON 2026 · PROJECT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55778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5F5FA"/>
                </a:solidFill>
                <a:latin typeface="Aptos"/>
              </a:rPr>
              <a:t>FutureMe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38528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A8A8BE"/>
                </a:solidFill>
                <a:latin typeface="Aptos"/>
              </a:rPr>
              <a:t>From </a:t>
            </a:r>
            <a:r>
              <a:rPr sz="2300" b="1" i="0">
                <a:solidFill>
                  <a:srgbClr val="FFD37A"/>
                </a:solidFill>
                <a:latin typeface="Aptos"/>
              </a:rPr>
              <a:t>“I think”</a:t>
            </a:r>
            <a:r>
              <a:rPr sz="2300" b="0" i="0">
                <a:solidFill>
                  <a:srgbClr val="A8A8BE"/>
                </a:solidFill>
                <a:latin typeface="Aptos"/>
              </a:rPr>
              <a:t> to </a:t>
            </a:r>
            <a:r>
              <a:rPr sz="2300" b="1" i="0">
                <a:solidFill>
                  <a:srgbClr val="4FE3C1"/>
                </a:solidFill>
                <a:latin typeface="Aptos"/>
              </a:rPr>
              <a:t>“I tried.”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450592"/>
            <a:ext cx="5669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5FA"/>
                </a:solidFill>
                <a:latin typeface="Sukhumvit Set"/>
              </a:rPr>
              <a:t>ช่วยให้นักเรียนเข้าใจตัวเอง ก่อนตัดสินใจอนาคต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063240"/>
            <a:ext cx="5349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8A8BE"/>
                </a:solidFill>
                <a:latin typeface="Aptos"/>
              </a:rPr>
              <a:t>A decision-support prototype for Thai secondary and vocational students.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730752"/>
            <a:ext cx="2971800" cy="292608"/>
          </a:xfrm>
          <a:prstGeom prst="roundRect">
            <a:avLst/>
          </a:prstGeom>
          <a:solidFill>
            <a:srgbClr val="202033"/>
          </a:solidFill>
          <a:ln w="10160">
            <a:solidFill>
              <a:srgbClr val="FFD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3744468"/>
            <a:ext cx="28803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FD37A"/>
                </a:solidFill>
                <a:latin typeface="Aptos"/>
              </a:rPr>
              <a:t>RESEARCH-INFORMED · NOT VALIDATED GUIDANCE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669280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5FA"/>
                </a:solidFill>
                <a:latin typeface="Aptos"/>
              </a:rPr>
              <a:t>Explore the next step—not one final answer.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062472"/>
            <a:ext cx="5760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7778F"/>
                </a:solidFill>
                <a:latin typeface="Aptos"/>
              </a:rPr>
              <a:t>Research synthesis · Product strategy · UX · AI architecture · Validation</a:t>
            </a:r>
          </a:p>
        </p:txBody>
      </p:sp>
      <p:sp>
        <p:nvSpPr>
          <p:cNvPr id="12" name="Oval 11"/>
          <p:cNvSpPr/>
          <p:nvPr/>
        </p:nvSpPr>
        <p:spPr>
          <a:xfrm>
            <a:off x="8257032" y="2834640"/>
            <a:ext cx="950976" cy="9509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2907792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7070D"/>
                </a:solidFill>
                <a:latin typeface="Aptos"/>
              </a:rPr>
              <a:t>ME
NOW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8293608" y="1463040"/>
            <a:ext cx="438912" cy="1847088"/>
          </a:xfrm>
          <a:prstGeom prst="line">
            <a:avLst/>
          </a:prstGeom>
          <a:ln w="25400">
            <a:solidFill>
              <a:srgbClr val="77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818120" y="987552"/>
            <a:ext cx="950976" cy="950976"/>
          </a:xfrm>
          <a:prstGeom prst="ellipse">
            <a:avLst/>
          </a:prstGeom>
          <a:solidFill>
            <a:srgbClr val="6D5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91272" y="1060704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STUDY
ROUTE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8732520" y="1517904"/>
            <a:ext cx="1481328" cy="1792224"/>
          </a:xfrm>
          <a:prstGeom prst="line">
            <a:avLst/>
          </a:prstGeom>
          <a:ln w="25400">
            <a:solidFill>
              <a:srgbClr val="77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738360" y="1042415"/>
            <a:ext cx="950976" cy="950976"/>
          </a:xfrm>
          <a:prstGeom prst="ellipse">
            <a:avLst/>
          </a:prstGeom>
          <a:solidFill>
            <a:srgbClr val="C13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11512" y="1115568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TVET
ROUTE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32520" y="3310128"/>
            <a:ext cx="2029968" cy="1508760"/>
          </a:xfrm>
          <a:prstGeom prst="line">
            <a:avLst/>
          </a:prstGeom>
          <a:ln w="25400">
            <a:solidFill>
              <a:srgbClr val="77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0287000" y="4343400"/>
            <a:ext cx="950976" cy="950976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60152" y="4416552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SKILL
TRIAL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8229600" y="3721608"/>
            <a:ext cx="914400" cy="1536192"/>
          </a:xfrm>
          <a:prstGeom prst="line">
            <a:avLst/>
          </a:prstGeom>
          <a:ln w="29209">
            <a:solidFill>
              <a:srgbClr val="4FE3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754112" y="5138928"/>
            <a:ext cx="1051560" cy="1051560"/>
          </a:xfrm>
          <a:prstGeom prst="ellipse">
            <a:avLst/>
          </a:prstGeom>
          <a:solidFill>
            <a:srgbClr val="4F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27264" y="5212080"/>
            <a:ext cx="905255" cy="9052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070D"/>
                </a:solidFill>
                <a:latin typeface="Aptos"/>
              </a:rPr>
              <a:t>NEXT
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6236208"/>
            <a:ext cx="4343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A8BE"/>
                </a:solidFill>
                <a:latin typeface="Aptos"/>
              </a:rPr>
              <a:t>Several hypotheses.
One reversible next step.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0">
                <a:solidFill>
                  <a:srgbClr val="4FE3C1"/>
                </a:solidFill>
                <a:latin typeface="Aptos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5FA"/>
                </a:solidFill>
                <a:latin typeface="Aptos"/>
              </a:rPr>
              <a:t>Students decide before they have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8BE"/>
                </a:solidFill>
                <a:latin typeface="Aptos"/>
              </a:rPr>
              <a:t>Thai education has visible forks; the day-to-day reality behind each route is harder to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78F"/>
                </a:solidFill>
                <a:latin typeface="Aptos"/>
              </a:rPr>
              <a:t>02</a:t>
            </a:r>
          </a:p>
        </p:txBody>
      </p:sp>
      <p:pic>
        <p:nvPicPr>
          <p:cNvPr id="7" name="Picture 6" descr="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601968"/>
            <a:ext cx="1325880" cy="32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3392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7778F"/>
                </a:solidFill>
                <a:latin typeface="Aptos"/>
              </a:rPr>
              <a:t>FutureMe AI · Project case study ·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664208"/>
            <a:ext cx="3794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5F5FA"/>
                </a:solidFill>
                <a:latin typeface="Aptos"/>
              </a:rPr>
              <a:t>Decisions arrive
before experience.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743200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450">
                <a:solidFill>
                  <a:srgbClr val="FFD37A"/>
                </a:solidFill>
                <a:latin typeface="Aptos"/>
              </a:rPr>
              <a:t>FutureMe’s design hypothesis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054096"/>
            <a:ext cx="361188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A8A8BE"/>
                </a:solidFill>
                <a:latin typeface="Aptos"/>
              </a:rPr>
              <a:t>Students need a safe way to test a direction before committing time, prerequisites and money.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09344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550">
                <a:solidFill>
                  <a:srgbClr val="4FE3C1"/>
                </a:solidFill>
                <a:latin typeface="Aptos"/>
              </a:rPr>
              <a:t>CONSEQUENTIAL CHOICE POINTS</a:t>
            </a:r>
          </a:p>
        </p:txBody>
      </p:sp>
      <p:sp>
        <p:nvSpPr>
          <p:cNvPr id="13" name="Oval 12"/>
          <p:cNvSpPr/>
          <p:nvPr/>
        </p:nvSpPr>
        <p:spPr>
          <a:xfrm>
            <a:off x="5074920" y="2267712"/>
            <a:ext cx="749808" cy="749808"/>
          </a:xfrm>
          <a:prstGeom prst="ellipse">
            <a:avLst/>
          </a:prstGeom>
          <a:solidFill>
            <a:srgbClr val="6D5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48072" y="2340864"/>
            <a:ext cx="603503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A"/>
                </a:solidFill>
                <a:latin typeface="Aptos"/>
              </a:rPr>
              <a:t>ม.3</a:t>
            </a:r>
          </a:p>
        </p:txBody>
      </p:sp>
      <p:sp>
        <p:nvSpPr>
          <p:cNvPr id="15" name="Oval 14"/>
          <p:cNvSpPr/>
          <p:nvPr/>
        </p:nvSpPr>
        <p:spPr>
          <a:xfrm>
            <a:off x="5074920" y="4187952"/>
            <a:ext cx="749808" cy="749808"/>
          </a:xfrm>
          <a:prstGeom prst="ellipse">
            <a:avLst/>
          </a:prstGeom>
          <a:solidFill>
            <a:srgbClr val="C13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8072" y="4261104"/>
            <a:ext cx="603503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A"/>
                </a:solidFill>
                <a:latin typeface="Aptos"/>
              </a:rPr>
              <a:t>ม.6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5815584" y="2322576"/>
            <a:ext cx="722376" cy="320040"/>
          </a:xfrm>
          <a:prstGeom prst="line">
            <a:avLst/>
          </a:prstGeom>
          <a:ln w="1905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815584" y="2322576"/>
            <a:ext cx="2916936" cy="320040"/>
          </a:xfrm>
          <a:prstGeom prst="line">
            <a:avLst/>
          </a:prstGeom>
          <a:ln w="1905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815584" y="2322576"/>
            <a:ext cx="4379976" cy="320040"/>
          </a:xfrm>
          <a:prstGeom prst="line">
            <a:avLst/>
          </a:prstGeom>
          <a:ln w="1905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537960" y="1938528"/>
            <a:ext cx="1417320" cy="749808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2029968"/>
            <a:ext cx="12710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5FA"/>
                </a:solidFill>
                <a:latin typeface="Aptos"/>
              </a:rPr>
              <a:t>General
upper secondary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1938528"/>
            <a:ext cx="1417320" cy="749808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05672" y="2029968"/>
            <a:ext cx="12710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5FA"/>
                </a:solidFill>
                <a:latin typeface="Aptos"/>
              </a:rPr>
              <a:t>Vocational
ปวช.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95560" y="1938528"/>
            <a:ext cx="1417320" cy="749808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8712" y="2029968"/>
            <a:ext cx="12710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5FA"/>
                </a:solidFill>
                <a:latin typeface="Aptos"/>
              </a:rPr>
              <a:t>Other /
local options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5815584" y="4224528"/>
            <a:ext cx="722376" cy="338328"/>
          </a:xfrm>
          <a:prstGeom prst="line">
            <a:avLst/>
          </a:prstGeom>
          <a:ln w="1905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815584" y="4224528"/>
            <a:ext cx="2916936" cy="338328"/>
          </a:xfrm>
          <a:prstGeom prst="line">
            <a:avLst/>
          </a:prstGeom>
          <a:ln w="1905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815584" y="4224528"/>
            <a:ext cx="4379976" cy="338328"/>
          </a:xfrm>
          <a:prstGeom prst="line">
            <a:avLst/>
          </a:prstGeom>
          <a:ln w="1905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37960" y="3840480"/>
            <a:ext cx="1417320" cy="749808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3931920"/>
            <a:ext cx="12710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5FA"/>
                </a:solidFill>
                <a:latin typeface="Aptos"/>
              </a:rPr>
              <a:t>TCAS /
university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32520" y="3840480"/>
            <a:ext cx="1417320" cy="749808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05672" y="3931920"/>
            <a:ext cx="12710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5FA"/>
                </a:solidFill>
                <a:latin typeface="Aptos"/>
              </a:rPr>
              <a:t>Work /
training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95560" y="3840480"/>
            <a:ext cx="1417320" cy="749808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68712" y="3931920"/>
            <a:ext cx="12710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5FA"/>
                </a:solidFill>
                <a:latin typeface="Aptos"/>
              </a:rPr>
              <a:t>Continue
vocational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92040" y="5138928"/>
            <a:ext cx="6537960" cy="676656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FFD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38928" y="5358384"/>
            <a:ext cx="6071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D37A"/>
                </a:solidFill>
                <a:latin typeface="Aptos"/>
              </a:rPr>
              <a:t>Criteria vary by school, campus, programme and admission year.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394960"/>
            <a:ext cx="3611880" cy="548640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5559552"/>
            <a:ext cx="33649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D37A"/>
                </a:solidFill>
                <a:latin typeface="Aptos"/>
              </a:rPr>
              <a:t>PRIMARY USER RESEARCH: NOT YET RUN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6419088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7778F"/>
                </a:solidFill>
                <a:latin typeface="Aptos"/>
              </a:rPr>
              <a:t>Sources: Thai curriculum, VEC catalogue, TCAS70; FutureMe source audit (24 Jul 2026)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0">
                <a:solidFill>
                  <a:srgbClr val="4FE3C1"/>
                </a:solidFill>
                <a:latin typeface="Aptos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5FA"/>
                </a:solidFill>
                <a:latin typeface="Aptos"/>
              </a:rPr>
              <a:t>The cost is mismatch—and a moving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8BE"/>
                </a:solidFill>
                <a:latin typeface="Aptos"/>
              </a:rPr>
              <a:t>The evidence supports earlier exploration, not a promise of one perfect match.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78F"/>
                </a:solidFill>
                <a:latin typeface="Aptos"/>
              </a:rPr>
              <a:t>03</a:t>
            </a:r>
          </a:p>
        </p:txBody>
      </p:sp>
      <p:pic>
        <p:nvPicPr>
          <p:cNvPr id="7" name="Picture 6" descr="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601968"/>
            <a:ext cx="1325880" cy="32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3392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7778F"/>
                </a:solidFill>
                <a:latin typeface="Aptos"/>
              </a:rPr>
              <a:t>FutureMe AI · Project case study · July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91640"/>
            <a:ext cx="3246120" cy="2423160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73152" cy="2423160"/>
          </a:xfrm>
          <a:prstGeom prst="rect">
            <a:avLst/>
          </a:prstGeom>
          <a:solidFill>
            <a:srgbClr val="6D5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83664"/>
            <a:ext cx="27432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6D5EF6"/>
                </a:solidFill>
                <a:latin typeface="Aptos"/>
              </a:rPr>
              <a:t>56%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679192"/>
            <a:ext cx="267004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5FA"/>
                </a:solidFill>
                <a:latin typeface="Aptos"/>
              </a:rPr>
              <a:t>work outside their field of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602736"/>
            <a:ext cx="2670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 spc="350">
                <a:solidFill>
                  <a:srgbClr val="77778F"/>
                </a:solidFill>
                <a:latin typeface="Aptos"/>
              </a:rPr>
              <a:t>TDRI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1691640"/>
            <a:ext cx="3246120" cy="2423160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4528" y="1691640"/>
            <a:ext cx="73152" cy="2423160"/>
          </a:xfrm>
          <a:prstGeom prst="rect">
            <a:avLst/>
          </a:prstGeom>
          <a:solidFill>
            <a:srgbClr val="C13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883664"/>
            <a:ext cx="27432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13BF0"/>
                </a:solidFill>
                <a:latin typeface="Aptos"/>
              </a:rPr>
              <a:t>27%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679192"/>
            <a:ext cx="267004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5FA"/>
                </a:solidFill>
                <a:latin typeface="Aptos"/>
              </a:rPr>
              <a:t>work below their skill or qualification 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602736"/>
            <a:ext cx="2670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 spc="350">
                <a:solidFill>
                  <a:srgbClr val="77778F"/>
                </a:solidFill>
                <a:latin typeface="Aptos"/>
              </a:rPr>
              <a:t>SAME POPULATION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90688" y="1691640"/>
            <a:ext cx="3246120" cy="2423160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90688" y="1691640"/>
            <a:ext cx="73152" cy="2423160"/>
          </a:xfrm>
          <a:prstGeom prst="rect">
            <a:avLst/>
          </a:prstGeom>
          <a:solidFill>
            <a:srgbClr val="4F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9" y="1883664"/>
            <a:ext cx="27432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4FE3C1"/>
                </a:solidFill>
                <a:latin typeface="Aptos"/>
              </a:rPr>
              <a:t>39%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8" y="2679192"/>
            <a:ext cx="267004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5FA"/>
                </a:solidFill>
                <a:latin typeface="Aptos"/>
              </a:rPr>
              <a:t>of core skills expected to change by 2030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8" y="3602736"/>
            <a:ext cx="2670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 spc="350">
                <a:solidFill>
                  <a:srgbClr val="77778F"/>
                </a:solidFill>
                <a:latin typeface="Aptos"/>
              </a:rPr>
              <a:t>WEF EMPLOYER SURVEY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645152"/>
            <a:ext cx="9985248" cy="914400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4FE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937760"/>
            <a:ext cx="9418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FE3C1"/>
                </a:solidFill>
                <a:latin typeface="Aptos"/>
              </a:rPr>
              <a:t>Design implication: </a:t>
            </a:r>
            <a:r>
              <a:rPr sz="1800" b="1" i="0">
                <a:solidFill>
                  <a:srgbClr val="F5F5FA"/>
                </a:solidFill>
                <a:latin typeface="Aptos"/>
              </a:rPr>
              <a:t>help students test, compare and revise—before a direction becomes expensive to change.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806440"/>
            <a:ext cx="10104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A8BE"/>
                </a:solidFill>
                <a:latin typeface="Aptos"/>
              </a:rPr>
              <a:t>Caution: the TDRI public page describes a broadly highly educated group and does not expose its denominator or method. These figures are problem context, not a FutureMe performance baseline.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6419088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7778F"/>
                </a:solidFill>
                <a:latin typeface="Aptos"/>
              </a:rPr>
              <a:t>Sources: TDRI (2025); WEF Future of Jobs (2025); scopes differ and are not combined causally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0">
                <a:solidFill>
                  <a:srgbClr val="4FE3C1"/>
                </a:solidFill>
                <a:latin typeface="Aptos"/>
              </a:rPr>
              <a:t>CURRENT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5FA"/>
                </a:solidFill>
                <a:latin typeface="Aptos"/>
              </a:rPr>
              <a:t>Information exists. Interpretation is fragmented.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8BE"/>
                </a:solidFill>
                <a:latin typeface="Aptos"/>
              </a:rPr>
              <a:t>The gap is not another list—it is a visible chain from self-knowledge to 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78F"/>
                </a:solidFill>
                <a:latin typeface="Aptos"/>
              </a:rPr>
              <a:t>04</a:t>
            </a:r>
          </a:p>
        </p:txBody>
      </p:sp>
      <p:pic>
        <p:nvPicPr>
          <p:cNvPr id="7" name="Picture 6" descr="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601968"/>
            <a:ext cx="1325880" cy="32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3392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7778F"/>
                </a:solidFill>
                <a:latin typeface="Aptos"/>
              </a:rPr>
              <a:t>FutureMe AI · Project case study ·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450">
                <a:solidFill>
                  <a:srgbClr val="6D5EF6"/>
                </a:solidFill>
                <a:latin typeface="Aptos"/>
              </a:rPr>
              <a:t>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01952"/>
            <a:ext cx="2057400" cy="1298448"/>
          </a:xfrm>
          <a:prstGeom prst="roundRect">
            <a:avLst/>
          </a:prstGeom>
          <a:solidFill>
            <a:srgbClr val="171724"/>
          </a:solidFill>
          <a:ln w="15240">
            <a:solidFill>
              <a:srgbClr val="6D5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103120"/>
            <a:ext cx="1819656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A"/>
                </a:solidFill>
                <a:latin typeface="Aptos"/>
              </a:rPr>
              <a:t>School plans
TCAS pages
Career sites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2928" y="235915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55448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450">
                <a:solidFill>
                  <a:srgbClr val="C13BF0"/>
                </a:solidFill>
                <a:latin typeface="Aptos"/>
              </a:rPr>
              <a:t>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901952"/>
            <a:ext cx="2057400" cy="1298448"/>
          </a:xfrm>
          <a:prstGeom prst="roundRect">
            <a:avLst/>
          </a:prstGeom>
          <a:solidFill>
            <a:srgbClr val="171724"/>
          </a:solidFill>
          <a:ln w="15240">
            <a:solidFill>
              <a:srgbClr val="C13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64991" y="2103120"/>
            <a:ext cx="1819656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A"/>
                </a:solidFill>
                <a:latin typeface="Aptos"/>
              </a:rPr>
              <a:t>Static interest
questionnaire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235915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155448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450">
                <a:solidFill>
                  <a:srgbClr val="FF6B6B"/>
                </a:solidFill>
                <a:latin typeface="Aptos"/>
              </a:rPr>
              <a:t>RESULT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1901952"/>
            <a:ext cx="2057400" cy="1298448"/>
          </a:xfrm>
          <a:prstGeom prst="roundRect">
            <a:avLst/>
          </a:prstGeom>
          <a:solidFill>
            <a:srgbClr val="171724"/>
          </a:solidFill>
          <a:ln w="1524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25312" y="2103120"/>
            <a:ext cx="1819656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A"/>
                </a:solidFill>
                <a:latin typeface="Aptos"/>
              </a:rPr>
              <a:t>Generic career
or faculty 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7" y="235915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55448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450">
                <a:solidFill>
                  <a:srgbClr val="FFD37A"/>
                </a:solidFill>
                <a:latin typeface="Aptos"/>
              </a:rPr>
              <a:t>AFTER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1901952"/>
            <a:ext cx="2057400" cy="1298448"/>
          </a:xfrm>
          <a:prstGeom prst="roundRect">
            <a:avLst/>
          </a:prstGeom>
          <a:solidFill>
            <a:srgbClr val="171724"/>
          </a:solidFill>
          <a:ln w="15240">
            <a:solidFill>
              <a:srgbClr val="FFD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5632" y="2103120"/>
            <a:ext cx="1819656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A"/>
                </a:solidFill>
                <a:latin typeface="Aptos"/>
              </a:rPr>
              <a:t>Still unsure
what to 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675887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500">
                <a:solidFill>
                  <a:srgbClr val="4FE3C1"/>
                </a:solidFill>
                <a:latin typeface="Aptos"/>
              </a:rPr>
              <a:t>What is missing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041648"/>
            <a:ext cx="10808208" cy="1133856"/>
          </a:xfrm>
          <a:prstGeom prst="roundRect">
            <a:avLst/>
          </a:prstGeom>
          <a:solidFill>
            <a:srgbClr val="202033"/>
          </a:solidFill>
          <a:ln w="15875">
            <a:solidFill>
              <a:srgbClr val="4FE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5840" y="4407408"/>
            <a:ext cx="1828800" cy="292608"/>
          </a:xfrm>
          <a:prstGeom prst="roundRect">
            <a:avLst/>
          </a:prstGeom>
          <a:solidFill>
            <a:srgbClr val="0B0B14"/>
          </a:solidFill>
          <a:ln w="10160">
            <a:solidFill>
              <a:srgbClr val="6D5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421124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D5EF6"/>
                </a:solidFill>
                <a:latin typeface="Aptos"/>
              </a:rPr>
              <a:t>WHAT I SAID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36168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407408"/>
            <a:ext cx="1828800" cy="292608"/>
          </a:xfrm>
          <a:prstGeom prst="roundRect">
            <a:avLst/>
          </a:prstGeom>
          <a:solidFill>
            <a:srgbClr val="0B0B14"/>
          </a:solidFill>
          <a:ln w="10160">
            <a:solidFill>
              <a:srgbClr val="C13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39" y="4421124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13BF0"/>
                </a:solidFill>
                <a:latin typeface="Aptos"/>
              </a:rPr>
              <a:t>WHAT I TRIED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79" y="436168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407408"/>
            <a:ext cx="1828800" cy="292608"/>
          </a:xfrm>
          <a:prstGeom prst="roundRect">
            <a:avLst/>
          </a:prstGeom>
          <a:solidFill>
            <a:srgbClr val="0B0B14"/>
          </a:solidFill>
          <a:ln w="10160">
            <a:solidFill>
              <a:srgbClr val="4FE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421124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FE3C1"/>
                </a:solidFill>
                <a:latin typeface="Aptos"/>
              </a:rPr>
              <a:t>WHY THIS ROUTE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36168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8280" y="4407408"/>
            <a:ext cx="1828800" cy="292608"/>
          </a:xfrm>
          <a:prstGeom prst="roundRect">
            <a:avLst/>
          </a:prstGeom>
          <a:solidFill>
            <a:srgbClr val="0B0B14"/>
          </a:solidFill>
          <a:ln w="10160">
            <a:solidFill>
              <a:srgbClr val="FFD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4421124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D37A"/>
                </a:solidFill>
                <a:latin typeface="Aptos"/>
              </a:rPr>
              <a:t>WHAT TO DO NEXT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5559552"/>
            <a:ext cx="10241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8A8BE"/>
                </a:solidFill>
                <a:latin typeface="Aptos"/>
              </a:rPr>
              <a:t>Admission criteria expire. Career-to-programme links are many-to-many. A trustworthy product must show scope, date and source.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6419088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7778F"/>
                </a:solidFill>
                <a:latin typeface="Aptos"/>
              </a:rPr>
              <a:t>Sources: FutureMe Data/RAG_DATA_SPEC; curriculum and source-audit files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0">
                <a:solidFill>
                  <a:srgbClr val="4FE3C1"/>
                </a:solidFill>
                <a:latin typeface="Aptos"/>
              </a:rPr>
              <a:t>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5FA"/>
                </a:solidFill>
                <a:latin typeface="Aptos"/>
              </a:rPr>
              <a:t>The idea evolved from matching to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8BE"/>
                </a:solidFill>
                <a:latin typeface="Aptos"/>
              </a:rPr>
              <a:t>Each research input changed a product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78F"/>
                </a:solidFill>
                <a:latin typeface="Aptos"/>
              </a:rPr>
              <a:t>05</a:t>
            </a:r>
          </a:p>
        </p:txBody>
      </p:sp>
      <p:pic>
        <p:nvPicPr>
          <p:cNvPr id="7" name="Picture 6" descr="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601968"/>
            <a:ext cx="1325880" cy="32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3392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7778F"/>
                </a:solidFill>
                <a:latin typeface="Aptos"/>
              </a:rPr>
              <a:t>FutureMe AI · Project case study · July 2026</a:t>
            </a:r>
          </a:p>
        </p:txBody>
      </p:sp>
      <p:sp>
        <p:nvSpPr>
          <p:cNvPr id="9" name="Oval 8"/>
          <p:cNvSpPr/>
          <p:nvPr/>
        </p:nvSpPr>
        <p:spPr>
          <a:xfrm>
            <a:off x="1207007" y="1828800"/>
            <a:ext cx="658368" cy="65836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901952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18105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450">
                <a:solidFill>
                  <a:srgbClr val="FF6B6B"/>
                </a:solidFill>
                <a:latin typeface="Aptos"/>
              </a:rPr>
              <a:t>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99232"/>
            <a:ext cx="181051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Study–work mismatch
is not one-to-one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96596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3447288" y="1828800"/>
            <a:ext cx="658368" cy="658368"/>
          </a:xfrm>
          <a:prstGeom prst="ellipse">
            <a:avLst/>
          </a:prstGeom>
          <a:solidFill>
            <a:srgbClr val="6D5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901952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651760"/>
            <a:ext cx="18105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450">
                <a:solidFill>
                  <a:srgbClr val="6D5EF6"/>
                </a:solidFill>
                <a:latin typeface="Aptos"/>
              </a:rPr>
              <a:t>THEORY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999232"/>
            <a:ext cx="181051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RIASEC gives a
six-part interest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196596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5687568" y="1828800"/>
            <a:ext cx="658368" cy="658368"/>
          </a:xfrm>
          <a:prstGeom prst="ellipse">
            <a:avLst/>
          </a:prstGeom>
          <a:solidFill>
            <a:srgbClr val="C13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1901952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651760"/>
            <a:ext cx="18105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450">
                <a:solidFill>
                  <a:srgbClr val="C13BF0"/>
                </a:solidFill>
                <a:latin typeface="Aptos"/>
              </a:rPr>
              <a:t>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999232"/>
            <a:ext cx="181051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Socratic + STAR
surface lived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59" y="196596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7927848" y="1828800"/>
            <a:ext cx="658368" cy="658368"/>
          </a:xfrm>
          <a:prstGeom prst="ellipse">
            <a:avLst/>
          </a:prstGeom>
          <a:solidFill>
            <a:srgbClr val="4F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1901952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7070D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2651760"/>
            <a:ext cx="18105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450">
                <a:solidFill>
                  <a:srgbClr val="4FE3C1"/>
                </a:solidFill>
                <a:latin typeface="Aptos"/>
              </a:rPr>
              <a:t>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2999232"/>
            <a:ext cx="181051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A mini mission
tests self-report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196596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29" name="Oval 28"/>
          <p:cNvSpPr/>
          <p:nvPr/>
        </p:nvSpPr>
        <p:spPr>
          <a:xfrm>
            <a:off x="10168128" y="1828800"/>
            <a:ext cx="658368" cy="658368"/>
          </a:xfrm>
          <a:prstGeom prst="ellipse">
            <a:avLst/>
          </a:prstGeom>
          <a:solidFill>
            <a:srgbClr val="FFD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0" y="1901952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7070D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651760"/>
            <a:ext cx="18105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450">
                <a:solidFill>
                  <a:srgbClr val="FFD37A"/>
                </a:solidFill>
                <a:latin typeface="Aptos"/>
              </a:rPr>
              <a:t>PRODUCT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999232"/>
            <a:ext cx="181051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0–3 routes +
a 30-day experiment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47088" y="4663440"/>
            <a:ext cx="8503920" cy="841248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4FE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84831" y="4919472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5F5FA"/>
                </a:solidFill>
                <a:latin typeface="Aptos"/>
              </a:rPr>
              <a:t>FutureMe is an </a:t>
            </a:r>
            <a:r>
              <a:rPr sz="2100" b="1" i="0">
                <a:solidFill>
                  <a:srgbClr val="4FE3C1"/>
                </a:solidFill>
                <a:latin typeface="Aptos"/>
              </a:rPr>
              <a:t>evidence loop</a:t>
            </a:r>
            <a:r>
              <a:rPr sz="2100" b="1" i="0">
                <a:solidFill>
                  <a:srgbClr val="F5F5FA"/>
                </a:solidFill>
                <a:latin typeface="Aptos"/>
              </a:rPr>
              <a:t>, not a career oracle.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5760720"/>
            <a:ext cx="7360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A8BE"/>
                </a:solidFill>
                <a:latin typeface="Aptos"/>
              </a:rPr>
              <a:t>Conversation frameworks guide prompts; they do not validate the questionnaire.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6419088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7778F"/>
                </a:solidFill>
                <a:latin typeface="Aptos"/>
              </a:rPr>
              <a:t>Sources: FutureMe research summaries; Holland RIASEC; interview framework files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0">
                <a:solidFill>
                  <a:srgbClr val="4FE3C1"/>
                </a:solidFill>
                <a:latin typeface="Aptos"/>
              </a:rPr>
              <a:t>RESEARCH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5FA"/>
                </a:solidFill>
                <a:latin typeface="Aptos"/>
              </a:rPr>
              <a:t>Research shaped the model—and what we rejected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8BE"/>
                </a:solidFill>
                <a:latin typeface="Aptos"/>
              </a:rPr>
              <a:t>Only constructs that change the product’s output earn a place in the assessment.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78F"/>
                </a:solidFill>
                <a:latin typeface="Aptos"/>
              </a:rPr>
              <a:t>06</a:t>
            </a:r>
          </a:p>
        </p:txBody>
      </p:sp>
      <p:pic>
        <p:nvPicPr>
          <p:cNvPr id="7" name="Picture 6" descr="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601968"/>
            <a:ext cx="1325880" cy="32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3392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7778F"/>
                </a:solidFill>
                <a:latin typeface="Aptos"/>
              </a:rPr>
              <a:t>FutureMe AI · Project case study · July 2026</a:t>
            </a:r>
          </a:p>
        </p:txBody>
      </p:sp>
      <p:sp>
        <p:nvSpPr>
          <p:cNvPr id="9" name="Hexagon 8"/>
          <p:cNvSpPr/>
          <p:nvPr/>
        </p:nvSpPr>
        <p:spPr>
          <a:xfrm>
            <a:off x="841248" y="1901952"/>
            <a:ext cx="3200400" cy="3200400"/>
          </a:xfrm>
          <a:prstGeom prst="hexagon">
            <a:avLst/>
          </a:prstGeom>
          <a:solidFill>
            <a:srgbClr val="171724"/>
          </a:solidFill>
          <a:ln w="20320">
            <a:solidFill>
              <a:srgbClr val="6D5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9928" y="28895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5F5FA"/>
                </a:solidFill>
                <a:latin typeface="Aptos"/>
              </a:rPr>
              <a:t>RIASEC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340156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A8BE"/>
                </a:solidFill>
                <a:latin typeface="Aptos"/>
              </a:rPr>
              <a:t>one vector
six interests</a:t>
            </a:r>
          </a:p>
        </p:txBody>
      </p:sp>
      <p:sp>
        <p:nvSpPr>
          <p:cNvPr id="12" name="Oval 11"/>
          <p:cNvSpPr/>
          <p:nvPr/>
        </p:nvSpPr>
        <p:spPr>
          <a:xfrm>
            <a:off x="2029968" y="1527048"/>
            <a:ext cx="420624" cy="42062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1600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1368" y="1984248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A8BE"/>
                </a:solidFill>
                <a:latin typeface="Aptos"/>
              </a:rPr>
              <a:t>Hands-on</a:t>
            </a:r>
          </a:p>
        </p:txBody>
      </p:sp>
      <p:sp>
        <p:nvSpPr>
          <p:cNvPr id="15" name="Oval 14"/>
          <p:cNvSpPr/>
          <p:nvPr/>
        </p:nvSpPr>
        <p:spPr>
          <a:xfrm>
            <a:off x="3429000" y="2331720"/>
            <a:ext cx="420624" cy="420624"/>
          </a:xfrm>
          <a:prstGeom prst="ellipse">
            <a:avLst/>
          </a:prstGeom>
          <a:solidFill>
            <a:srgbClr val="6D5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24048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78892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A8BE"/>
                </a:solidFill>
                <a:latin typeface="Aptos"/>
              </a:rPr>
              <a:t>Investigate</a:t>
            </a:r>
          </a:p>
        </p:txBody>
      </p:sp>
      <p:sp>
        <p:nvSpPr>
          <p:cNvPr id="18" name="Oval 17"/>
          <p:cNvSpPr/>
          <p:nvPr/>
        </p:nvSpPr>
        <p:spPr>
          <a:xfrm>
            <a:off x="3383280" y="4041648"/>
            <a:ext cx="420624" cy="420624"/>
          </a:xfrm>
          <a:prstGeom prst="ellipse">
            <a:avLst/>
          </a:prstGeom>
          <a:solidFill>
            <a:srgbClr val="C13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6432" y="41148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4498848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A8BE"/>
                </a:solidFill>
                <a:latin typeface="Aptos"/>
              </a:rPr>
              <a:t>Create</a:t>
            </a:r>
          </a:p>
        </p:txBody>
      </p:sp>
      <p:sp>
        <p:nvSpPr>
          <p:cNvPr id="21" name="Oval 20"/>
          <p:cNvSpPr/>
          <p:nvPr/>
        </p:nvSpPr>
        <p:spPr>
          <a:xfrm>
            <a:off x="1993392" y="4828032"/>
            <a:ext cx="420624" cy="420624"/>
          </a:xfrm>
          <a:prstGeom prst="ellipse">
            <a:avLst/>
          </a:prstGeom>
          <a:solidFill>
            <a:srgbClr val="4F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66544" y="49011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070D"/>
                </a:solidFill>
                <a:latin typeface="Aptos"/>
              </a:rPr>
              <a:t>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" y="5285232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A8BE"/>
                </a:solidFill>
                <a:latin typeface="Aptos"/>
              </a:rPr>
              <a:t>Help</a:t>
            </a:r>
          </a:p>
        </p:txBody>
      </p:sp>
      <p:sp>
        <p:nvSpPr>
          <p:cNvPr id="24" name="Oval 23"/>
          <p:cNvSpPr/>
          <p:nvPr/>
        </p:nvSpPr>
        <p:spPr>
          <a:xfrm>
            <a:off x="475488" y="4023360"/>
            <a:ext cx="420624" cy="420624"/>
          </a:xfrm>
          <a:prstGeom prst="ellipse">
            <a:avLst/>
          </a:prstGeom>
          <a:solidFill>
            <a:srgbClr val="FFD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0965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070D"/>
                </a:solidFill>
                <a:latin typeface="Aptos"/>
              </a:rPr>
              <a:t>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" y="448056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A8BE"/>
                </a:solidFill>
                <a:latin typeface="Aptos"/>
              </a:rPr>
              <a:t>Lead</a:t>
            </a:r>
          </a:p>
        </p:txBody>
      </p:sp>
      <p:sp>
        <p:nvSpPr>
          <p:cNvPr id="27" name="Oval 26"/>
          <p:cNvSpPr/>
          <p:nvPr/>
        </p:nvSpPr>
        <p:spPr>
          <a:xfrm>
            <a:off x="475488" y="2313432"/>
            <a:ext cx="420624" cy="420624"/>
          </a:xfrm>
          <a:prstGeom prst="ellipse">
            <a:avLst/>
          </a:prstGeom>
          <a:solidFill>
            <a:srgbClr val="A8A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070D"/>
                </a:solidFill>
                <a:latin typeface="Aptos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" y="2770632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A8BE"/>
                </a:solidFill>
                <a:latin typeface="Aptos"/>
              </a:rPr>
              <a:t>Organise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1773936"/>
            <a:ext cx="6400800" cy="84124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10912" y="1938528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spc="350">
                <a:solidFill>
                  <a:srgbClr val="4FE3C1"/>
                </a:solidFill>
                <a:latin typeface="Aptos"/>
              </a:rPr>
              <a:t>INCLUDED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1901952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A"/>
                </a:solidFill>
                <a:latin typeface="Aptos"/>
              </a:rPr>
              <a:t>RIASEC interest vector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1920240"/>
            <a:ext cx="23957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A8BE"/>
                </a:solidFill>
                <a:latin typeface="Aptos"/>
              </a:rPr>
              <a:t>A starting hypothesis for exploration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2761488"/>
            <a:ext cx="6400800" cy="84124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10912" y="2926080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spc="350">
                <a:solidFill>
                  <a:srgbClr val="6D5EF6"/>
                </a:solidFill>
                <a:latin typeface="Aptos"/>
              </a:rPr>
              <a:t>DESIGN INPUT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2889504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A"/>
                </a:solidFill>
                <a:latin typeface="Aptos"/>
              </a:rPr>
              <a:t>Socratic prompts + STAR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85632" y="2907792"/>
            <a:ext cx="23957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A8BE"/>
                </a:solidFill>
                <a:latin typeface="Aptos"/>
              </a:rPr>
              <a:t>Conversation scaffolds—not psychometrics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0" y="3749039"/>
            <a:ext cx="6400800" cy="84124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10912" y="3913631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spc="350">
                <a:solidFill>
                  <a:srgbClr val="FFD37A"/>
                </a:solidFill>
                <a:latin typeface="Aptos"/>
              </a:rPr>
              <a:t>DEFERRED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6208" y="387705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A"/>
                </a:solidFill>
                <a:latin typeface="Aptos"/>
              </a:rPr>
              <a:t>Work values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5632" y="3895344"/>
            <a:ext cx="23957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A8BE"/>
                </a:solidFill>
                <a:latin typeface="Aptos"/>
              </a:rPr>
              <a:t>Route catalogue lacks value profiles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54880" y="4736592"/>
            <a:ext cx="6400800" cy="84124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10912" y="4901183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spc="350">
                <a:solidFill>
                  <a:srgbClr val="FF6B6B"/>
                </a:solidFill>
                <a:latin typeface="Aptos"/>
              </a:rPr>
              <a:t>REJECTED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6208" y="4864607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A"/>
                </a:solidFill>
                <a:latin typeface="Aptos"/>
              </a:rPr>
              <a:t>MBTI-type matching · learning styles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85632" y="4882896"/>
            <a:ext cx="23957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A8BE"/>
                </a:solidFill>
                <a:latin typeface="Aptos"/>
              </a:rPr>
              <a:t>Unstable types / weak evidence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54880" y="5742432"/>
            <a:ext cx="6400800" cy="438912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FFD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83480" y="5870448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D37A"/>
                </a:solidFill>
                <a:latin typeface="Aptos"/>
              </a:rPr>
              <a:t>The current 30-item instrument is research-informed—but has never been validated.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6419088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7778F"/>
                </a:solidFill>
                <a:latin typeface="Aptos"/>
              </a:rPr>
              <a:t>Sources: Holland (1997); O*NET Interest Profiler Manual; FutureMe methodology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0">
                <a:solidFill>
                  <a:srgbClr val="4FE3C1"/>
                </a:solidFill>
                <a:latin typeface="Aptos"/>
              </a:rPr>
              <a:t>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5FA"/>
                </a:solidFill>
                <a:latin typeface="Aptos"/>
              </a:rPr>
              <a:t>Five product rules follow directly from the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8BE"/>
                </a:solidFill>
                <a:latin typeface="Aptos"/>
              </a:rPr>
              <a:t>Research is useful only when it changes what the product does.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78F"/>
                </a:solidFill>
                <a:latin typeface="Aptos"/>
              </a:rPr>
              <a:t>07</a:t>
            </a:r>
          </a:p>
        </p:txBody>
      </p:sp>
      <p:pic>
        <p:nvPicPr>
          <p:cNvPr id="7" name="Picture 6" descr="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601968"/>
            <a:ext cx="1325880" cy="32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3392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7778F"/>
                </a:solidFill>
                <a:latin typeface="Aptos"/>
              </a:rPr>
              <a:t>FutureMe AI · Project case study ·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D5EF6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645920"/>
            <a:ext cx="3703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5FA"/>
                </a:solidFill>
                <a:latin typeface="Aptos"/>
              </a:rPr>
              <a:t>Interests still move in adolescence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8928" y="160020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D5EF6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50992" y="1645920"/>
            <a:ext cx="54132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8A8BE"/>
                </a:solidFill>
                <a:latin typeface="Aptos"/>
              </a:rPr>
              <a:t>Offer hypotheses—not a verdict; keep routes reversible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2157984"/>
            <a:ext cx="10378440" cy="0"/>
          </a:xfrm>
          <a:prstGeom prst="line">
            <a:avLst/>
          </a:prstGeom>
          <a:ln w="1143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255117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13BF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487168"/>
            <a:ext cx="3703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5FA"/>
                </a:solidFill>
                <a:latin typeface="Aptos"/>
              </a:rPr>
              <a:t>Self-report is only one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44144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13BF0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50992" y="2487168"/>
            <a:ext cx="54132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8A8BE"/>
                </a:solidFill>
                <a:latin typeface="Aptos"/>
              </a:rPr>
              <a:t>Add a scenario mission that can agree or disagree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2999232"/>
            <a:ext cx="10378440" cy="0"/>
          </a:xfrm>
          <a:prstGeom prst="line">
            <a:avLst/>
          </a:prstGeom>
          <a:ln w="1143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339242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FE3C1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3328416"/>
            <a:ext cx="3703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5FA"/>
                </a:solidFill>
                <a:latin typeface="Aptos"/>
              </a:rPr>
              <a:t>AI recommendations can become opaque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8928" y="3282696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FE3C1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50992" y="3328416"/>
            <a:ext cx="54132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8A8BE"/>
                </a:solidFill>
                <a:latin typeface="Aptos"/>
              </a:rPr>
              <a:t>Rules decide; show evidence, unknowns and contradictions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3840480"/>
            <a:ext cx="10378440" cy="0"/>
          </a:xfrm>
          <a:prstGeom prst="line">
            <a:avLst/>
          </a:prstGeom>
          <a:ln w="1143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423367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D37A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4169664"/>
            <a:ext cx="3703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5FA"/>
                </a:solidFill>
                <a:latin typeface="Aptos"/>
              </a:rPr>
              <a:t>Admissions and labour data expire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4123944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D37A"/>
                </a:solidFill>
                <a:latin typeface="Apto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50992" y="4169664"/>
            <a:ext cx="54132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8A8BE"/>
                </a:solidFill>
                <a:latin typeface="Aptos"/>
              </a:rPr>
              <a:t>Carry source, scope, last-checked date and freshness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" y="4681728"/>
            <a:ext cx="10378440" cy="0"/>
          </a:xfrm>
          <a:prstGeom prst="line">
            <a:avLst/>
          </a:prstGeom>
          <a:ln w="1143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85800" y="5074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6B6B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2" y="5010912"/>
            <a:ext cx="3703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5FA"/>
                </a:solidFill>
                <a:latin typeface="Aptos"/>
              </a:rPr>
              <a:t>The users are minors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8928" y="496519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6B6B"/>
                </a:solidFill>
                <a:latin typeface="Aptos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50992" y="5010912"/>
            <a:ext cx="54132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8A8BE"/>
                </a:solidFill>
                <a:latin typeface="Aptos"/>
              </a:rPr>
              <a:t>Guest-first, browser-local; consent before saving or sharing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800" y="5522976"/>
            <a:ext cx="10378440" cy="0"/>
          </a:xfrm>
          <a:prstGeom prst="line">
            <a:avLst/>
          </a:prstGeom>
          <a:ln w="1143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353312" y="5888736"/>
            <a:ext cx="9235440" cy="420624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4FE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72768" y="5998464"/>
            <a:ext cx="8778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FE3C1"/>
                </a:solidFill>
                <a:latin typeface="Aptos"/>
              </a:rPr>
              <a:t>Private by default · Evidence before confidence · One useful next 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6419088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7778F"/>
                </a:solidFill>
                <a:latin typeface="Aptos"/>
              </a:rPr>
              <a:t>Sources: Source audit, RAG data spec, interview research, privacy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0">
                <a:solidFill>
                  <a:srgbClr val="4FE3C1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5FA"/>
                </a:solidFill>
                <a:latin typeface="Aptos"/>
              </a:rPr>
              <a:t>FutureMe turns reflection into a low-stakes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8BE"/>
                </a:solidFill>
                <a:latin typeface="Aptos"/>
              </a:rPr>
              <a:t>The experience accumulates evidence instead of manufacturing certainty.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78F"/>
                </a:solidFill>
                <a:latin typeface="Aptos"/>
              </a:rPr>
              <a:t>08</a:t>
            </a:r>
          </a:p>
        </p:txBody>
      </p:sp>
      <p:pic>
        <p:nvPicPr>
          <p:cNvPr id="7" name="Picture 6" descr="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601968"/>
            <a:ext cx="1325880" cy="32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3392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7778F"/>
                </a:solidFill>
                <a:latin typeface="Aptos"/>
              </a:rPr>
              <a:t>FutureMe AI · Project case study · July 2026</a:t>
            </a:r>
          </a:p>
        </p:txBody>
      </p:sp>
      <p:sp>
        <p:nvSpPr>
          <p:cNvPr id="9" name="Oval 8"/>
          <p:cNvSpPr/>
          <p:nvPr/>
        </p:nvSpPr>
        <p:spPr>
          <a:xfrm>
            <a:off x="1243584" y="1828800"/>
            <a:ext cx="603504" cy="603504"/>
          </a:xfrm>
          <a:prstGeom prst="ellipse">
            <a:avLst/>
          </a:prstGeom>
          <a:solidFill>
            <a:srgbClr val="6D5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6736" y="1901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67004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480">
                <a:solidFill>
                  <a:srgbClr val="6D5EF6"/>
                </a:solidFill>
                <a:latin typeface="Aptos"/>
              </a:rPr>
              <a:t>REFLECT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035808"/>
            <a:ext cx="18288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30-item
interest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3744" y="199339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3529584" y="1828800"/>
            <a:ext cx="603504" cy="603504"/>
          </a:xfrm>
          <a:prstGeom prst="ellipse">
            <a:avLst/>
          </a:prstGeom>
          <a:solidFill>
            <a:srgbClr val="C13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1901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267004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480">
                <a:solidFill>
                  <a:srgbClr val="C13BF0"/>
                </a:solidFill>
                <a:latin typeface="Aptos"/>
              </a:rPr>
              <a:t>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3035808"/>
            <a:ext cx="18288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One scenario
mission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199339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5815583" y="1828800"/>
            <a:ext cx="603504" cy="603504"/>
          </a:xfrm>
          <a:prstGeom prst="ellipse">
            <a:avLst/>
          </a:prstGeom>
          <a:solidFill>
            <a:srgbClr val="4F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88736" y="1901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7070D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267004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480">
                <a:solidFill>
                  <a:srgbClr val="4FE3C1"/>
                </a:solidFill>
                <a:latin typeface="Aptos"/>
              </a:rPr>
              <a:t>EXPLORE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3035808"/>
            <a:ext cx="18288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0–3 routes
with reasons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5744" y="199339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8101583" y="1828800"/>
            <a:ext cx="603504" cy="603504"/>
          </a:xfrm>
          <a:prstGeom prst="ellipse">
            <a:avLst/>
          </a:prstGeom>
          <a:solidFill>
            <a:srgbClr val="FFD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4736" y="1901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7070D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267004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480">
                <a:solidFill>
                  <a:srgbClr val="FFD37A"/>
                </a:solidFill>
                <a:latin typeface="Aptos"/>
              </a:rPr>
              <a:t>COMPARE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2" y="3035808"/>
            <a:ext cx="18288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Evidence · trade-offs
unknowns · 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744" y="199339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29" name="Oval 28"/>
          <p:cNvSpPr/>
          <p:nvPr/>
        </p:nvSpPr>
        <p:spPr>
          <a:xfrm>
            <a:off x="10387584" y="1828800"/>
            <a:ext cx="603504" cy="60350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60736" y="1901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5792" y="267004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480">
                <a:solidFill>
                  <a:srgbClr val="FF6B6B"/>
                </a:solidFill>
                <a:latin typeface="Aptos"/>
              </a:rPr>
              <a:t>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65792" y="3035808"/>
            <a:ext cx="18288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A reversible
30-day plan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57984" y="4572000"/>
            <a:ext cx="7863840" cy="914400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4FE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14600" y="4800600"/>
            <a:ext cx="7132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700">
                <a:solidFill>
                  <a:srgbClr val="4FE3C1"/>
                </a:solidFill>
                <a:latin typeface="Aptos"/>
              </a:rPr>
              <a:t>EVIDENCE — NOT CERTAINTY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5138928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5F5FA"/>
                </a:solidFill>
                <a:latin typeface="Aptos"/>
              </a:rPr>
              <a:t>A learner can revise answers, override the mission, compare routes or stop.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6419088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7778F"/>
                </a:solidFill>
                <a:latin typeface="Aptos"/>
              </a:rPr>
              <a:t>Source: implemented FutureMe guest journey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0">
                <a:solidFill>
                  <a:srgbClr val="4FE3C1"/>
                </a:solidFill>
                <a:latin typeface="Aptos"/>
              </a:rPr>
              <a:t>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5FA"/>
                </a:solidFill>
                <a:latin typeface="Aptos"/>
              </a:rPr>
              <a:t>Each step gives the learner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8BE"/>
                </a:solidFill>
                <a:latin typeface="Aptos"/>
              </a:rPr>
              <a:t>The output at every stage is provisional, inspectable and editable.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78F"/>
                </a:solidFill>
                <a:latin typeface="Aptos"/>
              </a:rPr>
              <a:t>09</a:t>
            </a:r>
          </a:p>
        </p:txBody>
      </p:sp>
      <p:pic>
        <p:nvPicPr>
          <p:cNvPr id="7" name="Picture 6" descr="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601968"/>
            <a:ext cx="1325880" cy="32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3392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7778F"/>
                </a:solidFill>
                <a:latin typeface="Aptos"/>
              </a:rPr>
              <a:t>FutureMe AI · Project case study · July 2026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43000" y="2404872"/>
            <a:ext cx="9784080" cy="0"/>
          </a:xfrm>
          <a:prstGeom prst="line">
            <a:avLst/>
          </a:prstGeom>
          <a:ln w="2540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261872" y="2057400"/>
            <a:ext cx="694944" cy="694944"/>
          </a:xfrm>
          <a:prstGeom prst="ellipse">
            <a:avLst/>
          </a:prstGeom>
          <a:solidFill>
            <a:srgbClr val="6D5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35024" y="21305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99232"/>
            <a:ext cx="193852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5FA"/>
                </a:solidFill>
                <a:latin typeface="Aptos"/>
              </a:rPr>
              <a:t>What activities
draw me?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50208"/>
            <a:ext cx="1938528" cy="74980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114800"/>
            <a:ext cx="17190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A8BE"/>
                </a:solidFill>
                <a:latin typeface="Aptos"/>
              </a:rPr>
              <a:t>Provisional
RIASEC vector</a:t>
            </a:r>
          </a:p>
        </p:txBody>
      </p:sp>
      <p:sp>
        <p:nvSpPr>
          <p:cNvPr id="15" name="Oval 14"/>
          <p:cNvSpPr/>
          <p:nvPr/>
        </p:nvSpPr>
        <p:spPr>
          <a:xfrm>
            <a:off x="3529584" y="2057400"/>
            <a:ext cx="694944" cy="694944"/>
          </a:xfrm>
          <a:prstGeom prst="ellipse">
            <a:avLst/>
          </a:prstGeom>
          <a:solidFill>
            <a:srgbClr val="C13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2736" y="21305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2999232"/>
            <a:ext cx="193852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5FA"/>
                </a:solidFill>
                <a:latin typeface="Aptos"/>
              </a:rPr>
              <a:t>Does action
agree?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07792" y="3950208"/>
            <a:ext cx="1938528" cy="74980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4114800"/>
            <a:ext cx="17190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A8BE"/>
                </a:solidFill>
                <a:latin typeface="Aptos"/>
              </a:rPr>
              <a:t>Mission can
corroborate or contradict</a:t>
            </a:r>
          </a:p>
        </p:txBody>
      </p:sp>
      <p:sp>
        <p:nvSpPr>
          <p:cNvPr id="20" name="Oval 19"/>
          <p:cNvSpPr/>
          <p:nvPr/>
        </p:nvSpPr>
        <p:spPr>
          <a:xfrm>
            <a:off x="5797296" y="2057400"/>
            <a:ext cx="694944" cy="694944"/>
          </a:xfrm>
          <a:prstGeom prst="ellipse">
            <a:avLst/>
          </a:prstGeom>
          <a:solidFill>
            <a:srgbClr val="FFD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70448" y="21305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7070D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999232"/>
            <a:ext cx="193852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5FA"/>
                </a:solidFill>
                <a:latin typeface="Aptos"/>
              </a:rPr>
              <a:t>What is
feasible now?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75504" y="3950208"/>
            <a:ext cx="1938528" cy="74980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85232" y="4114800"/>
            <a:ext cx="17190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A8BE"/>
                </a:solidFill>
                <a:latin typeface="Aptos"/>
              </a:rPr>
              <a:t>Cost · location ·
timing filters</a:t>
            </a:r>
          </a:p>
        </p:txBody>
      </p:sp>
      <p:sp>
        <p:nvSpPr>
          <p:cNvPr id="25" name="Oval 24"/>
          <p:cNvSpPr/>
          <p:nvPr/>
        </p:nvSpPr>
        <p:spPr>
          <a:xfrm>
            <a:off x="8065008" y="2057400"/>
            <a:ext cx="694944" cy="694944"/>
          </a:xfrm>
          <a:prstGeom prst="ellipse">
            <a:avLst/>
          </a:prstGeom>
          <a:solidFill>
            <a:srgbClr val="4F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21305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7070D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2999232"/>
            <a:ext cx="193852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5FA"/>
                </a:solidFill>
                <a:latin typeface="Aptos"/>
              </a:rPr>
              <a:t>Why these
options?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43216" y="3950208"/>
            <a:ext cx="1938528" cy="74980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4114800"/>
            <a:ext cx="17190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A8BE"/>
                </a:solidFill>
                <a:latin typeface="Aptos"/>
              </a:rPr>
              <a:t>Reasons · evidence ·
unknowns · sources</a:t>
            </a:r>
          </a:p>
        </p:txBody>
      </p:sp>
      <p:sp>
        <p:nvSpPr>
          <p:cNvPr id="30" name="Oval 29"/>
          <p:cNvSpPr/>
          <p:nvPr/>
        </p:nvSpPr>
        <p:spPr>
          <a:xfrm>
            <a:off x="10332719" y="2057400"/>
            <a:ext cx="694944" cy="69494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05872" y="21305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0928" y="2999232"/>
            <a:ext cx="193852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5FA"/>
                </a:solidFill>
                <a:latin typeface="Aptos"/>
              </a:rPr>
              <a:t>What can I
test next?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10928" y="3950208"/>
            <a:ext cx="1938528" cy="74980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20655" y="4114800"/>
            <a:ext cx="17190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A8BE"/>
                </a:solidFill>
                <a:latin typeface="Aptos"/>
              </a:rPr>
              <a:t>30-day reversible
experiment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78992" y="5257800"/>
            <a:ext cx="10058400" cy="603504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4FE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0160" y="5449824"/>
            <a:ext cx="9646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FE3C1"/>
                </a:solidFill>
                <a:latin typeface="Aptos"/>
              </a:rPr>
              <a:t>CONTROL LOOP  ·  change answers  ·  choose another mission  ·  compare again  ·  keep, park or drop a route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6419088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7778F"/>
                </a:solidFill>
                <a:latin typeface="Aptos"/>
              </a:rPr>
              <a:t>Source: implemented UX flow and session behavior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0">
                <a:solidFill>
                  <a:srgbClr val="4FE3C1"/>
                </a:solidFill>
                <a:latin typeface="Aptos"/>
              </a:rPr>
              <a:t>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5FA"/>
                </a:solidFill>
                <a:latin typeface="Aptos"/>
              </a:rPr>
              <a:t>AI supports the conversation—not 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8BE"/>
                </a:solidFill>
                <a:latin typeface="Aptos"/>
              </a:rPr>
              <a:t>Current capabilities and future architecture are deliberately separated.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78F"/>
                </a:solidFill>
                <a:latin typeface="Aptos"/>
              </a:rPr>
              <a:t>10</a:t>
            </a:r>
          </a:p>
        </p:txBody>
      </p:sp>
      <p:pic>
        <p:nvPicPr>
          <p:cNvPr id="7" name="Picture 6" descr="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601968"/>
            <a:ext cx="1325880" cy="32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3392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7778F"/>
                </a:solidFill>
                <a:latin typeface="Aptos"/>
              </a:rPr>
              <a:t>FutureMe AI · Project case study · July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1527048"/>
            <a:ext cx="1874519" cy="292608"/>
          </a:xfrm>
          <a:prstGeom prst="roundRect">
            <a:avLst/>
          </a:prstGeom>
          <a:solidFill>
            <a:srgbClr val="4F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540763"/>
            <a:ext cx="178307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7070D"/>
                </a:solidFill>
                <a:latin typeface="Aptos"/>
              </a:rPr>
              <a:t>TODAY · IMPLEMENTED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48256"/>
            <a:ext cx="3383280" cy="658368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185416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5FA"/>
                </a:solidFill>
                <a:latin typeface="Aptos"/>
              </a:rPr>
              <a:t>Learner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" y="2743200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7778F"/>
                </a:solidFill>
                <a:latin typeface="Apto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127248"/>
            <a:ext cx="3383280" cy="658368"/>
          </a:xfrm>
          <a:prstGeom prst="roundRect">
            <a:avLst/>
          </a:prstGeom>
          <a:solidFill>
            <a:srgbClr val="6D5EF6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64408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5FA"/>
                </a:solidFill>
                <a:latin typeface="Aptos"/>
              </a:rPr>
              <a:t>Deterministic
TypeScript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7712" y="3822191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7778F"/>
                </a:solidFill>
                <a:latin typeface="Aptos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06240"/>
            <a:ext cx="3383280" cy="658368"/>
          </a:xfrm>
          <a:prstGeom prst="roundRect">
            <a:avLst/>
          </a:prstGeom>
          <a:solidFill>
            <a:srgbClr val="4FE3C1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343400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7070D"/>
                </a:solidFill>
                <a:latin typeface="Aptos"/>
              </a:rPr>
              <a:t>0–3 routes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5230368"/>
            <a:ext cx="2816352" cy="65836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C13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25296" y="537667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A8BE"/>
                </a:solidFill>
                <a:latin typeface="Aptos"/>
              </a:rPr>
              <a:t>Optional LLM: reword reasons only
Off by default · no learner answers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99432" y="1536192"/>
            <a:ext cx="0" cy="4453128"/>
          </a:xfrm>
          <a:prstGeom prst="line">
            <a:avLst/>
          </a:prstGeom>
          <a:ln w="16510">
            <a:solidFill>
              <a:srgbClr val="3434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47488" y="1527048"/>
            <a:ext cx="1700784" cy="292608"/>
          </a:xfrm>
          <a:prstGeom prst="roundRect">
            <a:avLst/>
          </a:prstGeom>
          <a:solidFill>
            <a:srgbClr val="202033"/>
          </a:solidFill>
          <a:ln w="10160">
            <a:solidFill>
              <a:srgbClr val="FFD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93207" y="1540763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D37A"/>
                </a:solidFill>
                <a:latin typeface="Aptos"/>
              </a:rPr>
              <a:t>FUTURE · PLANNED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2148840"/>
            <a:ext cx="1645920" cy="84124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FFD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2313432"/>
            <a:ext cx="142646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A"/>
                </a:solidFill>
                <a:latin typeface="Aptos"/>
              </a:rPr>
              <a:t>Adaptive Thai conversation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3408" y="239572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2148840"/>
            <a:ext cx="1645920" cy="84124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FFD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13448" y="2313432"/>
            <a:ext cx="142646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A"/>
                </a:solidFill>
                <a:latin typeface="Aptos"/>
              </a:rPr>
              <a:t>Structured profile extraction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67928" y="239572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78240" y="2148840"/>
            <a:ext cx="1645920" cy="841248"/>
          </a:xfrm>
          <a:prstGeom prst="roundRect">
            <a:avLst/>
          </a:prstGeom>
          <a:solidFill>
            <a:srgbClr val="6D5EF6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87967" y="2313432"/>
            <a:ext cx="142646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A"/>
                </a:solidFill>
                <a:latin typeface="Aptos"/>
              </a:rPr>
              <a:t>Rule engine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3794760"/>
            <a:ext cx="1645920" cy="84124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FFD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38928" y="3959352"/>
            <a:ext cx="142646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A"/>
                </a:solidFill>
                <a:latin typeface="Aptos"/>
              </a:rPr>
              <a:t>Audited RAG retrieval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3408" y="404164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03720" y="3794760"/>
            <a:ext cx="1645920" cy="84124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FFD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13448" y="3959352"/>
            <a:ext cx="142646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A"/>
                </a:solidFill>
                <a:latin typeface="Aptos"/>
              </a:rPr>
              <a:t>Evidence-grounded explanation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67928" y="404164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78240" y="3794760"/>
            <a:ext cx="1645920" cy="84124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FFD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87967" y="3959352"/>
            <a:ext cx="142646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A"/>
                </a:solidFill>
                <a:latin typeface="Aptos"/>
              </a:rPr>
              <a:t>Interactive roadmap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45168" y="3035808"/>
            <a:ext cx="4754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7778F"/>
                </a:solidFill>
                <a:latin typeface="Aptos"/>
              </a:rPr>
              <a:t>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47488" y="5257800"/>
            <a:ext cx="5513832" cy="621792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4FE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0" y="546811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FE3C1"/>
                </a:solidFill>
                <a:latin typeface="Aptos"/>
              </a:rPr>
              <a:t>Rules decide. </a:t>
            </a:r>
            <a:r>
              <a:rPr sz="1600" b="1" i="0">
                <a:solidFill>
                  <a:srgbClr val="FFD37A"/>
                </a:solidFill>
                <a:latin typeface="Aptos"/>
              </a:rPr>
              <a:t>Retrieval grounds. </a:t>
            </a:r>
            <a:r>
              <a:rPr sz="1600" b="1" i="0">
                <a:solidFill>
                  <a:srgbClr val="F5F5FA"/>
                </a:solidFill>
                <a:latin typeface="Aptos"/>
              </a:rPr>
              <a:t>AI explains.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6419088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7778F"/>
                </a:solidFill>
                <a:latin typeface="Aptos"/>
              </a:rPr>
              <a:t>Sources: current code + planned RAG architecture; Qdrant/AIS/NDLP are not implemented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0">
                <a:solidFill>
                  <a:srgbClr val="4FE3C1"/>
                </a:solidFill>
                <a:latin typeface="Aptos"/>
              </a:rPr>
              <a:t>RECOMMENDATION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5FA"/>
                </a:solidFill>
                <a:latin typeface="Aptos"/>
              </a:rPr>
              <a:t>Recommendation logic is explicit and auditable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8BE"/>
                </a:solidFill>
                <a:latin typeface="Aptos"/>
              </a:rPr>
              <a:t>Same answers, same routes. The model cannot change the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78F"/>
                </a:solidFill>
                <a:latin typeface="Aptos"/>
              </a:rPr>
              <a:t>11</a:t>
            </a:r>
          </a:p>
        </p:txBody>
      </p:sp>
      <p:pic>
        <p:nvPicPr>
          <p:cNvPr id="7" name="Picture 6" descr="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601968"/>
            <a:ext cx="1325880" cy="32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3392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7778F"/>
                </a:solidFill>
                <a:latin typeface="Aptos"/>
              </a:rPr>
              <a:t>FutureMe AI · Project case study · July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664208"/>
            <a:ext cx="1325880" cy="841248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847088"/>
            <a:ext cx="11795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F5FA"/>
                </a:solidFill>
                <a:latin typeface="Aptos"/>
              </a:rPr>
              <a:t>30 items
+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3392" y="19202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42032" y="1664208"/>
            <a:ext cx="1325880" cy="841248"/>
          </a:xfrm>
          <a:prstGeom prst="roundRect">
            <a:avLst/>
          </a:prstGeom>
          <a:solidFill>
            <a:srgbClr val="6D5EF6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15184" y="1847088"/>
            <a:ext cx="11795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F5FA"/>
                </a:solidFill>
                <a:latin typeface="Aptos"/>
              </a:rPr>
              <a:t>RIASEC
vector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19202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664208"/>
            <a:ext cx="1325880" cy="841248"/>
          </a:xfrm>
          <a:prstGeom prst="roundRect">
            <a:avLst/>
          </a:prstGeom>
          <a:solidFill>
            <a:srgbClr val="C13BF0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847088"/>
            <a:ext cx="11795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F5FA"/>
                </a:solidFill>
                <a:latin typeface="Aptos"/>
              </a:rPr>
              <a:t>Mission
vector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19202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19088" y="1664208"/>
            <a:ext cx="1325880" cy="841248"/>
          </a:xfrm>
          <a:prstGeom prst="roundRect">
            <a:avLst/>
          </a:prstGeom>
          <a:solidFill>
            <a:srgbClr val="FFD37A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847088"/>
            <a:ext cx="11795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7070D"/>
                </a:solidFill>
                <a:latin typeface="Aptos"/>
              </a:rPr>
              <a:t>Hard
filters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08975" y="19202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57616" y="1664208"/>
            <a:ext cx="1325880" cy="841248"/>
          </a:xfrm>
          <a:prstGeom prst="roundRect">
            <a:avLst/>
          </a:prstGeom>
          <a:solidFill>
            <a:srgbClr val="4FE3C1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8" y="1847088"/>
            <a:ext cx="11795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7070D"/>
                </a:solidFill>
                <a:latin typeface="Aptos"/>
              </a:rPr>
              <a:t>5-criterion
matrix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47504" y="19202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96144" y="1664208"/>
            <a:ext cx="1325880" cy="841248"/>
          </a:xfrm>
          <a:prstGeom prst="roundRect">
            <a:avLst/>
          </a:prstGeom>
          <a:solidFill>
            <a:srgbClr val="FF6B6B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69296" y="1847088"/>
            <a:ext cx="11795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F5FA"/>
                </a:solidFill>
                <a:latin typeface="Aptos"/>
              </a:rPr>
              <a:t>0–3
routes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898648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550">
                <a:solidFill>
                  <a:srgbClr val="FFD37A"/>
                </a:solidFill>
                <a:latin typeface="Aptos"/>
              </a:rPr>
              <a:t>DESIGN-JUDGEMENT WEIGHTS · NOT FITTED TO OUTCOMES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" y="3291840"/>
            <a:ext cx="3242462" cy="493776"/>
          </a:xfrm>
          <a:prstGeom prst="rect">
            <a:avLst/>
          </a:prstGeom>
          <a:solidFill>
            <a:srgbClr val="6D5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" y="3447288"/>
            <a:ext cx="318759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Interests 30%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406" y="3291840"/>
            <a:ext cx="2702052" cy="493776"/>
          </a:xfrm>
          <a:prstGeom prst="rect">
            <a:avLst/>
          </a:prstGeom>
          <a:solidFill>
            <a:srgbClr val="FFD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64838" y="3447288"/>
            <a:ext cx="26471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7070D"/>
                </a:solidFill>
                <a:latin typeface="Aptos"/>
              </a:rPr>
              <a:t>Feasibility 25%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39458" y="3291840"/>
            <a:ext cx="2161641" cy="493776"/>
          </a:xfrm>
          <a:prstGeom prst="rect">
            <a:avLst/>
          </a:prstGeom>
          <a:solidFill>
            <a:srgbClr val="C13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66890" y="3447288"/>
            <a:ext cx="210677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Strengths 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01100" y="3291840"/>
            <a:ext cx="1621231" cy="493776"/>
          </a:xfrm>
          <a:prstGeom prst="rect">
            <a:avLst/>
          </a:prstGeom>
          <a:solidFill>
            <a:srgbClr val="4F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28532" y="3447288"/>
            <a:ext cx="15663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7070D"/>
                </a:solidFill>
                <a:latin typeface="Aptos"/>
              </a:rPr>
              <a:t>Work style 15%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422331" y="3291840"/>
            <a:ext cx="1080820" cy="4937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49763" y="3447288"/>
            <a:ext cx="10259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FFFFFF"/>
                </a:solidFill>
                <a:latin typeface="Aptos"/>
              </a:rPr>
              <a:t>Flexibility 10%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370832"/>
            <a:ext cx="2450592" cy="102412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" y="4544568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FE3C1"/>
                </a:solidFill>
                <a:latin typeface="Aptos"/>
              </a:rPr>
              <a:t>23 / 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" y="4901184"/>
            <a:ext cx="21579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A8BE"/>
                </a:solidFill>
                <a:latin typeface="Aptos"/>
              </a:rPr>
              <a:t>minimum items answered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74720" y="4370832"/>
            <a:ext cx="2450592" cy="102412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21024" y="4544568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FE3C1"/>
                </a:solidFill>
                <a:latin typeface="Aptos"/>
              </a:rPr>
              <a:t>FLAT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21024" y="4901184"/>
            <a:ext cx="21579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A8BE"/>
                </a:solidFill>
                <a:latin typeface="Aptos"/>
              </a:rPr>
              <a:t>profile → no route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4370832"/>
            <a:ext cx="2450592" cy="102412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4544568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FE3C1"/>
                </a:solidFill>
                <a:latin typeface="Aptos"/>
              </a:rPr>
              <a:t>WEAK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9944" y="4901184"/>
            <a:ext cx="21579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A8BE"/>
                </a:solidFill>
                <a:latin typeface="Aptos"/>
              </a:rPr>
              <a:t>all evidence insufficient → no route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52560" y="4370832"/>
            <a:ext cx="2450592" cy="102412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98864" y="4544568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FE3C1"/>
                </a:solidFill>
                <a:latin typeface="Aptos"/>
              </a:rPr>
              <a:t>TIES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98864" y="4901184"/>
            <a:ext cx="21579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A8BE"/>
                </a:solidFill>
                <a:latin typeface="Aptos"/>
              </a:rPr>
              <a:t>shown, not falsely ranked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" y="5815584"/>
            <a:ext cx="10241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8A8BE"/>
                </a:solidFill>
                <a:latin typeface="Aptos"/>
              </a:rPr>
              <a:t>Interest fit compares the shape of all six dimensions; mission evidence remains independent so disagreement is visible.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6419088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7778F"/>
                </a:solidFill>
                <a:latin typeface="Aptos"/>
              </a:rPr>
              <a:t>Source: lib/decision-engine (current working prototype)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0">
                <a:solidFill>
                  <a:srgbClr val="4FE3C1"/>
                </a:solidFill>
                <a:latin typeface="Aptos"/>
              </a:rPr>
              <a:t>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5FA"/>
                </a:solidFill>
                <a:latin typeface="Aptos"/>
              </a:rPr>
              <a:t>A complete prototype already runs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8BE"/>
                </a:solidFill>
                <a:latin typeface="Aptos"/>
              </a:rPr>
              <a:t>These are screenshots from the implemented app—not concept mockups.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78F"/>
                </a:solidFill>
                <a:latin typeface="Aptos"/>
              </a:rPr>
              <a:t>12</a:t>
            </a:r>
          </a:p>
        </p:txBody>
      </p:sp>
      <p:pic>
        <p:nvPicPr>
          <p:cNvPr id="7" name="Picture 6" descr="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601968"/>
            <a:ext cx="1325880" cy="32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3392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7778F"/>
                </a:solidFill>
                <a:latin typeface="Aptos"/>
              </a:rPr>
              <a:t>FutureMe AI · Project case study · July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" y="1572768"/>
            <a:ext cx="3310128" cy="3346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nterview-desktop.png"/>
          <p:cNvPicPr>
            <a:picLocks noChangeAspect="1"/>
          </p:cNvPicPr>
          <p:nvPr/>
        </p:nvPicPr>
        <p:blipFill>
          <a:blip r:embed="rId4"/>
          <a:srcRect l="11145" r="11145"/>
          <a:stretch>
            <a:fillRect/>
          </a:stretch>
        </p:blipFill>
        <p:spPr>
          <a:xfrm>
            <a:off x="658368" y="1618488"/>
            <a:ext cx="3218688" cy="325526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8096" y="1728216"/>
            <a:ext cx="1005840" cy="292608"/>
          </a:xfrm>
          <a:prstGeom prst="roundRect">
            <a:avLst/>
          </a:prstGeom>
          <a:solidFill>
            <a:srgbClr val="0B0B14"/>
          </a:solidFill>
          <a:ln w="1016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17419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A"/>
                </a:solidFill>
                <a:latin typeface="Aptos"/>
              </a:rPr>
              <a:t>1 · ASSESS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001768"/>
            <a:ext cx="3218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F5FA"/>
                </a:solidFill>
                <a:latin typeface="Aptos"/>
              </a:rPr>
              <a:t>One item at a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33088" y="1572768"/>
            <a:ext cx="3310128" cy="3346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outes-desktop.png"/>
          <p:cNvPicPr>
            <a:picLocks noChangeAspect="1"/>
          </p:cNvPicPr>
          <p:nvPr/>
        </p:nvPicPr>
        <p:blipFill>
          <a:blip r:embed="rId5"/>
          <a:srcRect b="29182"/>
          <a:stretch>
            <a:fillRect/>
          </a:stretch>
        </p:blipFill>
        <p:spPr>
          <a:xfrm>
            <a:off x="4178808" y="1618488"/>
            <a:ext cx="3218688" cy="325526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288536" y="1728216"/>
            <a:ext cx="1005840" cy="292608"/>
          </a:xfrm>
          <a:prstGeom prst="roundRect">
            <a:avLst/>
          </a:prstGeom>
          <a:solidFill>
            <a:srgbClr val="0B0B14"/>
          </a:solidFill>
          <a:ln w="1016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17419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A"/>
                </a:solidFill>
                <a:latin typeface="Aptos"/>
              </a:rPr>
              <a:t>3 · EXPLORE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8" y="5001768"/>
            <a:ext cx="3218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F5FA"/>
                </a:solidFill>
                <a:latin typeface="Aptos"/>
              </a:rPr>
              <a:t>Several hypotheses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53527" y="1572768"/>
            <a:ext cx="3310128" cy="3346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lan-desktop.png"/>
          <p:cNvPicPr>
            <a:picLocks noChangeAspect="1"/>
          </p:cNvPicPr>
          <p:nvPr/>
        </p:nvPicPr>
        <p:blipFill>
          <a:blip r:embed="rId6"/>
          <a:srcRect b="36198"/>
          <a:stretch>
            <a:fillRect/>
          </a:stretch>
        </p:blipFill>
        <p:spPr>
          <a:xfrm>
            <a:off x="7699248" y="1618488"/>
            <a:ext cx="3218688" cy="325526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7808975" y="1728216"/>
            <a:ext cx="1005840" cy="292608"/>
          </a:xfrm>
          <a:prstGeom prst="roundRect">
            <a:avLst/>
          </a:prstGeom>
          <a:solidFill>
            <a:srgbClr val="0B0B14"/>
          </a:solidFill>
          <a:ln w="1016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54696" y="17419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A"/>
                </a:solidFill>
                <a:latin typeface="Aptos"/>
              </a:rPr>
              <a:t>5 · 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5001768"/>
            <a:ext cx="3218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F5FA"/>
                </a:solidFill>
                <a:latin typeface="Aptos"/>
              </a:rPr>
              <a:t>30-day experiment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5623560"/>
            <a:ext cx="1691640" cy="292608"/>
          </a:xfrm>
          <a:prstGeom prst="roundRect">
            <a:avLst/>
          </a:prstGeom>
          <a:solidFill>
            <a:srgbClr val="202033"/>
          </a:solidFill>
          <a:ln w="1016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5637276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4FE3C1"/>
                </a:solidFill>
                <a:latin typeface="Aptos"/>
              </a:rPr>
              <a:t>TH / EN + THEMES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69464" y="5623560"/>
            <a:ext cx="1280160" cy="292608"/>
          </a:xfrm>
          <a:prstGeom prst="roundRect">
            <a:avLst/>
          </a:prstGeom>
          <a:solidFill>
            <a:srgbClr val="202033"/>
          </a:solidFill>
          <a:ln w="1016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15184" y="5637276"/>
            <a:ext cx="118871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4FE3C1"/>
                </a:solidFill>
                <a:latin typeface="Aptos"/>
              </a:rPr>
              <a:t>3 MISSIONS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14216" y="5623560"/>
            <a:ext cx="2148840" cy="292608"/>
          </a:xfrm>
          <a:prstGeom prst="roundRect">
            <a:avLst/>
          </a:prstGeom>
          <a:solidFill>
            <a:srgbClr val="202033"/>
          </a:solidFill>
          <a:ln w="1016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59936" y="5637276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4FE3C1"/>
                </a:solidFill>
                <a:latin typeface="Aptos"/>
              </a:rPr>
              <a:t>6 ILLUSTRATIVE ROUTES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27648" y="5623560"/>
            <a:ext cx="1508760" cy="292608"/>
          </a:xfrm>
          <a:prstGeom prst="roundRect">
            <a:avLst/>
          </a:prstGeom>
          <a:solidFill>
            <a:srgbClr val="202033"/>
          </a:solidFill>
          <a:ln w="1016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5637276"/>
            <a:ext cx="141731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4FE3C1"/>
                </a:solidFill>
                <a:latin typeface="Aptos"/>
              </a:rPr>
              <a:t>BROWSER-LOCAL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1000" y="5623560"/>
            <a:ext cx="1143000" cy="292608"/>
          </a:xfrm>
          <a:prstGeom prst="roundRect">
            <a:avLst/>
          </a:prstGeom>
          <a:solidFill>
            <a:srgbClr val="202033"/>
          </a:solidFill>
          <a:ln w="1016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5637276"/>
            <a:ext cx="10515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4FE3C1"/>
                </a:solidFill>
                <a:latin typeface="Aptos"/>
              </a:rPr>
              <a:t>234 TESTS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08592" y="5623560"/>
            <a:ext cx="960120" cy="292608"/>
          </a:xfrm>
          <a:prstGeom prst="roundRect">
            <a:avLst/>
          </a:prstGeom>
          <a:solidFill>
            <a:srgbClr val="202033"/>
          </a:solidFill>
          <a:ln w="1016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54312" y="5637276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4FE3C1"/>
                </a:solidFill>
                <a:latin typeface="Aptos"/>
              </a:rPr>
              <a:t>20 E2E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6071616"/>
            <a:ext cx="6355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D37A"/>
                </a:solidFill>
                <a:latin typeface="Aptos"/>
              </a:rPr>
              <a:t>Route constraints and mission rubrics remain illustrative and unvalidated.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6419088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7778F"/>
                </a:solidFill>
                <a:latin typeface="Aptos"/>
              </a:rPr>
              <a:t>Verification rerun 30 Jul 2026: npm run verify + 20 Playwright journeys passed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0">
                <a:solidFill>
                  <a:srgbClr val="4FE3C1"/>
                </a:solidFill>
                <a:latin typeface="Aptos"/>
              </a:rPr>
              <a:t>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5FA"/>
                </a:solidFill>
                <a:latin typeface="Aptos"/>
              </a:rPr>
              <a:t>The difference is what happens after the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8BE"/>
                </a:solidFill>
                <a:latin typeface="Aptos"/>
              </a:rPr>
              <a:t>FutureMe changes a result into a testable next step.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78F"/>
                </a:solidFill>
                <a:latin typeface="Aptos"/>
              </a:rPr>
              <a:t>13</a:t>
            </a:r>
          </a:p>
        </p:txBody>
      </p:sp>
      <p:pic>
        <p:nvPicPr>
          <p:cNvPr id="7" name="Picture 6" descr="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601968"/>
            <a:ext cx="1325880" cy="32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3392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7778F"/>
                </a:solidFill>
                <a:latin typeface="Aptos"/>
              </a:rPr>
              <a:t>FutureMe AI · Project case study · July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72768"/>
            <a:ext cx="2148840" cy="292608"/>
          </a:xfrm>
          <a:prstGeom prst="roundRect">
            <a:avLst/>
          </a:prstGeom>
          <a:solidFill>
            <a:srgbClr val="202033"/>
          </a:solidFill>
          <a:ln w="1016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586484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8A8BE"/>
                </a:solidFill>
                <a:latin typeface="Aptos"/>
              </a:rPr>
              <a:t>TRADITIONAL CAREER 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2212848"/>
            <a:ext cx="3429000" cy="56692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359152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8A8BE"/>
                </a:solidFill>
                <a:latin typeface="Aptos"/>
              </a:rPr>
              <a:t>Questionnaire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788920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7778F"/>
                </a:solidFill>
                <a:latin typeface="Apto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3127248"/>
            <a:ext cx="3429000" cy="56692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273552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8A8BE"/>
                </a:solidFill>
                <a:latin typeface="Aptos"/>
              </a:rPr>
              <a:t>Score /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703320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7778F"/>
                </a:solidFill>
                <a:latin typeface="Aptos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4041648"/>
            <a:ext cx="3429000" cy="56692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187952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8A8BE"/>
                </a:solidFill>
                <a:latin typeface="Aptos"/>
              </a:rPr>
              <a:t>Career 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617720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7778F"/>
                </a:solidFill>
                <a:latin typeface="Aptos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" y="4956048"/>
            <a:ext cx="3429000" cy="56692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5102352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8A8BE"/>
                </a:solidFill>
                <a:latin typeface="Aptos"/>
              </a:rPr>
              <a:t>Stops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1572768"/>
            <a:ext cx="2148840" cy="292608"/>
          </a:xfrm>
          <a:prstGeom prst="roundRect">
            <a:avLst/>
          </a:prstGeom>
          <a:solidFill>
            <a:srgbClr val="4F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59" y="1586484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7070D"/>
                </a:solidFill>
                <a:latin typeface="Aptos"/>
              </a:rPr>
              <a:t>FUTUREME EVIDENCE LOOP</a:t>
            </a:r>
          </a:p>
        </p:txBody>
      </p:sp>
      <p:sp>
        <p:nvSpPr>
          <p:cNvPr id="24" name="Oval 23"/>
          <p:cNvSpPr/>
          <p:nvPr/>
        </p:nvSpPr>
        <p:spPr>
          <a:xfrm>
            <a:off x="5221224" y="2267712"/>
            <a:ext cx="530352" cy="530352"/>
          </a:xfrm>
          <a:prstGeom prst="ellipse">
            <a:avLst/>
          </a:prstGeom>
          <a:solidFill>
            <a:srgbClr val="6D5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4376" y="2340864"/>
            <a:ext cx="384047" cy="3840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2971800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D5EF6"/>
                </a:solidFill>
                <a:latin typeface="Aptos"/>
              </a:rPr>
              <a:t>Reflect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310128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A8BE"/>
                </a:solidFill>
                <a:latin typeface="Aptos"/>
              </a:rPr>
              <a:t>provisional 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25896" y="2368296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29" name="Oval 28"/>
          <p:cNvSpPr/>
          <p:nvPr/>
        </p:nvSpPr>
        <p:spPr>
          <a:xfrm>
            <a:off x="6592824" y="2267712"/>
            <a:ext cx="530352" cy="530352"/>
          </a:xfrm>
          <a:prstGeom prst="ellipse">
            <a:avLst/>
          </a:prstGeom>
          <a:solidFill>
            <a:srgbClr val="C13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65976" y="2340864"/>
            <a:ext cx="384047" cy="3840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971800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13BF0"/>
                </a:solidFill>
                <a:latin typeface="Aptos"/>
              </a:rPr>
              <a:t>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310128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A8BE"/>
                </a:solidFill>
                <a:latin typeface="Aptos"/>
              </a:rPr>
              <a:t>independent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7496" y="2368296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34" name="Oval 33"/>
          <p:cNvSpPr/>
          <p:nvPr/>
        </p:nvSpPr>
        <p:spPr>
          <a:xfrm>
            <a:off x="7964423" y="2267712"/>
            <a:ext cx="530352" cy="530352"/>
          </a:xfrm>
          <a:prstGeom prst="ellipse">
            <a:avLst/>
          </a:prstGeom>
          <a:solidFill>
            <a:srgbClr val="4F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37575" y="2340864"/>
            <a:ext cx="384047" cy="3840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7070D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2971800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FE3C1"/>
                </a:solidFill>
                <a:latin typeface="Aptos"/>
              </a:rPr>
              <a:t>Explain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19" y="3310128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A8BE"/>
                </a:solidFill>
                <a:latin typeface="Aptos"/>
              </a:rPr>
              <a:t>reasons + unknowns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69096" y="2368296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39" name="Oval 38"/>
          <p:cNvSpPr/>
          <p:nvPr/>
        </p:nvSpPr>
        <p:spPr>
          <a:xfrm>
            <a:off x="9336024" y="2267712"/>
            <a:ext cx="530352" cy="530352"/>
          </a:xfrm>
          <a:prstGeom prst="ellipse">
            <a:avLst/>
          </a:prstGeom>
          <a:solidFill>
            <a:srgbClr val="FFD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09176" y="2340864"/>
            <a:ext cx="384047" cy="3840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7070D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2971800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D37A"/>
                </a:solidFill>
                <a:latin typeface="Aptos"/>
              </a:rPr>
              <a:t>Compare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19" y="3310128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A8BE"/>
                </a:solidFill>
                <a:latin typeface="Aptos"/>
              </a:rPr>
              <a:t>constraints + trade-offs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0696" y="2368296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44" name="Oval 43"/>
          <p:cNvSpPr/>
          <p:nvPr/>
        </p:nvSpPr>
        <p:spPr>
          <a:xfrm>
            <a:off x="10707624" y="2267712"/>
            <a:ext cx="530352" cy="53035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80776" y="2340864"/>
            <a:ext cx="384047" cy="3840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78440" y="2971800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6B6B"/>
                </a:solidFill>
                <a:latin typeface="Aptos"/>
              </a:rPr>
              <a:t>Act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32719" y="3310128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A8BE"/>
                </a:solidFill>
                <a:latin typeface="Aptos"/>
              </a:rPr>
              <a:t>30-day experiment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5486400" y="3858768"/>
            <a:ext cx="5440680" cy="0"/>
          </a:xfrm>
          <a:prstGeom prst="line">
            <a:avLst/>
          </a:prstGeom>
          <a:ln w="20320">
            <a:solidFill>
              <a:srgbClr val="4FE3C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492240" y="3913632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4FE3C1"/>
                </a:solidFill>
                <a:latin typeface="Aptos"/>
              </a:rPr>
              <a:t>new evidence updates the next exploration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92040" y="4645152"/>
            <a:ext cx="6419088" cy="1078992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4FE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4920" y="484632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FE3C1"/>
                </a:solidFill>
                <a:latin typeface="Aptos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80" y="5175504"/>
            <a:ext cx="1024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5F5FA"/>
                </a:solidFill>
                <a:latin typeface="Aptos"/>
              </a:rPr>
              <a:t>Refuses to guess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80" y="484632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FE3C1"/>
                </a:solidFill>
                <a:latin typeface="Aptos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5175504"/>
            <a:ext cx="1024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5F5FA"/>
                </a:solidFill>
                <a:latin typeface="Aptos"/>
              </a:rPr>
              <a:t>Shows disagreement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484632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FE3C1"/>
                </a:solidFill>
                <a:latin typeface="Aptos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0" y="5175504"/>
            <a:ext cx="1024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5F5FA"/>
                </a:solidFill>
                <a:latin typeface="Aptos"/>
              </a:rPr>
              <a:t>No manufactured winner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15400" y="484632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FE3C1"/>
                </a:solidFill>
                <a:latin typeface="Aptos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95360" y="5175504"/>
            <a:ext cx="1024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5F5FA"/>
                </a:solidFill>
                <a:latin typeface="Aptos"/>
              </a:rPr>
              <a:t>Sources + freshness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95560" y="484632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FE3C1"/>
                </a:solidFill>
                <a:latin typeface="Aptos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75520" y="5175504"/>
            <a:ext cx="1024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5F5FA"/>
                </a:solidFill>
                <a:latin typeface="Aptos"/>
              </a:rPr>
              <a:t>Vocational routes are first-class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46520" y="6419088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7778F"/>
                </a:solidFill>
                <a:latin typeface="Aptos"/>
              </a:rPr>
              <a:t>Source: product design and implemented behavior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0">
                <a:solidFill>
                  <a:srgbClr val="4FE3C1"/>
                </a:solidFill>
                <a:latin typeface="Aptos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5FA"/>
                </a:solidFill>
                <a:latin typeface="Aptos"/>
              </a:rPr>
              <a:t>Validation is the next product—not a footnote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8BE"/>
                </a:solidFill>
                <a:latin typeface="Aptos"/>
              </a:rPr>
              <a:t>The analysis pipeline is verified. The instrument is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78F"/>
                </a:solidFill>
                <a:latin typeface="Aptos"/>
              </a:rPr>
              <a:t>14</a:t>
            </a:r>
          </a:p>
        </p:txBody>
      </p:sp>
      <p:pic>
        <p:nvPicPr>
          <p:cNvPr id="7" name="Picture 6" descr="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601968"/>
            <a:ext cx="1325880" cy="32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3392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7778F"/>
                </a:solidFill>
                <a:latin typeface="Aptos"/>
              </a:rPr>
              <a:t>FutureMe AI · Project case study · July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27048"/>
            <a:ext cx="3703320" cy="640080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FFD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746504"/>
            <a:ext cx="3346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FE3C1"/>
                </a:solidFill>
                <a:latin typeface="Aptos"/>
              </a:rPr>
              <a:t>PIPELINE VERIFIED</a:t>
            </a:r>
            <a:r>
              <a:rPr sz="1500" b="1" i="0">
                <a:solidFill>
                  <a:srgbClr val="A8A8BE"/>
                </a:solidFill>
                <a:latin typeface="Aptos"/>
              </a:rPr>
              <a:t>  ≠  </a:t>
            </a:r>
            <a:r>
              <a:rPr sz="1500" b="1" i="0">
                <a:solidFill>
                  <a:srgbClr val="FFD37A"/>
                </a:solidFill>
                <a:latin typeface="Aptos"/>
              </a:rPr>
              <a:t>INSTRUMENT VALIDATED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441448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51460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59736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5FA"/>
                </a:solidFill>
                <a:latin typeface="Aptos"/>
              </a:rPr>
              <a:t>Ethics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2459736"/>
            <a:ext cx="2880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A8A8BE"/>
                </a:solidFill>
                <a:latin typeface="Aptos"/>
              </a:rPr>
              <a:t>Approval · parent consent · student assent · PDPA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5840" y="2898648"/>
            <a:ext cx="0" cy="201167"/>
          </a:xfrm>
          <a:prstGeom prst="line">
            <a:avLst/>
          </a:prstGeom>
          <a:ln w="1651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77240" y="3035808"/>
            <a:ext cx="457200" cy="457200"/>
          </a:xfrm>
          <a:prstGeom prst="ellipse">
            <a:avLst/>
          </a:prstGeom>
          <a:solidFill>
            <a:srgbClr val="6D5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10896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054096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5FA"/>
                </a:solidFill>
                <a:latin typeface="Aptos"/>
              </a:rPr>
              <a:t>Cognitive debrief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3054096"/>
            <a:ext cx="2880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A8A8BE"/>
                </a:solidFill>
                <a:latin typeface="Aptos"/>
              </a:rPr>
              <a:t>n ≈ 30–40 · meaning and translation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05840" y="3493008"/>
            <a:ext cx="0" cy="201168"/>
          </a:xfrm>
          <a:prstGeom prst="line">
            <a:avLst/>
          </a:prstGeom>
          <a:ln w="1651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77240" y="3630168"/>
            <a:ext cx="457200" cy="457200"/>
          </a:xfrm>
          <a:prstGeom prst="ellipse">
            <a:avLst/>
          </a:prstGeom>
          <a:solidFill>
            <a:srgbClr val="C13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37033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648456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5FA"/>
                </a:solidFill>
                <a:latin typeface="Aptos"/>
              </a:rPr>
              <a:t>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3648456"/>
            <a:ext cx="2880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A8A8BE"/>
                </a:solidFill>
                <a:latin typeface="Aptos"/>
              </a:rPr>
              <a:t>target n = 250 · minimum 200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5840" y="4087368"/>
            <a:ext cx="0" cy="201168"/>
          </a:xfrm>
          <a:prstGeom prst="line">
            <a:avLst/>
          </a:prstGeom>
          <a:ln w="1651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77240" y="4224528"/>
            <a:ext cx="457200" cy="457200"/>
          </a:xfrm>
          <a:prstGeom prst="ellipse">
            <a:avLst/>
          </a:prstGeom>
          <a:solidFill>
            <a:srgbClr val="4F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29768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070D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242816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5FA"/>
                </a:solidFill>
                <a:latin typeface="Aptos"/>
              </a:rPr>
              <a:t>Measurement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0128" y="4242816"/>
            <a:ext cx="2880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A8A8BE"/>
                </a:solidFill>
                <a:latin typeface="Aptos"/>
              </a:rPr>
              <a:t>α + ω · item-total · “not sure” rate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05840" y="4681728"/>
            <a:ext cx="0" cy="201168"/>
          </a:xfrm>
          <a:prstGeom prst="line">
            <a:avLst/>
          </a:prstGeom>
          <a:ln w="1651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77240" y="4818888"/>
            <a:ext cx="457200" cy="457200"/>
          </a:xfrm>
          <a:prstGeom prst="ellipse">
            <a:avLst/>
          </a:prstGeom>
          <a:solidFill>
            <a:srgbClr val="FFD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489204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070D"/>
                </a:solidFill>
                <a:latin typeface="Apto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4837176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5FA"/>
                </a:solidFill>
                <a:latin typeface="Aptos"/>
              </a:rPr>
              <a:t>Structure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0128" y="4837176"/>
            <a:ext cx="2880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A8A8BE"/>
                </a:solidFill>
                <a:latin typeface="Aptos"/>
              </a:rPr>
              <a:t>RIASEC circular-order randomisation test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05840" y="5276088"/>
            <a:ext cx="0" cy="201168"/>
          </a:xfrm>
          <a:prstGeom prst="line">
            <a:avLst/>
          </a:prstGeom>
          <a:ln w="1651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777240" y="5413248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" y="548640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5431536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5FA"/>
                </a:solidFill>
                <a:latin typeface="Aptos"/>
              </a:rPr>
              <a:t>Revise + re-pilot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0128" y="5431536"/>
            <a:ext cx="2880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A8A8BE"/>
                </a:solidFill>
                <a:latin typeface="Aptos"/>
              </a:rPr>
              <a:t>then invariance and outcome studies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162763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550">
                <a:solidFill>
                  <a:srgbClr val="4FE3C1"/>
                </a:solidFill>
                <a:latin typeface="Aptos"/>
              </a:rPr>
              <a:t>PROPOSED SUCCESS MEASURES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03720" y="2084831"/>
            <a:ext cx="4343400" cy="768096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50608" y="223113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20">
                <a:solidFill>
                  <a:srgbClr val="4FE3C1"/>
                </a:solidFill>
                <a:latin typeface="Aptos"/>
              </a:rPr>
              <a:t>ASSESSMENT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79" y="2221991"/>
            <a:ext cx="281635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A"/>
                </a:solidFill>
                <a:latin typeface="Aptos"/>
              </a:rPr>
              <a:t>Reliability · item quality · construct structure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03720" y="3017520"/>
            <a:ext cx="4343400" cy="768096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50608" y="3163824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20">
                <a:solidFill>
                  <a:srgbClr val="4FE3C1"/>
                </a:solidFill>
                <a:latin typeface="Aptos"/>
              </a:rPr>
              <a:t>ROUTES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79" y="3154679"/>
            <a:ext cx="281635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A"/>
                </a:solidFill>
                <a:latin typeface="Aptos"/>
              </a:rPr>
              <a:t>Relevance · counsellor agreement · diversity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03720" y="3950208"/>
            <a:ext cx="4343400" cy="768096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50608" y="4096512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20">
                <a:solidFill>
                  <a:srgbClr val="4FE3C1"/>
                </a:solidFill>
                <a:latin typeface="Aptos"/>
              </a:rPr>
              <a:t>EXPERIENCE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3879" y="4087368"/>
            <a:ext cx="281635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A"/>
                </a:solidFill>
                <a:latin typeface="Aptos"/>
              </a:rPr>
              <a:t>Completion · comprehension · route exploration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03720" y="4882896"/>
            <a:ext cx="4343400" cy="768096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50608" y="502920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20">
                <a:solidFill>
                  <a:srgbClr val="4FE3C1"/>
                </a:solidFill>
                <a:latin typeface="Aptos"/>
              </a:rPr>
              <a:t>LONG-TERM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83879" y="5020056"/>
            <a:ext cx="281635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A"/>
                </a:solidFill>
                <a:latin typeface="Aptos"/>
              </a:rPr>
              <a:t>Can the student still explain and defend the choice?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903720" y="5907024"/>
            <a:ext cx="4343400" cy="384048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FFD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86600" y="6007608"/>
            <a:ext cx="39776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D37A"/>
                </a:solidFill>
                <a:latin typeface="Aptos"/>
              </a:rPr>
              <a:t>No reliability, norms or validity results exist yet.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419088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7778F"/>
                </a:solidFill>
                <a:latin typeface="Aptos"/>
              </a:rPr>
              <a:t>Sources: FutureMe validation plan + pre-registered pilot protocol (30 Jul 2026)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0">
                <a:solidFill>
                  <a:srgbClr val="4FE3C1"/>
                </a:solidFill>
                <a:latin typeface="Aptos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5FA"/>
                </a:solidFill>
                <a:latin typeface="Aptos"/>
              </a:rPr>
              <a:t>From runnable demo to trusted decision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8BE"/>
                </a:solidFill>
                <a:latin typeface="Aptos"/>
              </a:rPr>
              <a:t>Every phase has a gate; partnerships stay exploratory until something is signed.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78F"/>
                </a:solidFill>
                <a:latin typeface="Aptos"/>
              </a:rPr>
              <a:t>15</a:t>
            </a:r>
          </a:p>
        </p:txBody>
      </p:sp>
      <p:pic>
        <p:nvPicPr>
          <p:cNvPr id="7" name="Picture 6" descr="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601968"/>
            <a:ext cx="1325880" cy="32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3392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7778F"/>
                </a:solidFill>
                <a:latin typeface="Aptos"/>
              </a:rPr>
              <a:t>FutureMe AI · Project case study · July 2026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34440" y="2011680"/>
            <a:ext cx="8412480" cy="0"/>
          </a:xfrm>
          <a:prstGeom prst="line">
            <a:avLst/>
          </a:prstGeom>
          <a:ln w="2540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31520" y="1581912"/>
            <a:ext cx="859536" cy="859536"/>
          </a:xfrm>
          <a:prstGeom prst="ellipse">
            <a:avLst/>
          </a:prstGeom>
          <a:solidFill>
            <a:srgbClr val="4F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655064"/>
            <a:ext cx="713231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7070D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06040"/>
            <a:ext cx="1600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154680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220">
                <a:solidFill>
                  <a:srgbClr val="4FE3C1"/>
                </a:solidFill>
                <a:latin typeface="Aptos"/>
              </a:rPr>
              <a:t>DONE</a:t>
            </a:r>
          </a:p>
        </p:txBody>
      </p:sp>
      <p:sp>
        <p:nvSpPr>
          <p:cNvPr id="14" name="Oval 13"/>
          <p:cNvSpPr/>
          <p:nvPr/>
        </p:nvSpPr>
        <p:spPr>
          <a:xfrm>
            <a:off x="2834640" y="1581912"/>
            <a:ext cx="859536" cy="859536"/>
          </a:xfrm>
          <a:prstGeom prst="ellipse">
            <a:avLst/>
          </a:prstGeom>
          <a:solidFill>
            <a:srgbClr val="4F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7792" y="1655064"/>
            <a:ext cx="713231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7070D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606040"/>
            <a:ext cx="1600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Runnable
prototype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154680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220">
                <a:solidFill>
                  <a:srgbClr val="4FE3C1"/>
                </a:solidFill>
                <a:latin typeface="Aptos"/>
              </a:rPr>
              <a:t>DONE</a:t>
            </a:r>
          </a:p>
        </p:txBody>
      </p:sp>
      <p:sp>
        <p:nvSpPr>
          <p:cNvPr id="18" name="Oval 17"/>
          <p:cNvSpPr/>
          <p:nvPr/>
        </p:nvSpPr>
        <p:spPr>
          <a:xfrm>
            <a:off x="4937760" y="1581912"/>
            <a:ext cx="859536" cy="859536"/>
          </a:xfrm>
          <a:prstGeom prst="ellipse">
            <a:avLst/>
          </a:prstGeom>
          <a:solidFill>
            <a:srgbClr val="FFD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10912" y="1655064"/>
            <a:ext cx="713231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7070D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606040"/>
            <a:ext cx="1600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54680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220">
                <a:solidFill>
                  <a:srgbClr val="FFD37A"/>
                </a:solidFill>
                <a:latin typeface="Aptos"/>
              </a:rPr>
              <a:t>NOW · NEXT</a:t>
            </a:r>
          </a:p>
        </p:txBody>
      </p:sp>
      <p:sp>
        <p:nvSpPr>
          <p:cNvPr id="22" name="Oval 21"/>
          <p:cNvSpPr/>
          <p:nvPr/>
        </p:nvSpPr>
        <p:spPr>
          <a:xfrm>
            <a:off x="7040880" y="1581912"/>
            <a:ext cx="859536" cy="859536"/>
          </a:xfrm>
          <a:prstGeom prst="ellipse">
            <a:avLst/>
          </a:prstGeom>
          <a:solidFill>
            <a:srgbClr val="C13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4032" y="1655064"/>
            <a:ext cx="713231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606040"/>
            <a:ext cx="1600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School 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154680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220">
                <a:solidFill>
                  <a:srgbClr val="C13BF0"/>
                </a:solidFill>
                <a:latin typeface="Aptos"/>
              </a:rPr>
              <a:t>PLANNED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0" y="1581912"/>
            <a:ext cx="859536" cy="859536"/>
          </a:xfrm>
          <a:prstGeom prst="ellipse">
            <a:avLst/>
          </a:prstGeom>
          <a:solidFill>
            <a:srgbClr val="6D5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17152" y="1655064"/>
            <a:ext cx="713231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2606040"/>
            <a:ext cx="1600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Ecosystem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154680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220">
                <a:solidFill>
                  <a:srgbClr val="6D5EF6"/>
                </a:solidFill>
                <a:latin typeface="Aptos"/>
              </a:rPr>
              <a:t>EXPLORATORY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675887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D37A"/>
                </a:solidFill>
                <a:latin typeface="Aptos"/>
              </a:rPr>
              <a:t>Phase 3: adapt Thai translation · validate instrument + missions · licensed route data · bias + safety audit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4251960"/>
            <a:ext cx="5230368" cy="713232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4FE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4805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A8A8BE"/>
                </a:solidFill>
                <a:latin typeface="Aptos"/>
              </a:rPr>
              <a:t>Career test  →  </a:t>
            </a:r>
            <a:r>
              <a:rPr sz="1550" b="1" i="0">
                <a:solidFill>
                  <a:srgbClr val="4FE3C1"/>
                </a:solidFill>
                <a:latin typeface="Aptos"/>
              </a:rPr>
              <a:t>AI career discovery companion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5084064"/>
            <a:ext cx="4892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Sukhumvit Set"/>
              </a:rPr>
              <a:t>ช่วยให้เด็กเข้าใจตัวเอง ทดลองทางเลือก และตัดสินใจด้วยเหตุผลที่อธิบายได้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24281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550">
                <a:solidFill>
                  <a:srgbClr val="4FE3C1"/>
                </a:solidFill>
                <a:latin typeface="Aptos"/>
              </a:rPr>
              <a:t>SELECTED REFERENCES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590288"/>
            <a:ext cx="5074920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250"/>
              </a:spcAft>
              <a:defRPr sz="950">
                <a:solidFill>
                  <a:srgbClr val="A8A8BE"/>
                </a:solidFill>
                <a:latin typeface="Aptos"/>
              </a:defRPr>
            </a:pPr>
            <a:r>
              <a:t>•  [1] TDRI — การพัฒนาทุนมนุษย์ไทย (2025)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50"/>
              </a:spcAft>
              <a:defRPr sz="950">
                <a:solidFill>
                  <a:srgbClr val="A8A8BE"/>
                </a:solidFill>
                <a:latin typeface="Aptos"/>
              </a:defRPr>
            </a:pPr>
            <a:r>
              <a:t>•  [2] NSO — Social Indicators 2025, p.185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50"/>
              </a:spcAft>
              <a:defRPr sz="950">
                <a:solidFill>
                  <a:srgbClr val="A8A8BE"/>
                </a:solidFill>
                <a:latin typeface="Aptos"/>
              </a:defRPr>
            </a:pPr>
            <a:r>
              <a:t>•  [3] NESDC — ภาวะสังคมไทย Q2/2568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50"/>
              </a:spcAft>
              <a:defRPr sz="950">
                <a:solidFill>
                  <a:srgbClr val="A8A8BE"/>
                </a:solidFill>
                <a:latin typeface="Aptos"/>
              </a:defRPr>
            </a:pPr>
            <a:r>
              <a:t>•  [4] OECD — PIAAC 2023 mismatch evidence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50"/>
              </a:spcAft>
              <a:defRPr sz="950">
                <a:solidFill>
                  <a:srgbClr val="A8A8BE"/>
                </a:solidFill>
                <a:latin typeface="Aptos"/>
              </a:defRPr>
            </a:pPr>
            <a:r>
              <a:t>•  [5] WEF — Future of Jobs 2025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50"/>
              </a:spcAft>
              <a:defRPr sz="950">
                <a:solidFill>
                  <a:srgbClr val="A8A8BE"/>
                </a:solidFill>
                <a:latin typeface="Aptos"/>
              </a:defRPr>
            </a:pPr>
            <a:r>
              <a:t>•  [6] Holland (1997) + O*NET Interest Profiler Manual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50"/>
              </a:spcAft>
              <a:defRPr sz="950">
                <a:solidFill>
                  <a:srgbClr val="A8A8BE"/>
                </a:solidFill>
                <a:latin typeface="Aptos"/>
              </a:defRPr>
            </a:pPr>
            <a:r>
              <a:t>•  [7] FutureMe Source Audit, Methodology &amp; Pilot Protocol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6419088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7778F"/>
                </a:solidFill>
                <a:latin typeface="Aptos"/>
              </a:rPr>
              <a:t>Full source registry: 01_Research/Data/REFERENCES.md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FutureMe AI — Project Case Study</dc:title>
  <dc:subject>Problem, evidence, design, implementation, validation and roadmap</dc:subject>
  <dc:creator>FutureMe AI project team</dc:creator>
  <cp:keywords>FutureMe, Thai education, career exploration, RIASEC, explainable AI</cp:keywords>
  <dc:description>Generated from the audited Data folder and the runnable prototype. Current versus planned capabilities are separated throughout.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