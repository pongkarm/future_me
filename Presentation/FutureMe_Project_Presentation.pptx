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616c9598cb4f2c" /><Relationship Type="http://schemas.openxmlformats.org/officeDocument/2006/relationships/extended-properties" Target="/docProps/app.xml" Id="R353577c4f7e943da" /><Relationship Type="http://schemas.openxmlformats.org/officeDocument/2006/relationships/officeDocument" Target="/ppt/presentation.xml" Id="R1264bf2441bd422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5914bf24a248be"/>
  </p:sldMasterIdLst>
  <p:notesMasterIdLst>
    <p:notesMasterId xmlns:r="http://schemas.openxmlformats.org/officeDocument/2006/relationships" r:id="R682807080c874123"/>
  </p:notesMasterIdLst>
  <p:sldIdLst>
    <p:sldId xmlns:r="http://schemas.openxmlformats.org/officeDocument/2006/relationships" id="256" r:id="R1bfdaa6deee44876"/>
    <p:sldId xmlns:r="http://schemas.openxmlformats.org/officeDocument/2006/relationships" id="257" r:id="R1535b352722146de"/>
    <p:sldId xmlns:r="http://schemas.openxmlformats.org/officeDocument/2006/relationships" id="258" r:id="R273a3ec498924cc8"/>
    <p:sldId xmlns:r="http://schemas.openxmlformats.org/officeDocument/2006/relationships" id="259" r:id="Reb367167c6704d1d"/>
    <p:sldId xmlns:r="http://schemas.openxmlformats.org/officeDocument/2006/relationships" id="260" r:id="Rccfdcbd245854cc2"/>
    <p:sldId xmlns:r="http://schemas.openxmlformats.org/officeDocument/2006/relationships" id="261" r:id="R31829015e7384da6"/>
    <p:sldId xmlns:r="http://schemas.openxmlformats.org/officeDocument/2006/relationships" id="262" r:id="R98fb1791878b4cb9"/>
    <p:sldId xmlns:r="http://schemas.openxmlformats.org/officeDocument/2006/relationships" id="263" r:id="Rcf05e42704a7413f"/>
    <p:sldId xmlns:r="http://schemas.openxmlformats.org/officeDocument/2006/relationships" id="264" r:id="R5d1d3f4657ee47f2"/>
    <p:sldId xmlns:r="http://schemas.openxmlformats.org/officeDocument/2006/relationships" id="265" r:id="Rf2a4bb56356949e1"/>
    <p:sldId xmlns:r="http://schemas.openxmlformats.org/officeDocument/2006/relationships" id="266" r:id="Rf7f308c04a45496a"/>
    <p:sldId xmlns:r="http://schemas.openxmlformats.org/officeDocument/2006/relationships" id="267" r:id="R670a9c2b53b04fdb"/>
    <p:sldId xmlns:r="http://schemas.openxmlformats.org/officeDocument/2006/relationships" id="268" r:id="R483bc21060f542ec"/>
    <p:sldId xmlns:r="http://schemas.openxmlformats.org/officeDocument/2006/relationships" id="269" r:id="Rd8f0832dacd9435f"/>
    <p:sldId xmlns:r="http://schemas.openxmlformats.org/officeDocument/2006/relationships" id="270" r:id="Red0f7d45d767452f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226e0a69244260" /><Relationship Type="http://schemas.openxmlformats.org/officeDocument/2006/relationships/slideMaster" Target="/ppt/slideMasters/slideMaster1.xml" Id="Rd65914bf24a248be" /><Relationship Type="http://schemas.openxmlformats.org/officeDocument/2006/relationships/notesMaster" Target="/ppt/notesMasters/notesMaster1.xml" Id="R682807080c874123" /><Relationship Type="http://schemas.openxmlformats.org/officeDocument/2006/relationships/presProps" Target="/ppt/presProps.xml" Id="R33e29728fd3e4f40" /><Relationship Type="http://schemas.openxmlformats.org/officeDocument/2006/relationships/viewProps" Target="/ppt/viewProps.xml" Id="R5fd958dfc7c44793" /><Relationship Type="http://schemas.openxmlformats.org/officeDocument/2006/relationships/tableStyles" Target="/ppt/tableStyles.xml" Id="R9b6ecbf58b0e4cf4" /><Relationship Type="http://schemas.openxmlformats.org/officeDocument/2006/relationships/slide" Target="/ppt/slides/slide1.xml" Id="R1bfdaa6deee44876" /><Relationship Type="http://schemas.openxmlformats.org/officeDocument/2006/relationships/slide" Target="/ppt/slides/slide2.xml" Id="R1535b352722146de" /><Relationship Type="http://schemas.openxmlformats.org/officeDocument/2006/relationships/slide" Target="/ppt/slides/slide3.xml" Id="R273a3ec498924cc8" /><Relationship Type="http://schemas.openxmlformats.org/officeDocument/2006/relationships/slide" Target="/ppt/slides/slide4.xml" Id="Reb367167c6704d1d" /><Relationship Type="http://schemas.openxmlformats.org/officeDocument/2006/relationships/slide" Target="/ppt/slides/slide5.xml" Id="Rccfdcbd245854cc2" /><Relationship Type="http://schemas.openxmlformats.org/officeDocument/2006/relationships/slide" Target="/ppt/slides/slide6.xml" Id="R31829015e7384da6" /><Relationship Type="http://schemas.openxmlformats.org/officeDocument/2006/relationships/slide" Target="/ppt/slides/slide7.xml" Id="R98fb1791878b4cb9" /><Relationship Type="http://schemas.openxmlformats.org/officeDocument/2006/relationships/slide" Target="/ppt/slides/slide8.xml" Id="Rcf05e42704a7413f" /><Relationship Type="http://schemas.openxmlformats.org/officeDocument/2006/relationships/slide" Target="/ppt/slides/slide9.xml" Id="R5d1d3f4657ee47f2" /><Relationship Type="http://schemas.openxmlformats.org/officeDocument/2006/relationships/slide" Target="/ppt/slides/slide10.xml" Id="Rf2a4bb56356949e1" /><Relationship Type="http://schemas.openxmlformats.org/officeDocument/2006/relationships/slide" Target="/ppt/slides/slide11.xml" Id="Rf7f308c04a45496a" /><Relationship Type="http://schemas.openxmlformats.org/officeDocument/2006/relationships/slide" Target="/ppt/slides/slide12.xml" Id="R670a9c2b53b04fdb" /><Relationship Type="http://schemas.openxmlformats.org/officeDocument/2006/relationships/slide" Target="/ppt/slides/slide13.xml" Id="R483bc21060f542ec" /><Relationship Type="http://schemas.openxmlformats.org/officeDocument/2006/relationships/slide" Target="/ppt/slides/slide14.xml" Id="Rd8f0832dacd9435f" /><Relationship Type="http://schemas.openxmlformats.org/officeDocument/2006/relationships/slide" Target="/ppt/slides/slide15.xml" Id="Red0f7d45d76745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a13d669b2ab4f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95d94a6f634358" /><Relationship Type="http://schemas.openxmlformats.org/officeDocument/2006/relationships/notesMaster" Target="/ppt/notesMasters/notesMaster1.xml" Id="R08580725a30943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e0e0f5082f4f2e" /><Relationship Type="http://schemas.openxmlformats.org/officeDocument/2006/relationships/notesMaster" Target="/ppt/notesMasters/notesMaster1.xml" Id="R61245e0eb8f549d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fb8a874a7b4962" /><Relationship Type="http://schemas.openxmlformats.org/officeDocument/2006/relationships/notesMaster" Target="/ppt/notesMasters/notesMaster1.xml" Id="R801ae7cd376c47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e15e24d97e483e" /><Relationship Type="http://schemas.openxmlformats.org/officeDocument/2006/relationships/notesMaster" Target="/ppt/notesMasters/notesMaster1.xml" Id="R3636d2ddbfb44d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4d76b1f3794527" /><Relationship Type="http://schemas.openxmlformats.org/officeDocument/2006/relationships/notesMaster" Target="/ppt/notesMasters/notesMaster1.xml" Id="R207a2549a42c45b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bf0a15abab44a9" /><Relationship Type="http://schemas.openxmlformats.org/officeDocument/2006/relationships/notesMaster" Target="/ppt/notesMasters/notesMaster1.xml" Id="Rc49b9787197746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b076283a1f4422" /><Relationship Type="http://schemas.openxmlformats.org/officeDocument/2006/relationships/notesMaster" Target="/ppt/notesMasters/notesMaster1.xml" Id="R93b0a56a502d45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c0d332af2c4f94" /><Relationship Type="http://schemas.openxmlformats.org/officeDocument/2006/relationships/notesMaster" Target="/ppt/notesMasters/notesMaster1.xml" Id="R5febe23dea3a45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cf8b315ae44a00" /><Relationship Type="http://schemas.openxmlformats.org/officeDocument/2006/relationships/notesMaster" Target="/ppt/notesMasters/notesMaster1.xml" Id="Rb6180a4c4757400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ee8b432a7d486a" /><Relationship Type="http://schemas.openxmlformats.org/officeDocument/2006/relationships/notesMaster" Target="/ppt/notesMasters/notesMaster1.xml" Id="Rf53e73fed76a48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3d848d42b54d44" /><Relationship Type="http://schemas.openxmlformats.org/officeDocument/2006/relationships/notesMaster" Target="/ppt/notesMasters/notesMaster1.xml" Id="R8cd15e473f5f44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2fa980607ac40a7" /><Relationship Type="http://schemas.openxmlformats.org/officeDocument/2006/relationships/notesMaster" Target="/ppt/notesMasters/notesMaster1.xml" Id="R788be59f9e8545e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7465229760d4a46" /><Relationship Type="http://schemas.openxmlformats.org/officeDocument/2006/relationships/notesMaster" Target="/ppt/notesMasters/notesMaster1.xml" Id="R120994f0338d43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c3815ccde2841bb" /><Relationship Type="http://schemas.openxmlformats.org/officeDocument/2006/relationships/notesMaster" Target="/ppt/notesMasters/notesMaster1.xml" Id="Rdd012579b4304a9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535746aca704376" /><Relationship Type="http://schemas.openxmlformats.org/officeDocument/2006/relationships/notesMaster" Target="/ppt/notesMasters/notesMaster1.xml" Id="Rca3474f797b645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eb1968bdc44a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c0fea6466b41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b615992a5d479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1bae60e0c14c2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f9745c05d0487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9b631338064c6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0fc8f5093469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9cabf8d2e149c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e5bf8a6b8c4c9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551550bda494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71f73f142849a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A1FD4F-0BFD-4028-9CEB-42D8D58343C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1E0904C-8C1A-4998-8ABA-0F7608381FA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CDB9B4-72FE-4EAE-8C1E-E647C4180B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8E5FFB-3EE1-400C-9DB9-2C6C795C977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16F5D8B-F9B2-46D5-BCF1-C33ECA179F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F290E3-E8C2-40DF-A500-1290FAE5F9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30F3742-CA94-47DA-B452-21A167B3DC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46481E8-8DAD-4BD4-B3D9-B910B2BFD6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94E159E-4170-4E65-91FB-CF2C89AF56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26F76A-F5EB-456F-934A-6AD686ABB9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6680E-D6D2-46E1-AD0F-112B285415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EEA071-AB5E-4C1A-A575-C955814544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A372C3-0879-4BFA-8203-C9B415BDE8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1518B1-483E-4894-A798-AC02C7DC08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BE2A63-A66A-4AF8-A071-D60F4448B0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F1A152-66AD-4A2F-B26E-17BF3DE67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67F0675-9D1B-4F1C-B54B-6EC1ED246F3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81ACA41-531E-48DC-A7B1-C136E8F7B6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BB6AFE-7124-4E9F-83B2-886552CA0FF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B6A440-C453-489E-908D-182DA79AD9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752848-785E-4AA4-94CC-093024D31C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4BFA9B-A8E4-43DB-9D9D-AF9D0BB9C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5C6E93-7A51-4B5B-8D7B-4390B6DCF3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E9E00EB-A652-4752-965D-50097D71639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2C26D9F-73A7-4FD5-BBCB-46FFDB3124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DF1BF8D-C1AC-4C36-9A79-5259BF495CD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3A6DD1C-561B-4534-A191-7A7ACCC99D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0AA1C573-0E4F-43A3-9EB4-D2EF4132AE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BA3C751-D0A1-4706-A7B3-0F388DFA61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79F5E1-5E18-4F0A-8A94-A04EE1E641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14BE12-C9F6-4DC4-ACEA-0EB1F265CF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27963A-2952-4F91-9C4C-F419537A38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A1D1B3D-A828-456B-8A87-70E3328B1D3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BE3AB63-AEB0-427A-8780-3CBA6487DB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68B35AD1-66AC-46EA-A96E-7786C3D3458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556384-BFC8-4170-8A6C-E91C2A02A5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C556D0-B4DF-4B47-8148-0DC348C06A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CC5D75B-59EA-4121-9E8A-592180CD2CD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CA9C4DF-CEC8-4741-BC46-53633DE52F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AA4E9-AE97-47C3-87FC-979FDAD951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751987-D5DD-4721-A3E0-D495DA73D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641BDA-2605-46C0-AF8B-3289D4FD11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235D6B-17B6-463C-A0E4-3E500E5782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8B8120F-64A2-4927-BDF6-4230D465338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46C266D-E7F8-400D-A819-77D030ADCB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7546F98-24A6-4AE4-81F2-558D525C97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8561055-EEB1-44F9-915B-57315CD173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EBFB132-D399-4FC0-9AF1-0BC32EC5B7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B73C91-DFCE-4691-89BB-7D73CA8EB0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1CCD1F-3D32-45FE-9A41-3C14CAD40F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2E2586-FCD9-4B3F-875F-C4014161CC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AE604B-7CC1-4669-80DA-AD5FE0E897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6436AFF-FEDC-4DE8-B259-FA8B22CB92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10E9626-E7C3-4C83-B581-2B02DA85D3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12C5CEF-7230-4FB9-AB56-7A0B67CC92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90EB8E1-62B0-4A7B-B78D-D243F03600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4D51CBF-708F-4BBE-963A-56089C8006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E83D23-AB02-4683-B165-E9FF587218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56b0847fa694b99" /><Relationship Type="http://schemas.openxmlformats.org/officeDocument/2006/relationships/slideLayout" Target="/ppt/slideLayouts/slideLayout1.xml" Id="R1b7977e4311a49e5" /><Relationship Type="http://schemas.openxmlformats.org/officeDocument/2006/relationships/slideLayout" Target="/ppt/slideLayouts/slideLayout2.xml" Id="R432d972114234bde" /><Relationship Type="http://schemas.openxmlformats.org/officeDocument/2006/relationships/slideLayout" Target="/ppt/slideLayouts/slideLayout3.xml" Id="R5385420762c9404a" /><Relationship Type="http://schemas.openxmlformats.org/officeDocument/2006/relationships/slideLayout" Target="/ppt/slideLayouts/slideLayout4.xml" Id="R6f214d798f574937" /><Relationship Type="http://schemas.openxmlformats.org/officeDocument/2006/relationships/slideLayout" Target="/ppt/slideLayouts/slideLayout5.xml" Id="R1a8150c2809148d8" /><Relationship Type="http://schemas.openxmlformats.org/officeDocument/2006/relationships/slideLayout" Target="/ppt/slideLayouts/slideLayout6.xml" Id="R4ed2fd32ab69404e" /><Relationship Type="http://schemas.openxmlformats.org/officeDocument/2006/relationships/slideLayout" Target="/ppt/slideLayouts/slideLayout7.xml" Id="R5f4a77428f914482" /><Relationship Type="http://schemas.openxmlformats.org/officeDocument/2006/relationships/slideLayout" Target="/ppt/slideLayouts/slideLayout8.xml" Id="Rf27b8f5bd38b492b" /><Relationship Type="http://schemas.openxmlformats.org/officeDocument/2006/relationships/slideLayout" Target="/ppt/slideLayouts/slideLayout9.xml" Id="R3dfcb54fe61c4033" /><Relationship Type="http://schemas.openxmlformats.org/officeDocument/2006/relationships/slideLayout" Target="/ppt/slideLayouts/slideLayout10.xml" Id="R456fb62baebd47fe" /><Relationship Type="http://schemas.openxmlformats.org/officeDocument/2006/relationships/slideLayout" Target="/ppt/slideLayouts/slideLayout11.xml" Id="R66e60b6ee3014cc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B39A5F4-7673-489A-9740-3F9FA28F44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6CC9EDF-702B-48AC-B89A-D415E552C4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2020B-EC33-4D7E-8AA0-8CAB283830C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9EA7E80-2074-4DF9-A19F-2F2EFD89D05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AC6F06-4FFE-4835-8A8E-E503D391DB6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7977e4311a49e5"/>
    <p:sldLayoutId xmlns:r="http://schemas.openxmlformats.org/officeDocument/2006/relationships" id="2147483650" r:id="R432d972114234bde"/>
    <p:sldLayoutId xmlns:r="http://schemas.openxmlformats.org/officeDocument/2006/relationships" id="2147483651" r:id="R5385420762c9404a"/>
    <p:sldLayoutId xmlns:r="http://schemas.openxmlformats.org/officeDocument/2006/relationships" id="2147483652" r:id="R6f214d798f574937"/>
    <p:sldLayoutId xmlns:r="http://schemas.openxmlformats.org/officeDocument/2006/relationships" id="2147483653" r:id="R1a8150c2809148d8"/>
    <p:sldLayoutId xmlns:r="http://schemas.openxmlformats.org/officeDocument/2006/relationships" id="2147483654" r:id="R4ed2fd32ab69404e"/>
    <p:sldLayoutId xmlns:r="http://schemas.openxmlformats.org/officeDocument/2006/relationships" id="2147483655" r:id="R5f4a77428f914482"/>
    <p:sldLayoutId xmlns:r="http://schemas.openxmlformats.org/officeDocument/2006/relationships" id="2147483656" r:id="Rf27b8f5bd38b492b"/>
    <p:sldLayoutId xmlns:r="http://schemas.openxmlformats.org/officeDocument/2006/relationships" id="2147483657" r:id="R3dfcb54fe61c4033"/>
    <p:sldLayoutId xmlns:r="http://schemas.openxmlformats.org/officeDocument/2006/relationships" id="2147483658" r:id="R456fb62baebd47fe"/>
    <p:sldLayoutId xmlns:r="http://schemas.openxmlformats.org/officeDocument/2006/relationships" id="2147483659" r:id="R66e60b6ee3014cc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ee28a68f414d08" /><Relationship Type="http://schemas.openxmlformats.org/officeDocument/2006/relationships/image" Target="/ppt/media/image.png" Id="R9e04637625664912" /><Relationship Type="http://schemas.openxmlformats.org/officeDocument/2006/relationships/notesSlide" Target="/ppt/notesSlides/notesSlide1.xml" Id="R799a3e82040149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a87706d6324d0b" /><Relationship Type="http://schemas.openxmlformats.org/officeDocument/2006/relationships/image" Target="/ppt/media/image2.png" Id="R02928d35330a4a8e" /><Relationship Type="http://schemas.openxmlformats.org/officeDocument/2006/relationships/image" Target="/ppt/media/image3.png" Id="R3130a64c6d2c4486" /><Relationship Type="http://schemas.openxmlformats.org/officeDocument/2006/relationships/notesSlide" Target="/ppt/notesSlides/notesSlide2.xml" Id="R5d8e520ee109435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ebf6f0476244e2" /><Relationship Type="http://schemas.openxmlformats.org/officeDocument/2006/relationships/image" Target="/ppt/media/image2.png" Id="R27c76cb26cc64ebc" /><Relationship Type="http://schemas.openxmlformats.org/officeDocument/2006/relationships/image" Target="/ppt/media/image3.png" Id="R0035f820308f490e" /><Relationship Type="http://schemas.openxmlformats.org/officeDocument/2006/relationships/notesSlide" Target="/ppt/notesSlides/notesSlide3.xml" Id="R6f5799aa39ee47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5f0fe2730c459a" /><Relationship Type="http://schemas.openxmlformats.org/officeDocument/2006/relationships/image" Target="/ppt/media/image2.png" Id="R131ecc95a4ff4d9e" /><Relationship Type="http://schemas.openxmlformats.org/officeDocument/2006/relationships/image" Target="/ppt/media/image3.png" Id="R4a1aac2deed54a8c" /><Relationship Type="http://schemas.openxmlformats.org/officeDocument/2006/relationships/notesSlide" Target="/ppt/notesSlides/notesSlide4.xml" Id="Re10d31c1d7874a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dc1a217a2441bf" /><Relationship Type="http://schemas.openxmlformats.org/officeDocument/2006/relationships/image" Target="/ppt/media/image2.png" Id="R611243bf86714bc5" /><Relationship Type="http://schemas.openxmlformats.org/officeDocument/2006/relationships/image" Target="/ppt/media/image3.png" Id="R378b2a52811c47ae" /><Relationship Type="http://schemas.openxmlformats.org/officeDocument/2006/relationships/notesSlide" Target="/ppt/notesSlides/notesSlide5.xml" Id="R3fd5e3c2598a48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ea3461ec4031" /><Relationship Type="http://schemas.openxmlformats.org/officeDocument/2006/relationships/image" Target="/ppt/media/image2.png" Id="Rfc1f4af5ed504228" /><Relationship Type="http://schemas.openxmlformats.org/officeDocument/2006/relationships/image" Target="/ppt/media/image3.png" Id="Raa383a28288840af" /><Relationship Type="http://schemas.openxmlformats.org/officeDocument/2006/relationships/notesSlide" Target="/ppt/notesSlides/notesSlide6.xml" Id="R16aeb6c3db424d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d4ddf5aaea4626" /><Relationship Type="http://schemas.openxmlformats.org/officeDocument/2006/relationships/image" Target="/ppt/media/image2.png" Id="R1bc7e23c182e49bc" /><Relationship Type="http://schemas.openxmlformats.org/officeDocument/2006/relationships/image" Target="/ppt/media/image3.png" Id="R83bb62cb639f4993" /><Relationship Type="http://schemas.openxmlformats.org/officeDocument/2006/relationships/notesSlide" Target="/ppt/notesSlides/notesSlide7.xml" Id="Rbc16174f350a4c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628d58245d46e3" /><Relationship Type="http://schemas.openxmlformats.org/officeDocument/2006/relationships/image" Target="/ppt/media/image2.png" Id="Rf94c53b383f543a2" /><Relationship Type="http://schemas.openxmlformats.org/officeDocument/2006/relationships/image" Target="/ppt/media/image3.png" Id="R4475432bd30f4596" /><Relationship Type="http://schemas.openxmlformats.org/officeDocument/2006/relationships/notesSlide" Target="/ppt/notesSlides/notesSlide8.xml" Id="R15f737ad8fb341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7da5e9fbf24f45" /><Relationship Type="http://schemas.openxmlformats.org/officeDocument/2006/relationships/image" Target="/ppt/media/image2.png" Id="R6fbf0239ad79472d" /><Relationship Type="http://schemas.openxmlformats.org/officeDocument/2006/relationships/image" Target="/ppt/media/image3.png" Id="R013b3fd75e91438a" /><Relationship Type="http://schemas.openxmlformats.org/officeDocument/2006/relationships/notesSlide" Target="/ppt/notesSlides/notesSlide9.xml" Id="R362f72ea9a2b4a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842d989f954522" /><Relationship Type="http://schemas.openxmlformats.org/officeDocument/2006/relationships/image" Target="/ppt/media/image2.png" Id="R1ac22e49ba804f9c" /><Relationship Type="http://schemas.openxmlformats.org/officeDocument/2006/relationships/image" Target="/ppt/media/image3.png" Id="R5a955d12d62d4812" /><Relationship Type="http://schemas.openxmlformats.org/officeDocument/2006/relationships/notesSlide" Target="/ppt/notesSlides/notesSlide10.xml" Id="Rf36a2fb6acb147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4f8dd740f14c02" /><Relationship Type="http://schemas.openxmlformats.org/officeDocument/2006/relationships/image" Target="/ppt/media/image2.png" Id="Rc1fa03e0cdf9478e" /><Relationship Type="http://schemas.openxmlformats.org/officeDocument/2006/relationships/image" Target="/ppt/media/image3.png" Id="R96b817d208e34f21" /><Relationship Type="http://schemas.openxmlformats.org/officeDocument/2006/relationships/notesSlide" Target="/ppt/notesSlides/notesSlide11.xml" Id="R8b915ce5344a4aa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32d2f3ff004227" /><Relationship Type="http://schemas.openxmlformats.org/officeDocument/2006/relationships/image" Target="/ppt/media/image2.png" Id="Rca8b0af9719c4c78" /><Relationship Type="http://schemas.openxmlformats.org/officeDocument/2006/relationships/image" Target="/ppt/media/image3.png" Id="Rc38a518bd7f2408f" /><Relationship Type="http://schemas.openxmlformats.org/officeDocument/2006/relationships/image" Target="/ppt/media/image4.png" Id="R93b290f8ccff43fc" /><Relationship Type="http://schemas.openxmlformats.org/officeDocument/2006/relationships/image" Target="/ppt/media/image5.png" Id="Rc7a3d6e346cf4f64" /><Relationship Type="http://schemas.openxmlformats.org/officeDocument/2006/relationships/image" Target="/ppt/media/image6.png" Id="R601505f1092a4668" /><Relationship Type="http://schemas.openxmlformats.org/officeDocument/2006/relationships/notesSlide" Target="/ppt/notesSlides/notesSlide12.xml" Id="R66a51954b880468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2045a066c644f1" /><Relationship Type="http://schemas.openxmlformats.org/officeDocument/2006/relationships/image" Target="/ppt/media/image2.png" Id="Rd52039e167d245b5" /><Relationship Type="http://schemas.openxmlformats.org/officeDocument/2006/relationships/image" Target="/ppt/media/image3.png" Id="Rb5f8cb872c6c4084" /><Relationship Type="http://schemas.openxmlformats.org/officeDocument/2006/relationships/notesSlide" Target="/ppt/notesSlides/notesSlide13.xml" Id="Rb9f62955d48149c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79f909e3644147" /><Relationship Type="http://schemas.openxmlformats.org/officeDocument/2006/relationships/image" Target="/ppt/media/image2.png" Id="Rd87d61ea958d4a04" /><Relationship Type="http://schemas.openxmlformats.org/officeDocument/2006/relationships/image" Target="/ppt/media/image3.png" Id="R1ba4f27fa8e249eb" /><Relationship Type="http://schemas.openxmlformats.org/officeDocument/2006/relationships/notesSlide" Target="/ppt/notesSlides/notesSlide14.xml" Id="Rcce08f5602ff41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63fb115c69482e" /><Relationship Type="http://schemas.openxmlformats.org/officeDocument/2006/relationships/image" Target="/ppt/media/image2.png" Id="Rf99b40ac53a34a79" /><Relationship Type="http://schemas.openxmlformats.org/officeDocument/2006/relationships/image" Target="/ppt/media/image3.png" Id="R0685bcb0d6e74a02" /><Relationship Type="http://schemas.openxmlformats.org/officeDocument/2006/relationships/notesSlide" Target="/ppt/notesSlides/notesSlide15.xml" Id="Rd742a5b8ae91447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46376256649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1989C7-3CC9-40B2-A7B0-819416B41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475488"/>
            <a:ext cx="5852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JUMP THAILAND HACKATHON 2026 · PROJECT CASE STUDY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66D18A-2103-4C39-AD53-D25073CB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078992"/>
            <a:ext cx="557784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AI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794F434-7D24-4E25-9374-E03F1BFC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5669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From </a:t>
            </a:r>
            <a:r>
              <a:rPr sz="2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“I think”</a:t>
            </a:r>
            <a:r>
              <a:rPr sz="23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 to </a:t>
            </a:r>
            <a:r>
              <a:rPr sz="2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“I tried.”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0B26401-B069-4857-886F-85273DDC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5669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ช่วยให้นักเรียนเข้าใจตัวเอง ก่อนตัดสินใจอนาคต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F8B614-D327-4CC4-B320-EB6FD6F9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63240"/>
            <a:ext cx="53492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decision-support prototype for Thai secondary and vocational students.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5758D38-9D25-4A85-8CCA-67E0285F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0752"/>
            <a:ext cx="2971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BC62301-12D5-4F61-8BD7-AC2EA793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744468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4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RESEARCH-INFORMED · NOT VALIDATED GUIDANCE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1E51E5B-4EF7-4FCF-A032-BC9AB33B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669280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Explore the next step—not one final answer.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5186B4-FFF0-4E08-8B34-3528CC0C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062472"/>
            <a:ext cx="576072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Research synthesis · Product strategy · UX · AI architecture · Validation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F4D60F7F-7CB8-4B98-BE71-71C50CD3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283464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C7C3B88-99B5-4363-940C-140A9F0C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90779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ME
NOW</a:t>
            </a:r>
          </a:p>
        </p:txBody>
      </p:sp>
      <p:sp>
        <p:nvSpPr>
          <p:cNvPr id="14" name="Connector 13">
            <a:extLst xmlns:a="http://schemas.openxmlformats.org/drawingml/2006/main">
              <a:ext uri="{FF2B5EF4-FFF2-40B4-BE49-F238E27FC236}">
                <a16:creationId xmlns:a16="http://schemas.microsoft.com/office/drawing/2014/main" id="{D55A4CD5-1AAF-4991-B1BF-BB2550CD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293608" y="1463040"/>
            <a:ext cx="438912" cy="1847088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CE06DABA-1614-4450-BDAE-A04EDAF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987552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941ADB8-C288-403F-91C4-BFE60B4E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1060704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STUDY
ROUTE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AFE72923-E502-4894-89D1-B45B831B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8732520" y="1517904"/>
            <a:ext cx="1481328" cy="1792224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03BB2CF-8B12-4EF1-B91E-BC85FDDD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1042415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A6244E2-C097-41E9-A47E-DC0670F41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1115568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TVET
ROUTE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6AEB8391-B6A2-4F11-AC82-E81ED425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310128"/>
            <a:ext cx="2029968" cy="150876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77778F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20CAFE38-0A84-48BE-A815-662240AC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343400"/>
            <a:ext cx="950976" cy="9509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554C1CE-238E-4D8A-AE59-00598390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4416552"/>
            <a:ext cx="804672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SKILL
TRIAL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3D18DA27-A0EF-4108-8DF0-076865AE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229600" y="3721608"/>
            <a:ext cx="914400" cy="1536192"/>
          </a:xfrm>
          <a:prstGeom xmlns:a="http://schemas.openxmlformats.org/drawingml/2006/main" prst="line">
            <a:avLst/>
          </a:prstGeom>
          <a:ln xmlns:a="http://schemas.openxmlformats.org/drawingml/2006/main" w="29209">
            <a:solidFill>
              <a:srgbClr val="4FE3C1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2A6C5589-055B-48CE-8872-A2F7AD18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138928"/>
            <a:ext cx="1051560" cy="10515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5185FE81-D21D-4505-A05E-7AF86672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7264" y="5212080"/>
            <a:ext cx="905255" cy="9052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NEXT
EVIDENCE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4B42D16-0ADD-4706-A358-C27BEACC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6236208"/>
            <a:ext cx="434340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Several hypotheses.
One reversible next step.</a:t>
            </a:r>
          </a:p>
        </p:txBody>
      </p:sp>
    </p:spTree>
    <p:extLst>
      <p:ext uri="{BB962C8B-B14F-4D97-AF65-F5344CB8AC3E}">
        <p14:creationId xmlns:p14="http://schemas.microsoft.com/office/powerpoint/2010/main" val="14689150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28d35330a4a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2186089-9EE6-42AD-B56C-6F55594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9BAA1D-A910-4BE3-B833-D00DF505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Students decide before they have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CD3C932-CA45-4F4F-9FD1-07AB12C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Thai education has visible forks; the day-to-day reality behind each route is harder to test.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CD2D1D-536E-428F-B892-3DD0AF08A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47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0a64c6d2c44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34A476-BA89-41D6-A233-394DA96C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EA0D81-BE31-4177-9C87-9CBB5606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664208"/>
            <a:ext cx="37947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Decisions arrive
before experience.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090C91B-3974-4478-B058-C39A34C9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743200"/>
            <a:ext cx="32918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FutureMe’s design hypothesis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45B39E-A7C4-466A-9D0E-DED53104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054096"/>
            <a:ext cx="3611880" cy="9326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Students need a safe way to test a direction before committing time, prerequisites and money.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58FA28-3072-4A77-BDB8-A65D7D3C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609344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CONSEQUENTIAL CHOICE POINTS</a:t>
            </a:r>
          </a:p>
        </p:txBody>
      </p:sp>
      <p:sp>
        <p:nvSpPr>
          <p:cNvPr id="13" name="Oval 12">
            <a:extLst xmlns:a="http://schemas.openxmlformats.org/drawingml/2006/main">
              <a:ext uri="{FF2B5EF4-FFF2-40B4-BE49-F238E27FC236}">
                <a16:creationId xmlns:a16="http://schemas.microsoft.com/office/drawing/2014/main" id="{0E2FF6A3-CA9C-45FA-A91E-3E6308B4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226771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3224494-9250-4CB0-9C41-BED00E06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234086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ม.3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AD36DF15-12FF-4C07-B9F4-5CC3C07C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187952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DC22586-4A4D-41D2-99B5-A5C983B0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8072" y="4261104"/>
            <a:ext cx="603503" cy="60350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ม.6</a:t>
            </a:r>
          </a:p>
        </p:txBody>
      </p:sp>
      <p:sp>
        <p:nvSpPr>
          <p:cNvPr id="17" name="Connector 16">
            <a:extLst xmlns:a="http://schemas.openxmlformats.org/drawingml/2006/main">
              <a:ext uri="{FF2B5EF4-FFF2-40B4-BE49-F238E27FC236}">
                <a16:creationId xmlns:a16="http://schemas.microsoft.com/office/drawing/2014/main" id="{71989F8D-3841-4364-939B-1D544A167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7223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7708A896-8C0E-4908-9D21-810FBFED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291693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Connector 18">
            <a:extLst xmlns:a="http://schemas.openxmlformats.org/drawingml/2006/main">
              <a:ext uri="{FF2B5EF4-FFF2-40B4-BE49-F238E27FC236}">
                <a16:creationId xmlns:a16="http://schemas.microsoft.com/office/drawing/2014/main" id="{19C1595E-C5A3-47BC-B186-3879DAFA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2322576"/>
            <a:ext cx="4379976" cy="32004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31A916B-7889-4272-BEF2-5ACF7761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931FADF-95A2-426B-8260-5376A986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General
upper secondary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B00C1AE-36EF-4C4A-80BC-89EA0D42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36B8D70-8D6C-4F87-B0EC-5ECA2B4B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
ปวช.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06221942-C976-442C-9A60-384E028A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1938528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F32C3B1-6483-4CF8-8126-3B852A597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2029968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Other /
local options</a:t>
            </a:r>
          </a:p>
        </p:txBody>
      </p:sp>
      <p:sp>
        <p:nvSpPr>
          <p:cNvPr id="26" name="Connector 25">
            <a:extLst xmlns:a="http://schemas.openxmlformats.org/drawingml/2006/main">
              <a:ext uri="{FF2B5EF4-FFF2-40B4-BE49-F238E27FC236}">
                <a16:creationId xmlns:a16="http://schemas.microsoft.com/office/drawing/2014/main" id="{02EBF367-FD91-49AE-AEC0-99232F51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7223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7" name="Connector 26">
            <a:extLst xmlns:a="http://schemas.openxmlformats.org/drawingml/2006/main">
              <a:ext uri="{FF2B5EF4-FFF2-40B4-BE49-F238E27FC236}">
                <a16:creationId xmlns:a16="http://schemas.microsoft.com/office/drawing/2014/main" id="{43523DC2-7CFB-4B5A-B32F-795EF7C7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291693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27C329C1-83B8-4E6A-A993-537829AA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815584" y="4224528"/>
            <a:ext cx="4379976" cy="338328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7100C6CE-636C-41AE-9CBB-3B88A5DF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852C6881-D04F-4E99-8448-C2C042A59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TCAS /
university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5ACE7165-CC9B-4801-9D05-10DB9694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FAC3A10-825A-401A-A160-F93410AB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/
training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10977E60-EBA7-4736-9265-7D86A74A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3840480"/>
            <a:ext cx="141732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19AD0A1-B081-4280-94EF-8083EBFC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712" y="3931920"/>
            <a:ext cx="127101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Continue
vocational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F54A82E4-1E55-49D7-B871-0E77C53A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5138928"/>
            <a:ext cx="653796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FF581D97-3F31-419A-A391-CCDD2094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58384"/>
            <a:ext cx="60716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Criteria vary by school, campus, programme and admission year.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CBDD4EFB-273C-4130-B54B-02CBDC96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4960"/>
            <a:ext cx="3611880" cy="548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D9B7C865-6599-47CC-8E68-8770F81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559552"/>
            <a:ext cx="3364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PRIMARY USER RESEARCH: NOT YET RUN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EAEC269-324E-423E-BEE6-67EB13F7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Thai curriculum, VEC catalogue, TCAS70; FutureMe source audit (24 Jul 2026)</a:t>
            </a:r>
          </a:p>
        </p:txBody>
      </p:sp>
    </p:spTree>
    <p:extLst>
      <p:ext uri="{BB962C8B-B14F-4D97-AF65-F5344CB8AC3E}">
        <p14:creationId xmlns:p14="http://schemas.microsoft.com/office/powerpoint/2010/main" val="7548967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c76cb26cc64e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AE52E4-62C1-43A2-A587-6778247B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5338948-58B0-41F7-81E8-718FF395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cost is mismatch—and a moving target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4F37F9C-19CA-4381-ADB4-25914A76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evidence supports earlier exploration, not a promise of one perfect match.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13BC2E-2174-4A5D-B6F7-458A49CD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3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35f820308f49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D7470D5-6BB4-465B-B33C-969399CC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408F5992-65BE-4F90-B729-8080DC6D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2BEF0B9-A169-48D7-8CC0-1309B090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89720D7-DDE9-45F5-A5B2-2EC4DF2F4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56%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1551151-1A0B-4915-AEB0-CE986286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outside their field of study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CC6C15-E8DD-489A-BEF3-D22D7DCF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TDRI CONTEXT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7B95D02-4E66-4AF8-85E5-A3782949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8A1C4AB-7AA3-4678-B48A-94073FD4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2AEB432C-FB11-4562-B2C4-1E5135BE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27%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78FFE3F-A582-4862-A781-9BEBBE6D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below their skill or qualification level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D2B80F7-DD32-491B-B7CA-19AF532D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884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SAME POPULATION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F9F9AC8-786D-403F-8EC5-ECEDAFCE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32461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0977E95E-314B-4FF2-9D4B-16D6D5B7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1691640"/>
            <a:ext cx="73152" cy="2423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812156A-D0DA-4A2B-9DE8-784AD028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19" y="1883664"/>
            <a:ext cx="274320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39%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749DF8-0009-4B9B-9569-3BF819E8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679192"/>
            <a:ext cx="26700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of core skills expected to change by 2030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9576FFC-A4CB-4577-9E5C-B48E6F08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3602736"/>
            <a:ext cx="26700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3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WEF EMPLOYER SURVEY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06B825F-D93C-4FCC-80B1-8EFB01C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45152"/>
            <a:ext cx="9985248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3ED3CC1-7360-4175-BB1A-AA181097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37760"/>
            <a:ext cx="941832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implication: </a:t>
            </a:r>
            <a:r>
              <a:rPr sz="1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help students test, compare and revise—before a direction becomes expensive to change.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7D2136F1-6F62-4A4E-BF97-06532681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06440"/>
            <a:ext cx="1010412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Caution: the TDRI public page describes a broadly highly educated group and does not expose its denominator or method. These figures are problem context, not a FutureMe performance baseline.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0DDCE61-D33F-45FF-B94C-0F4DE5E2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TDRI (2025); WEF Future of Jobs (2025); scopes differ and are not combined causally</a:t>
            </a:r>
          </a:p>
        </p:txBody>
      </p:sp>
    </p:spTree>
    <p:extLst>
      <p:ext uri="{BB962C8B-B14F-4D97-AF65-F5344CB8AC3E}">
        <p14:creationId xmlns:p14="http://schemas.microsoft.com/office/powerpoint/2010/main" val="2035233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1ecc95a4ff4d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4DEC838-9839-4A25-9A57-12623E38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CURRENT GAP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9D1DABC-CE07-49E4-BBB9-A42A91C8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Information exists. Interpretation is fragmented.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76F5986-AE9B-4DB1-A73D-B19CFD48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gap is not another list—it is a visible chain from self-knowledge to action.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871CB-7648-4135-9D59-9C1C302F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4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1aac2deed54a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E574AE-2AAF-493D-8837-6B3A23BF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D535589-9DDF-42B7-8D83-D01CA328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3F4EC64-90EA-4086-8F1D-3893D7CB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0D5801F-4987-44DF-B30F-5F161FCD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School plans
TCAS pages
Career sites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EB06552-904D-4163-B3EF-0E5902D6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92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98D851D-1F09-4EA1-9DBF-6463D841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8A2EDC-5C3A-4D72-997F-78E44AD3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70F6142-7297-4C8D-B8DE-313AA38B1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4991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Static interest
questionnaire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23C6666-1224-4FC0-84DE-DD327E02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44284B2-1A3C-4FF9-A6C8-A3CC74E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RESULT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DDD212AC-0E95-444B-96A7-29C5A4BD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644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6B6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9BC0D7-A6C5-4059-A3E6-9A1865CD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Generic career
or faculty list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5101B25-9BE2-45A6-8CDE-FD2387C5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3567" y="23591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B4F9DBD-CE95-487A-8EEE-A6BC759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55448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AFTER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27C496F3-C4AE-4DEE-8411-B74D7836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901952"/>
            <a:ext cx="2057400" cy="12984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524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842191B-41A3-4C69-A735-29305EA4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103120"/>
            <a:ext cx="1819656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Still unsure
what to try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433D90C5-CD6A-48EC-9806-D42798B0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675887"/>
            <a:ext cx="1920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What is missing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D9694E4F-5C84-4939-8AA5-FD6CAFCD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1648"/>
            <a:ext cx="10808208" cy="11338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5875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0B169499-CB0F-406D-A5B8-763C83E03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33A73A13-976F-4174-9184-5BBDCD71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WHAT I SAID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F9B8AD1-D852-4618-90DD-5C3E468A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802FA61C-E775-4FF3-BED3-ED1968507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A2DA308A-2464-40F7-A3B4-3ECEBD9C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39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WHAT I TRIED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402C45D-E3F2-48DE-8360-CFB25900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79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91912A15-FFF6-4E6E-956E-52DC57BA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FD5F275D-D029-4C35-89EB-16280FE5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WHY THIS ROUTE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ACCD9673-C525-4AB5-A54E-20BDF66B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36168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746A9D76-E5C1-401C-982C-2FB81E10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407408"/>
            <a:ext cx="18288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1CE3853-1ED6-44BA-9192-C8DEF18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211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WHAT TO DO NEXT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DA950BCF-6E7C-4ACE-83DC-391302DC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559552"/>
            <a:ext cx="10241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Admission criteria expire. Career-to-programme links are many-to-many. A trustworthy product must show scope, date and source.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6CF63728-2049-403F-9C59-9CB0D430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Data/RAG_DATA_SPEC; curriculum and source-audit files</a:t>
            </a:r>
          </a:p>
        </p:txBody>
      </p:sp>
    </p:spTree>
    <p:extLst>
      <p:ext uri="{BB962C8B-B14F-4D97-AF65-F5344CB8AC3E}">
        <p14:creationId xmlns:p14="http://schemas.microsoft.com/office/powerpoint/2010/main" val="108906489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1243bf86714b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E90C6E-FB49-47BE-B11C-3B3F36C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35640915-0D30-4BFC-84F8-BE417153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idea evolved from matching to learning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EEA7CE-41E6-4416-94A8-505E9641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Each research input changed a product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92FD44-E605-4F18-9F71-1DCA0DC0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b2a52811c47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6C6C226-4623-41FF-B9EC-3459588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003E2D0B-A003-43E1-86FE-39EDB4CC2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7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877D42A-9E13-4408-9A06-B3FD32E07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41B80D-C48A-4728-8D8A-FAF19D6F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EE1921-16A8-4370-BB49-F24CBB2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Study–work mismatch
is not one-to-one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2248B0C-3CBC-44A7-ACF2-132C4FF2E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D37CCF0A-8DDF-4A46-A67E-E5C6BD222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754AAC9-BA7C-4C06-8D2B-924D2F61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B2DBD41-D03A-4FB6-89C0-8FDF8976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THEORY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DD3DAD0-A347-43BA-8063-C4C53006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36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gives a
six-part interest language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B91DF4E-FA40-414C-9C5E-049426F0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7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B9AD4E28-3761-4D39-878E-2175C209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EFA1DE2-B468-4296-BDAA-B46C9254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9B6AA44-3F7C-4D6F-8567-27EA1B74C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293798F-1F8F-49FE-A3FB-0EC2B959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+ STAR
surface lived evidence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AD7D5FC-D100-4757-A895-88A190B4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59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0825C4D9-64E4-4ECF-B7C2-A242B65B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D9797AC9-6F5E-40D8-A7DC-6B08662A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D915668-D474-4126-8250-0E0D7D19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C5DA09C7-A019-4A85-BC8D-BDA607F7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mini mission
tests self-report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1F3CA04-4723-445E-B45B-D72B5261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96596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38899E1-4100-4EEF-AE85-D593F445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828800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C3A095E6-DF86-4548-8C4C-C250D010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1901952"/>
            <a:ext cx="512063" cy="512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DF841AB-4182-42A3-A2BB-5AC4B0028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51760"/>
            <a:ext cx="181051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2935643-BD6D-4A1D-9C20-71F63483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99232"/>
            <a:ext cx="1810512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 +
a 30-day experiment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60254C3E-FD8C-4E3B-A778-F5E11F2E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663440"/>
            <a:ext cx="8503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70DFF95D-57B7-4B7A-8F4E-1259D8C0A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1" y="4919472"/>
            <a:ext cx="8046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is an </a:t>
            </a:r>
            <a:r>
              <a:rPr sz="2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loop</a:t>
            </a:r>
            <a:r>
              <a:rPr sz="21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, not a career oracle.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2BAF55D7-2020-495D-BFD9-86A9507A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760720"/>
            <a:ext cx="7360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frameworks guide prompts; they do not validate the questionnaire.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EBFBB3C-97A5-4FDE-B21B-A7A55850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research summaries; Holland RIASEC; interview framework files</a:t>
            </a:r>
          </a:p>
        </p:txBody>
      </p:sp>
    </p:spTree>
    <p:extLst>
      <p:ext uri="{BB962C8B-B14F-4D97-AF65-F5344CB8AC3E}">
        <p14:creationId xmlns:p14="http://schemas.microsoft.com/office/powerpoint/2010/main" val="203319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f4af5ed5042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820AEA-9FA1-4FB4-B024-713A80F5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RESEARCH FOUNDATION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183CFA6-AF53-4427-BA17-0D756DFA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Research shaped the model—and what we rejected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E5A3B8C-67F9-4BB4-AD19-E98035F8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Only constructs that change the product’s output earn a place in the assessment.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1892B77-E064-4F19-BFDE-3A844F82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56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83a28288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B4389BA-3E9C-4977-A971-9A861093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Hexagon 8">
            <a:extLst xmlns:a="http://schemas.openxmlformats.org/drawingml/2006/main">
              <a:ext uri="{FF2B5EF4-FFF2-40B4-BE49-F238E27FC236}">
                <a16:creationId xmlns:a16="http://schemas.microsoft.com/office/drawing/2014/main" id="{D502B3AF-6B62-438A-B147-C5C03FD0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901952"/>
            <a:ext cx="3200400" cy="32004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20320">
            <a:solidFill>
              <a:srgbClr val="6D5E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46ECF9-E874-4E39-ACF0-AC0FEB1E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9928" y="2889504"/>
            <a:ext cx="1463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6CF765E-AAAE-4EEC-B684-4D69A817F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3401568"/>
            <a:ext cx="1280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one vector
six interests</a:t>
            </a:r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E7AF5CE7-8E5E-4BE1-A427-47780B09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15270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619311C-C3E1-48B0-8296-7FB21515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6002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507685EE-3D02-458A-AAFE-43701B9D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19842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Hands-on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EDE81F57-E33A-44F9-8D03-2436AFE0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172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67B08B1-3BBC-4364-BA1C-1AB77EEE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152" y="240487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14F4ADC-3F55-4FB4-8637-87AC4446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8892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5B5B9B16-FC5A-4087-A4BD-04E339F5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4164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2BF0DDE-F771-4458-AD93-D6F65E36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4114800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8634D59-A334-4DB9-9025-DA906E2F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498848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Create</a:t>
            </a:r>
          </a:p>
        </p:txBody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B792EE57-19C2-488B-BF95-9289676F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8280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64E326-F9A5-4423-B8ED-45DBE562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544" y="49011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0C5B71F-CC1D-4027-8D64-0D455F60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52852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Help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C96EADAD-92CE-4369-B1E5-10400789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402336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9C59200-D163-4ABD-9791-12AFA6325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96512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D5E0F1B-E283-4DF0-B22C-3911699D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4480560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Lead</a:t>
            </a:r>
          </a:p>
        </p:txBody>
      </p:sp>
      <p:sp>
        <p:nvSpPr>
          <p:cNvPr id="27" name="Oval 26">
            <a:extLst xmlns:a="http://schemas.openxmlformats.org/drawingml/2006/main">
              <a:ext uri="{FF2B5EF4-FFF2-40B4-BE49-F238E27FC236}">
                <a16:creationId xmlns:a16="http://schemas.microsoft.com/office/drawing/2014/main" id="{8391C2FD-69E2-432F-B971-F7B4AB6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3134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A8BE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35E9F565-2CA6-4A88-B631-3694554A2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86584"/>
            <a:ext cx="274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71FC406-B5EF-4822-AEF5-B98CB299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" y="2770632"/>
            <a:ext cx="87782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Organise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60747709-AD27-4E53-B334-683E92CA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1773936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EA22AFD-424D-455F-BC9B-8EA7F6A4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938528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INCLUDED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CC510E72-F592-462E-B12D-DF696600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901952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 interest vector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02A2E1C1-388A-4F2F-83E5-815F6538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1920240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 starting hypothesis for exploration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E75D8B40-75CC-4E3A-9A6C-AC9E7F18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761488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51D1D3A7-B5B9-4D81-8958-08125F90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926080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DESIGN INPUT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9D389CD3-2A85-4253-B654-14A9E2A1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889504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Socratic prompts + STAR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2C8AADA3-6835-4C2D-A462-B3391956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2907792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Conversation scaffolds—not psychometrics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4D1F93F4-EFF9-43B4-A315-1186EE6F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749039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7D3FD8B2-D9B0-4390-A595-F2370724D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3913631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DEFERRED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78F998B1-A1EC-4C5A-9350-52CB69DB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877055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Work values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E3D3AC71-80CC-408F-8495-711D2AE3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3895344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Route catalogue lacks value profiles</a:t>
            </a:r>
          </a:p>
        </p:txBody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21E2B9A6-8D96-4C78-BF66-E2793A29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736592"/>
            <a:ext cx="640080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5156FB7D-4CD1-4387-8111-3568A249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4901183"/>
            <a:ext cx="11155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B19AC324-BE06-4F64-B4FB-9F71D2979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4864607"/>
            <a:ext cx="22402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MBTI-type matching · VARK labels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1C3BD6B5-62B4-4AFE-9FF0-A681B3D3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5632" y="4882896"/>
            <a:ext cx="239572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Unstable types / weak evidence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76033C12-C454-4D9E-A09B-BD6D4827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742432"/>
            <a:ext cx="6400800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066E2CB-F045-4C77-9E43-CA74A3C9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870448"/>
            <a:ext cx="59436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The current 30-item instrument is research-informed—but has never been validated.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EB87F13A-8D9A-4F7F-9085-3C337EAD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Holland (1997); O*NET Interest Profiler Manual; FutureMe methodology</a:t>
            </a:r>
          </a:p>
        </p:txBody>
      </p:sp>
    </p:spTree>
    <p:extLst>
      <p:ext uri="{BB962C8B-B14F-4D97-AF65-F5344CB8AC3E}">
        <p14:creationId xmlns:p14="http://schemas.microsoft.com/office/powerpoint/2010/main" val="9648038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c7e23c182e49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89C6FDD-9A2C-4203-9DED-28EDD12C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DESIGN PRINCIPLES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81187B-6324-4338-91F1-8665B4EC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Five product rules follow directly from the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49579C8-5416-40B1-A71F-D4E12339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Research is useful only when it changes what the product does.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537C0D-39FE-444A-8506-7D3AB940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bb62cb639f49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7E5D977-3090-4F4F-B426-8E71D533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0DD489A-6B2C-43B6-A77F-D70E0DC5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0992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BB9862-0D9C-4937-B89F-47EC68E7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645920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Interests still move in adolescence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17A2C23-BAE1-49F7-BE4D-73A62E1F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160020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638DE58-60C5-470B-9CAE-4024E8EB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645920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Offer hypotheses—not a verdict; keep routes reversible</a:t>
            </a:r>
          </a:p>
        </p:txBody>
      </p:sp>
      <p:sp>
        <p:nvSpPr>
          <p:cNvPr id="13" name="Connector 12">
            <a:extLst xmlns:a="http://schemas.openxmlformats.org/drawingml/2006/main">
              <a:ext uri="{FF2B5EF4-FFF2-40B4-BE49-F238E27FC236}">
                <a16:creationId xmlns:a16="http://schemas.microsoft.com/office/drawing/2014/main" id="{CDA8ECF6-74F5-4109-8FDC-CA1BB8550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7984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F628711-5F52-452E-A5E4-989F0C0B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117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4FA2D0BC-6652-4905-B043-3E70BE41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487168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Self-report is only one signal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E627A18-2B3D-4663-80B0-A6E3AE15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4414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07A2EB2-85BB-419E-BF32-39B056CC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487168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Add a scenario mission that can agree or disagree</a:t>
            </a:r>
          </a:p>
        </p:txBody>
      </p:sp>
      <p:sp>
        <p:nvSpPr>
          <p:cNvPr id="18" name="Connector 17">
            <a:extLst xmlns:a="http://schemas.openxmlformats.org/drawingml/2006/main">
              <a:ext uri="{FF2B5EF4-FFF2-40B4-BE49-F238E27FC236}">
                <a16:creationId xmlns:a16="http://schemas.microsoft.com/office/drawing/2014/main" id="{9F37A3B6-386F-49A1-BB66-1617F930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9232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2AB6734-6F54-4A7F-9737-3295222E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242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92EFD4D-324D-4BD6-9B73-B312F062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328416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AI recommendations can become opaque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15B6E15-B919-401A-A04C-5086DCEC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2826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DBE87511-D0E2-4DDE-B8BF-3448855C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328416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Rules decide; show evidence, unknowns and contradictions</a:t>
            </a:r>
          </a:p>
        </p:txBody>
      </p:sp>
      <p:sp>
        <p:nvSpPr>
          <p:cNvPr id="23" name="Connector 22">
            <a:extLst xmlns:a="http://schemas.openxmlformats.org/drawingml/2006/main">
              <a:ext uri="{FF2B5EF4-FFF2-40B4-BE49-F238E27FC236}">
                <a16:creationId xmlns:a16="http://schemas.microsoft.com/office/drawing/2014/main" id="{CB1506A3-9231-4ADB-BB33-555C85DC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FAE33BC-33E1-4AC2-B353-BDC2C95F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367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A3B8CC2-3FFC-4871-8817-C5D0A46D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4169664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Admissions and labour data expire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995A75AB-7EA6-4317-B0DD-7D38A3C5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123944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3B97EC7-5A0F-427F-861B-794B97B3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4169664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Carry source, scope, last-checked date and freshness</a:t>
            </a:r>
          </a:p>
        </p:txBody>
      </p:sp>
      <p:sp>
        <p:nvSpPr>
          <p:cNvPr id="28" name="Connector 27">
            <a:extLst xmlns:a="http://schemas.openxmlformats.org/drawingml/2006/main">
              <a:ext uri="{FF2B5EF4-FFF2-40B4-BE49-F238E27FC236}">
                <a16:creationId xmlns:a16="http://schemas.microsoft.com/office/drawing/2014/main" id="{EC578CB5-B8B0-4519-B3CA-69320518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1728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9CF4122-64DC-4BE2-A6D8-980E2B10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492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4E1EB88F-9F48-4F83-A365-318DA5CC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010912"/>
            <a:ext cx="3703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users are minors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57CE04B-40BB-4919-BA44-541164D2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9651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B397C59-6E6B-4DD5-BA48-A08DB0FF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5010912"/>
            <a:ext cx="54132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Guest-first, browser-local; consent before saving or sharing</a:t>
            </a:r>
          </a:p>
        </p:txBody>
      </p:sp>
      <p:sp>
        <p:nvSpPr>
          <p:cNvPr id="33" name="Connector 32">
            <a:extLst xmlns:a="http://schemas.openxmlformats.org/drawingml/2006/main">
              <a:ext uri="{FF2B5EF4-FFF2-40B4-BE49-F238E27FC236}">
                <a16:creationId xmlns:a16="http://schemas.microsoft.com/office/drawing/2014/main" id="{9E565685-8B13-4E76-980F-FF836E8A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2976"/>
            <a:ext cx="1037844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53F07664-330F-49C7-B24E-A1C2CA09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88736"/>
            <a:ext cx="9235440" cy="42062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80490AA-BC7A-4F13-BB0C-7CC525DC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768" y="5998464"/>
            <a:ext cx="87782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Private by default · Evidence before confidence · One useful next action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8E996052-25A4-41FA-8746-E688317B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Source audit, RAG data spec, interview research, privacy design</a:t>
            </a:r>
          </a:p>
        </p:txBody>
      </p:sp>
    </p:spTree>
    <p:extLst>
      <p:ext uri="{BB962C8B-B14F-4D97-AF65-F5344CB8AC3E}">
        <p14:creationId xmlns:p14="http://schemas.microsoft.com/office/powerpoint/2010/main" val="200923433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c53b383f543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2CCB9F0-CC35-461F-9AC4-EC72A424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E2982D3-60F6-4228-9267-172CFC57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FutureMe turns reflection into a low-stakes experiment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058B563-8D1C-46AA-A2A8-3D36DD7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experience accumulates evidence instead of manufacturing certainty.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B55B428-5EA8-441C-8FBE-B6723702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75432bd30f45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13D66D-AF37-4E2F-A492-BC6A5D9B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Oval 8">
            <a:extLst xmlns:a="http://schemas.openxmlformats.org/drawingml/2006/main">
              <a:ext uri="{FF2B5EF4-FFF2-40B4-BE49-F238E27FC236}">
                <a16:creationId xmlns:a16="http://schemas.microsoft.com/office/drawing/2014/main" id="{28D7F2CB-A8B1-421B-91DF-1BC53DCF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AFFF6BE-DF20-401D-9EA8-2F05E9EE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8969E4-D42B-4E51-8398-0BB00A34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E65981E-E2B7-437E-AC14-E1C416F2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30-item
interest profile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3E3B2CE-FFA3-47F4-8292-5B52AC1A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4618A8CE-6D07-44B0-94A8-F040A082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8C5B16F-67DF-47CF-A59F-00D5062A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05738F-B344-404E-A411-94727658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00126B8-52D8-478A-97EA-06990194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scenario
mission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7326722-6234-4327-B031-B266207F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9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Oval 18">
            <a:extLst xmlns:a="http://schemas.openxmlformats.org/drawingml/2006/main">
              <a:ext uri="{FF2B5EF4-FFF2-40B4-BE49-F238E27FC236}">
                <a16:creationId xmlns:a16="http://schemas.microsoft.com/office/drawing/2014/main" id="{16F47F7A-5198-4B08-9D22-611B322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5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F526B16-539E-4D57-8B6F-A481FFC5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8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EA594BC-BD43-4DE4-8EBF-CB9FB57E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F9131C-F060-4974-9404-F8A74294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 routes
with reasons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5B8141-1D64-482F-97A7-75750AAE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8C10264D-F0A7-420B-87FE-1E0754BF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F7D56538-E473-4C63-BB04-A8FA9801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CA355283-AB5B-42C8-B42A-43ECF9C6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0E70D7B-3063-44D9-95C9-C242B715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 · trade-offs
unknowns · sources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9C26CD-ED5D-4251-B17C-8399136C1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199339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ACABCB58-752F-4E31-989E-950872EC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828800"/>
            <a:ext cx="603504" cy="60350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0F152B1-4495-4FFD-912D-BD377BE1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0736" y="190195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C5858320-1496-4724-8443-19B19E82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2670048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4F3FCF78-6E43-4544-B46D-F42E0D2B9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5792" y="3035808"/>
            <a:ext cx="182880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reversible
30-day plan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2B13D1F5-BBD8-4F51-AE5F-29AA67B6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7984" y="4572000"/>
            <a:ext cx="786384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1B0952B8-3F97-464C-84F0-44992F76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7132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EVIDENCE — NOT CERTAINTY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437DCC3D-6C4F-4A4E-B42D-4C9C4618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38928"/>
            <a:ext cx="7132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2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learner can revise answers, override the mission, compare routes or stop.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AF598D7-6282-497A-A024-62A812E6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FutureMe guest journey</a:t>
            </a:r>
          </a:p>
        </p:txBody>
      </p:sp>
    </p:spTree>
    <p:extLst>
      <p:ext uri="{BB962C8B-B14F-4D97-AF65-F5344CB8AC3E}">
        <p14:creationId xmlns:p14="http://schemas.microsoft.com/office/powerpoint/2010/main" val="17146970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f0239ad7947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CB0C72D-1D1E-43E1-85F3-55CFE9A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USER JOURNEY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24FF3ED-46AD-4327-9A4A-9881A7651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Each step gives the learner control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2248883-847C-49E4-8FE3-E6D68D99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output at every stage is provisional, inspectable and editable.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89ACD3C-9581-4FB4-B531-0AE3C8AB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45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b3fd75e91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05704DF-BB8A-4C09-A659-CF654C2B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71022CC-1F46-477C-A726-FE875961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4872"/>
            <a:ext cx="97840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90BF08A2-0989-41CA-9C46-F58EF8CD3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09D3EF2-D670-4EB9-9A1F-25B76EEA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D9E103E-BACF-4FDF-ABE4-E7F32E64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activities
draw me?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164617E9-7245-4AA1-9FC3-8556B3A2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D35BCFB-C029-477B-BF3A-EED19CDF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Provisional
RIASEC vector</a:t>
            </a:r>
          </a:p>
        </p:txBody>
      </p:sp>
      <p:sp>
        <p:nvSpPr>
          <p:cNvPr id="15" name="Oval 14">
            <a:extLst xmlns:a="http://schemas.openxmlformats.org/drawingml/2006/main">
              <a:ext uri="{FF2B5EF4-FFF2-40B4-BE49-F238E27FC236}">
                <a16:creationId xmlns:a16="http://schemas.microsoft.com/office/drawing/2014/main" id="{B48C1640-CC5E-4971-90E2-75B89527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CED2E23-4BFB-4FEB-BBC9-9E231526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BD8CF35-F5A4-496E-B82E-FE6AA79C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Does action
agree?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243B1F9-CBE4-4FAE-B22F-B9EA3297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E61D737-992B-445C-94C6-F737DE38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Mission can
corroborate or contradict</a:t>
            </a:r>
          </a:p>
        </p:txBody>
      </p:sp>
      <p:sp>
        <p:nvSpPr>
          <p:cNvPr id="20" name="Oval 19">
            <a:extLst xmlns:a="http://schemas.openxmlformats.org/drawingml/2006/main">
              <a:ext uri="{FF2B5EF4-FFF2-40B4-BE49-F238E27FC236}">
                <a16:creationId xmlns:a16="http://schemas.microsoft.com/office/drawing/2014/main" id="{F2ED63DF-9600-462B-928B-67180BA6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A44B03D-D828-4A9C-9ED1-49AF4A43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A034D9B-9918-47AA-A917-57217E22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explore now?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73D0A154-A3AB-4083-A7AE-3765D8E1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324F51AB-1903-46EC-B7C6-985932DB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Tier gate · evidence ·
0–3 routes</a:t>
            </a:r>
          </a:p>
        </p:txBody>
      </p:sp>
      <p:sp>
        <p:nvSpPr>
          <p:cNvPr id="25" name="Oval 24">
            <a:extLst xmlns:a="http://schemas.openxmlformats.org/drawingml/2006/main">
              <a:ext uri="{FF2B5EF4-FFF2-40B4-BE49-F238E27FC236}">
                <a16:creationId xmlns:a16="http://schemas.microsoft.com/office/drawing/2014/main" id="{F208D718-2A63-47EB-961F-FD57AD932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5008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262BE4C-2BA5-486D-93D9-222DF445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59FF4422-8776-4A4C-AF45-F717B603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Why these
options?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757158C8-9655-415C-B3A5-C911D735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16824931-486F-4CE9-812A-52046A1E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· evidence ·
unknowns · sources</a:t>
            </a:r>
          </a:p>
        </p:txBody>
      </p:sp>
      <p:sp>
        <p:nvSpPr>
          <p:cNvPr id="30" name="Oval 29">
            <a:extLst xmlns:a="http://schemas.openxmlformats.org/drawingml/2006/main">
              <a:ext uri="{FF2B5EF4-FFF2-40B4-BE49-F238E27FC236}">
                <a16:creationId xmlns:a16="http://schemas.microsoft.com/office/drawing/2014/main" id="{112B471A-945C-4E82-A9E0-4942AA2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2057400"/>
            <a:ext cx="694944" cy="69494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6BE64AA1-E958-49C6-954B-4517EDF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213055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05431A3-63EB-4B4E-B3C7-BED94C47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2999232"/>
            <a:ext cx="193852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What can I
test next?</a:t>
            </a: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55F29243-EE71-4242-AE83-4F018D91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3950208"/>
            <a:ext cx="1938528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73EDF3-9095-4213-B88A-0E54E0AB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5" y="4114800"/>
            <a:ext cx="17190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reversible
experiment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1509ECC3-53C7-4602-85B7-188A42D6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257800"/>
            <a:ext cx="10058400" cy="6035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938CC0E-7D3F-473C-8E92-4FA3FBE8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449824"/>
            <a:ext cx="9646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CONTROL LOOP  ·  change answers  ·  choose another mission  ·  compare again  ·  keep, park or drop a route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489A740-A8FC-4B28-984E-981DE14F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implemented UX flow and session behavior</a:t>
            </a:r>
          </a:p>
        </p:txBody>
      </p:sp>
    </p:spTree>
    <p:extLst>
      <p:ext uri="{BB962C8B-B14F-4D97-AF65-F5344CB8AC3E}">
        <p14:creationId xmlns:p14="http://schemas.microsoft.com/office/powerpoint/2010/main" val="199416852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22e49ba804f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B8192C7-4E13-4E47-B22C-5163DD1A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ARCHITECTURE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6EBA611-2187-478E-AF86-62D3E83F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AI supports the conversation—not the decision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664AF74-6477-4DCD-92AC-48F50B3D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Current capabilities and future architecture are deliberately separated.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43D91F-C785-427A-BE65-7AB0B79F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pic>
        <p:nvPicPr>
          <p:cNvPr id="51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55d12d62d48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EF1899-8AE8-4608-9F89-75779B93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BF43AC3-E7B8-4BC5-9BCE-E56484DC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27048"/>
            <a:ext cx="1874519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A03513F-D452-472E-B151-A491D959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" y="1540763"/>
            <a:ext cx="17830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TODAY · IMPLEMENTED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52361AE-0D54-4EF7-9FBF-09B396FA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048256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874D20C-E301-4DDF-BC43-989D2282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85416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Learner input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CAE558-8BC7-4C53-A17D-8274ABA2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2743200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2BD0C0A-2770-47D3-9920-F768C213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27248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798655-7771-4ED7-99D1-071B09BC7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64408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Deterministic
TypeScript rules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3AE588C-042A-4B5C-9331-9EA1C65D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3822191"/>
            <a:ext cx="4754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34B03B7-4294-4D45-B137-F0E514C2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206240"/>
            <a:ext cx="33832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A46F234-17E5-4B33-B3C2-49FC4002B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43400"/>
            <a:ext cx="3108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0–3 routes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E8AB83-3EAA-456A-A42C-49B42113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230368"/>
            <a:ext cx="2816352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C13B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4E63E9F7-8A87-4CAB-8EE5-5832E08E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296" y="5376672"/>
            <a:ext cx="2560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Optional LLM: bounded chat + rewording
Off by default · no assessment answers</a:t>
            </a:r>
          </a:p>
        </p:txBody>
      </p:sp>
      <p:sp>
        <p:nvSpPr>
          <p:cNvPr id="21" name="Connector 20">
            <a:extLst xmlns:a="http://schemas.openxmlformats.org/drawingml/2006/main">
              <a:ext uri="{FF2B5EF4-FFF2-40B4-BE49-F238E27FC236}">
                <a16:creationId xmlns:a16="http://schemas.microsoft.com/office/drawing/2014/main" id="{AF4E036B-98DF-4870-ADA6-822D3FA5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536192"/>
            <a:ext cx="0" cy="445312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994C2696-B8CF-457C-9300-43F92304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527048"/>
            <a:ext cx="1700784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AAA8AE0-92F9-4AF2-8D76-CD8CB9F9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7" y="1540763"/>
            <a:ext cx="16093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FUTURE · PLANNED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5B94EAB-81AB-41E9-8724-C38A2C86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45D43BFA-4212-4656-8F26-1AB791F6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231343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Adaptive Thai conversation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873B7E51-65C3-44F2-9E85-472C12785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52B8B69-4905-42DA-9B68-A94EF7DE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74D8F542-7F54-4D3C-8F98-2365F262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231343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Structured profile extraction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4BF91092-F670-4C39-8F62-70BA0BAB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239572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3EB92AC3-F42A-4641-BB8A-E1768171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14884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D0E675E5-F971-4B3A-9810-0637031FD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231343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Rule engine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E7B44A99-F5FC-4BAA-9723-4BBD9697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554717B0-B003-449B-AB28-703B790C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Audited RAG retrieval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45E04A30-0DA1-4F47-AF8F-3BAFC6DB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340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C16E10FC-6957-405D-9A92-33C44BEE1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300B8BD4-289D-46B8-B5BF-F9C5DBA3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Evidence-grounded explanation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7D25D997-CAA5-459C-8B8A-7C9141BF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4041648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28A1A777-9DD9-4D42-A4A9-9F19DD7C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794760"/>
            <a:ext cx="164592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E3EC573D-C36B-4FEF-ACFE-1F6137B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7" y="3959352"/>
            <a:ext cx="1426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Interactive roadmap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A5B15737-F4E9-4458-BD10-52592E54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168" y="3035808"/>
            <a:ext cx="47548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566C80E9-4761-4272-B19F-90404C89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5257800"/>
            <a:ext cx="5513832" cy="6217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E0B5D5A-6339-4A13-B101-7FA8ED47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468112"/>
            <a:ext cx="5029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Rules decide. </a:t>
            </a:r>
            <a:r>
              <a:rPr sz="16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Retrieval grounds. </a:t>
            </a:r>
            <a:r>
              <a:rPr sz="16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AI explains.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061F5372-C0A1-4A2B-A73B-D98E21A8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current code + planned RAG architecture; Qdrant/AIS/NDLP are 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08199036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a03e0cdf947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E8253BE-E97F-4ED9-A780-9C592139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RECOMMENDATION LOGIC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57114A7-6EDD-461C-A6CB-658B2997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Recommendation logic is explicit and auditable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B7171AE-B909-4AD3-A363-1A3E4ED72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Same answers, same routes. The model cannot change the decision.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B8B5008-6E77-4226-9DCD-BD18E4D7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pic>
        <p:nvPicPr>
          <p:cNvPr id="5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817d208e34f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70A02A5-D71D-452C-A4D2-47A50A08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48DC8BC-CE1B-40E1-BF7B-CD1CBAAE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F6128D8-9370-43E4-B4C7-3545B445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 items
+ context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ADCF652-D3C6-4EC6-B9BE-59B3F8F2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C60A928-4DC3-4CC2-A092-4E237AE1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2032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D56EA2D-F04D-4F48-A0DB-BB9445FB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RIASEC
vector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1674597-3846-48F3-A045-4E56CB409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E27C7F0-283C-4BAA-8330-6609C0D9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AD2F88D-36EE-41E9-A554-D964B8F1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712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Mission
vector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A5ACDC6-9450-4323-A40C-87A61A2B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0448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4A0DBBB8-365A-4358-AD99-B486487B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EE59103-7D66-4B05-9953-3FE6812C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Tier
gate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1DF7BC-C53F-437E-9773-E0BBB4CF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67E3B69-96CD-4B76-9258-28956EAB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A0AACED-9E63-4390-9C5A-76F1B7D8B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3-criterion
matrix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795F5F5-6675-4409-8CAD-A5711212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7504" y="1920240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4134D42E-5DA9-43B6-A362-1531DC22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144" y="1664208"/>
            <a:ext cx="13258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8DE75019-9963-4586-BDD8-7DBCE03C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9296" y="1847088"/>
            <a:ext cx="117957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0–3
routes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3960845-6F85-4297-8D12-07F98B178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8648"/>
            <a:ext cx="5394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SCORED SIGNALS + UNVERIFIED PROMPTS · BLOCKS NOT TO SCALE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8855CA9F-9BEC-4B05-B945-79FE220D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994" y="3291840"/>
            <a:ext cx="3204401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F38A34B4-563D-4D8C-8E06-7CD00197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3447288"/>
            <a:ext cx="318759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Interests 50%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97A330E-8238-48CE-A101-49D9711C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6495" y="3291840"/>
            <a:ext cx="266395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9ECABE8E-B04E-4621-9F00-D74DD28D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838" y="3447288"/>
            <a:ext cx="26471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Mission evidence 30%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86029721-8DFD-4E71-BF5C-A3B89368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8546" y="3291840"/>
            <a:ext cx="2123504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5C4AFD3-5F3A-4728-9A5F-E442DA81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6890" y="3447288"/>
            <a:ext cx="210677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Learning env. 20%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0CF94AB0-0E25-4D35-9F8C-C0BC93CE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91840"/>
            <a:ext cx="158315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28EDADE6-6DEB-4908-B6CA-06019242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8532" y="3447288"/>
            <a:ext cx="156636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01015"/>
                </a:solidFill>
                <a:latin typeface="Aptos"/>
                <a:ea typeface="Aptos"/>
                <a:cs typeface="Aptos"/>
              </a:rPr>
              <a:t>Practical prompts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1DE761F7-D686-48B7-B682-7A96B8DB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400" y="3291840"/>
            <a:ext cx="1042702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C833ECE1-24D8-40FE-B8E0-99991F8B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763" y="3447288"/>
            <a:ext cx="102595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69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Not scored</a:t>
            </a: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59A0DA84-EA15-4239-A100-E489332F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95C8651E-F97B-41E9-8BBA-61B18534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23 / 30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AF2F9851-08D6-4287-B9CD-5EC7C073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minimum items answered</a:t>
            </a: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56A79353-EA5E-4971-BD8D-A0EE4EB4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14702D3D-22FD-442B-94FD-FF01584CD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FLAT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8831E0AA-BB9A-4AD8-96B1-54F31C63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profile → no route</a:t>
            </a:r>
          </a:p>
        </p:txBody>
      </p:sp>
      <p:sp>
        <p:nvSpPr>
          <p:cNvPr id="43" name="Rounded Rectangle 42">
            <a:extLst xmlns:a="http://schemas.openxmlformats.org/drawingml/2006/main">
              <a:ext uri="{FF2B5EF4-FFF2-40B4-BE49-F238E27FC236}">
                <a16:creationId xmlns:a16="http://schemas.microsoft.com/office/drawing/2014/main" id="{671168F5-5298-4285-B073-EAD2318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4" name="TextBox 43">
            <a:extLst xmlns:a="http://schemas.openxmlformats.org/drawingml/2006/main">
              <a:ext uri="{FF2B5EF4-FFF2-40B4-BE49-F238E27FC236}">
                <a16:creationId xmlns:a16="http://schemas.microsoft.com/office/drawing/2014/main" id="{1257B6AF-52FD-4433-B4C8-8C80F838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WEAK</a:t>
            </a: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F637C46-D9B6-4D3B-999F-EF93095CF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all evidence insufficient → no route</a:t>
            </a:r>
          </a:p>
        </p:txBody>
      </p:sp>
      <p:sp>
        <p:nvSpPr>
          <p:cNvPr id="46" name="Rounded Rectangle 45">
            <a:extLst xmlns:a="http://schemas.openxmlformats.org/drawingml/2006/main">
              <a:ext uri="{FF2B5EF4-FFF2-40B4-BE49-F238E27FC236}">
                <a16:creationId xmlns:a16="http://schemas.microsoft.com/office/drawing/2014/main" id="{AD2DDB31-3847-4391-BA40-EB479452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370832"/>
            <a:ext cx="2450592" cy="10241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DA276F00-4B98-4736-87D3-3F2199D3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544568"/>
            <a:ext cx="215798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TIES</a:t>
            </a: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07171A41-84E2-4475-8ECD-4D4C28EB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901184"/>
            <a:ext cx="21579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shown, not falsely ranked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F50F8588-4CC8-4D02-A5FD-BE1BB89A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815584"/>
            <a:ext cx="102412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Interest fit and learning-environment affinity both derive from the interview profile; mission evidence is the independent signal.</a:t>
            </a:r>
          </a:p>
        </p:txBody>
      </p:sp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217D1F40-4E9A-4BD0-9766-A4EC86CA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lib/decision-engine (current working prototype)</a:t>
            </a:r>
          </a:p>
        </p:txBody>
      </p:sp>
    </p:spTree>
    <p:extLst>
      <p:ext uri="{BB962C8B-B14F-4D97-AF65-F5344CB8AC3E}">
        <p14:creationId xmlns:p14="http://schemas.microsoft.com/office/powerpoint/2010/main" val="164271125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b0af9719c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BF4A75B-3DCB-4353-939A-BCFAFF5C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6C7DF09-8FB8-4D29-975B-21467999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A complete prototype already runs end to end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518DBF0-0DAD-4A57-9337-0453159B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These are screenshots from the implemented app—not concept mockups.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73DE039-354C-4F6E-AB2D-09A8EA4E0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pic>
        <p:nvPicPr>
          <p:cNvPr id="4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8a518bd7f240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27AD39A-2AEE-481E-A37C-0678EBF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19CF4D2-B372-4947-BE14-600AA926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1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b290f8ccff43fc"/>
          <a:srcRect xmlns:a="http://schemas.openxmlformats.org/drawingml/2006/main" l="11145" t="0" r="111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65836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C65C48-CBAB-4797-BB55-4FEDDD2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ACF71B1-6F8F-412C-AC54-5FC53973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1 · REFLECT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1A035A9-F39E-41B7-880E-35DA6863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One item at a time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E22AC9-45EE-4C5E-98E7-9D88ED6D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088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6" name="Picture 1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3d6e346cf4f64"/>
          <a:srcRect xmlns:a="http://schemas.openxmlformats.org/drawingml/2006/main" l="0" t="0" r="0" b="291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17880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C3CE57F-691A-4E9B-836F-A06FCB639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536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FE3FB30A-BC6D-498D-8249-E45D2190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 · EXPLORE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AA3E1A-BF42-4CC2-AB54-5D5B15B9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80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Several hypotheses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B5B9151-208A-47C0-9FEB-D312210A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7" y="1572768"/>
            <a:ext cx="3310128" cy="334670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61" name="Picture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505f1092a4668"/>
          <a:srcRect xmlns:a="http://schemas.openxmlformats.org/drawingml/2006/main" l="0" t="0" r="0" b="361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699248" y="1618488"/>
            <a:ext cx="3218688" cy="3255264"/>
          </a:xfrm>
          <a:prstGeom xmlns:a="http://schemas.openxmlformats.org/drawingml/2006/main" prst="rect">
            <a:avLst/>
          </a:prstGeom>
        </p:spPr>
      </p:pic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F34046E-57A8-4849-81F7-FB18027B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8975" y="1728216"/>
            <a:ext cx="1005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0B14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C9BBF8B-C14F-48C9-BDC0-BDE205E7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4696" y="1741932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5 · ACT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2683544-DB9B-45CA-9002-3B2030A2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9248" y="5001768"/>
            <a:ext cx="32186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979D82B1-3023-45BC-A361-83D74197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23560"/>
            <a:ext cx="16916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383A1205-0E7A-4285-A0E2-9B6EFEC8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5637276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TH / EN + THEMES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B7C92603-6EF3-4F30-9578-B73F0EE4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464" y="5623560"/>
            <a:ext cx="12801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D0693007-FF58-4DB4-AE47-1DC4CB91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184" y="5637276"/>
            <a:ext cx="11887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3 MISSIONS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C69B02A-4F8C-4A38-9F23-70B42C89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4216" y="5623560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EEBC9876-27D7-4D90-8A33-05831802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936" y="5637276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12 ILLUSTRATIVE ROUTES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7ED102C-C376-400F-B43D-EDFA3FC2E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5623560"/>
            <a:ext cx="150876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53701A1-81CB-4358-9EE1-A1A60F2F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5637276"/>
            <a:ext cx="141731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BROWSER-LOCAL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FFF62E32-A797-4A91-8852-E4395113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623560"/>
            <a:ext cx="114300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EFCB971-5861-4A20-BE9E-097DE3DE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5637276"/>
            <a:ext cx="1051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522 TESTS</a:t>
            </a:r>
          </a:p>
        </p:txBody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FB1E72F2-F7CF-4600-8BC3-EA158100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23560"/>
            <a:ext cx="96012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E71DD843-2A1D-44F2-8458-1A650BB5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5637276"/>
            <a:ext cx="868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94 E2E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12D0807A-1448-44B9-B1E1-7DDB1C83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6071616"/>
            <a:ext cx="6355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Route profiles and mission rubrics remain illustrative and unvalidated.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F753DAA9-6B66-49B2-90A5-646D3565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Verification rerun 11 Aug 2026: 522 Vitest tests + 94 Playwright journeys passed</a:t>
            </a:r>
          </a:p>
        </p:txBody>
      </p:sp>
    </p:spTree>
    <p:extLst>
      <p:ext uri="{BB962C8B-B14F-4D97-AF65-F5344CB8AC3E}">
        <p14:creationId xmlns:p14="http://schemas.microsoft.com/office/powerpoint/2010/main" val="107726149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039e167d245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4449E11-D5E3-4D51-A326-6EBDD086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VALUE PROPOSITION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687F618-CF96-4AAE-AB32-E1BDED28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The difference is what happens after the score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5C52AAD-21DA-4502-9B08-B6098DB4E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FutureMe changes a result into a testable next step.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E68CCE5-B7BD-488E-B1DE-0C2F1A5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pic>
        <p:nvPicPr>
          <p:cNvPr id="69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8cb872c6c40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5A71B87-2F7E-486B-B594-3C0D99C9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4392417-5AEC-4A39-8DD5-8A1DB68E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016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F829F58-DED2-4E3A-ACFC-164D4F48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TRADITIONAL CAREER TEST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FE9BF0A-D337-4EC6-AB9D-97F0F2DE1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2128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0736665-6DD8-40BE-9A5E-9170E64E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3591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Questionnaire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A214927-8F3B-40B0-8C6F-02ABF38A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7889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45CFF8-7A5F-48E3-A23C-73B01236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272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923B5C1-3F69-433A-BCD5-C78F5399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2735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Score / type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035035A-FFAF-4C82-AA38-A51298D5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7033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F79D62EB-C953-4200-A37F-A9C2FD8C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416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474B0AF-68BE-4170-8436-98CEA5D1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1879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list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37F460B-8A12-4BFC-8689-76321A2F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4617720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↓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6701BAA3-C39F-40CA-8D21-D5F0966B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956048"/>
            <a:ext cx="3429000" cy="56692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E3EABE6-FDD3-4F98-AE46-9E0EFAD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102352"/>
            <a:ext cx="30632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Stops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018E9A67-41AD-47E2-87C2-AD7FB483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1572768"/>
            <a:ext cx="214884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7D742E4-F3A7-4D47-A911-5DB0EAA9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59" y="1586484"/>
            <a:ext cx="2057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FUTUREME EVIDENCE LOOP</a:t>
            </a:r>
          </a:p>
        </p:txBody>
      </p:sp>
      <p:sp>
        <p:nvSpPr>
          <p:cNvPr id="24" name="Oval 23">
            <a:extLst xmlns:a="http://schemas.openxmlformats.org/drawingml/2006/main">
              <a:ext uri="{FF2B5EF4-FFF2-40B4-BE49-F238E27FC236}">
                <a16:creationId xmlns:a16="http://schemas.microsoft.com/office/drawing/2014/main" id="{7F4245B3-2EC1-45C6-A9D5-2AA277F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12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2E856E37-04C6-4ACD-97AC-701EDCFD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BC7272FB-5376-4AF9-A4D0-B34340350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Reflect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3E50539-6C4F-42A7-B688-F2849E1F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provisional signal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3CB9103-1D46-4611-9C20-C5A19578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9" name="Oval 28">
            <a:extLst xmlns:a="http://schemas.openxmlformats.org/drawingml/2006/main">
              <a:ext uri="{FF2B5EF4-FFF2-40B4-BE49-F238E27FC236}">
                <a16:creationId xmlns:a16="http://schemas.microsoft.com/office/drawing/2014/main" id="{C5F1DDD5-465F-4EF5-9FDD-3973F4B3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28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8A9E2E8-C32F-4220-BEB9-51276AB1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9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059AC679-0D73-4F41-A637-6889C526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Try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8804B56-5AAA-4F6D-9982-5FE593A3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independent evidence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C674124-641A-4527-8ACF-D843B055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4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4" name="Oval 33">
            <a:extLst xmlns:a="http://schemas.openxmlformats.org/drawingml/2006/main">
              <a:ext uri="{FF2B5EF4-FFF2-40B4-BE49-F238E27FC236}">
                <a16:creationId xmlns:a16="http://schemas.microsoft.com/office/drawing/2014/main" id="{DEB03B73-B6FA-42BC-A928-1547A9A6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3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66702AD5-B092-418E-B547-45403BE1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5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AFC789A4-BC72-4DC4-8554-B5EA397A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61014697-E0DB-4D26-BB33-B5F6E7AF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reasons + unknowns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C052167B-515D-471C-88D4-21EB57E6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39" name="Oval 38">
            <a:extLst xmlns:a="http://schemas.openxmlformats.org/drawingml/2006/main">
              <a:ext uri="{FF2B5EF4-FFF2-40B4-BE49-F238E27FC236}">
                <a16:creationId xmlns:a16="http://schemas.microsoft.com/office/drawing/2014/main" id="{D3EBE9EF-762D-4115-BC52-3882AF83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1C68E8AE-E6AF-4432-9E3C-B4149239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TextBox 40">
            <a:extLst xmlns:a="http://schemas.openxmlformats.org/drawingml/2006/main">
              <a:ext uri="{FF2B5EF4-FFF2-40B4-BE49-F238E27FC236}">
                <a16:creationId xmlns:a16="http://schemas.microsoft.com/office/drawing/2014/main" id="{942067F8-0AF5-4788-8F42-CF3207F4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E8F6D70-038B-4EB9-9C35-653B0898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evidence + trade-offs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E8DCA7E1-152F-4D9B-96C5-C326EEC1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0696" y="2368296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44" name="Oval 43">
            <a:extLst xmlns:a="http://schemas.openxmlformats.org/drawingml/2006/main">
              <a:ext uri="{FF2B5EF4-FFF2-40B4-BE49-F238E27FC236}">
                <a16:creationId xmlns:a16="http://schemas.microsoft.com/office/drawing/2014/main" id="{D7E9E549-0498-493C-AB30-6AA69A7B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7624" y="2267712"/>
            <a:ext cx="530352" cy="5303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D4AC7EB7-7F1A-4275-A433-35CCBC1E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776" y="2340864"/>
            <a:ext cx="384047" cy="3840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2F302F59-4CAE-4128-8865-A68BF7B5D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971800"/>
            <a:ext cx="117043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6B6B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7" name="TextBox 46">
            <a:extLst xmlns:a="http://schemas.openxmlformats.org/drawingml/2006/main">
              <a:ext uri="{FF2B5EF4-FFF2-40B4-BE49-F238E27FC236}">
                <a16:creationId xmlns:a16="http://schemas.microsoft.com/office/drawing/2014/main" id="{188E2A44-9F01-4D39-9D09-597E31B5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19" y="3310128"/>
            <a:ext cx="126187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30-day experiment</a:t>
            </a:r>
          </a:p>
        </p:txBody>
      </p:sp>
      <p:sp>
        <p:nvSpPr>
          <p:cNvPr id="48" name="Connector 47">
            <a:extLst xmlns:a="http://schemas.openxmlformats.org/drawingml/2006/main">
              <a:ext uri="{FF2B5EF4-FFF2-40B4-BE49-F238E27FC236}">
                <a16:creationId xmlns:a16="http://schemas.microsoft.com/office/drawing/2014/main" id="{48DD94BB-AD11-42A8-9EFE-1BACD8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5486400" y="3858768"/>
            <a:ext cx="5440680" cy="0"/>
          </a:xfrm>
          <a:prstGeom xmlns:a="http://schemas.openxmlformats.org/drawingml/2006/main" prst="line">
            <a:avLst/>
          </a:prstGeom>
          <a:ln xmlns:a="http://schemas.openxmlformats.org/drawingml/2006/main" w="20320">
            <a:solidFill>
              <a:srgbClr val="4FE3C1"/>
            </a:solidFill>
            <a:prstDash val="dash"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D532CC34-FEAF-45EF-8C5B-712638DF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13632"/>
            <a:ext cx="36576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4FE3C1"/>
                </a:solidFill>
                <a:latin typeface="Aptos"/>
                <a:ea typeface="Aptos"/>
                <a:cs typeface="Aptos"/>
              </a:rPr>
              <a:t>new evidence updates the next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37407FD3-DA7B-4E8D-BCAC-FB3F3269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645152"/>
            <a:ext cx="6419088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B414532A-2A95-40B8-B83B-39B92609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77B93DBB-2FF8-4781-AFA8-37249CF3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Refuses to guess</a:t>
            </a:r>
          </a:p>
        </p:txBody>
      </p:sp>
      <p:sp>
        <p:nvSpPr>
          <p:cNvPr id="53" name="TextBox 52">
            <a:extLst xmlns:a="http://schemas.openxmlformats.org/drawingml/2006/main">
              <a:ext uri="{FF2B5EF4-FFF2-40B4-BE49-F238E27FC236}">
                <a16:creationId xmlns:a16="http://schemas.microsoft.com/office/drawing/2014/main" id="{36206375-B74F-4747-82CA-D66A579C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47B8E97C-7F93-4203-83E9-A0F8B41C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Shows disagreement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45D454D6-985F-4B68-864E-23001141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TextBox 55">
            <a:extLst xmlns:a="http://schemas.openxmlformats.org/drawingml/2006/main">
              <a:ext uri="{FF2B5EF4-FFF2-40B4-BE49-F238E27FC236}">
                <a16:creationId xmlns:a16="http://schemas.microsoft.com/office/drawing/2014/main" id="{24CBB940-ACBC-4D3F-983D-155CA334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No manufactured winner</a:t>
            </a:r>
          </a:p>
        </p:txBody>
      </p:sp>
      <p:sp>
        <p:nvSpPr>
          <p:cNvPr id="57" name="TextBox 56">
            <a:extLst xmlns:a="http://schemas.openxmlformats.org/drawingml/2006/main">
              <a:ext uri="{FF2B5EF4-FFF2-40B4-BE49-F238E27FC236}">
                <a16:creationId xmlns:a16="http://schemas.microsoft.com/office/drawing/2014/main" id="{E7CF9E19-3767-496C-986A-09205D1C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8" name="TextBox 57">
            <a:extLst xmlns:a="http://schemas.openxmlformats.org/drawingml/2006/main">
              <a:ext uri="{FF2B5EF4-FFF2-40B4-BE49-F238E27FC236}">
                <a16:creationId xmlns:a16="http://schemas.microsoft.com/office/drawing/2014/main" id="{1E5775CE-D580-467D-9597-AE37FAAEC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Sources + freshness</a:t>
            </a:r>
          </a:p>
        </p:txBody>
      </p:sp>
      <p:sp>
        <p:nvSpPr>
          <p:cNvPr id="59" name="TextBox 58">
            <a:extLst xmlns:a="http://schemas.openxmlformats.org/drawingml/2006/main">
              <a:ext uri="{FF2B5EF4-FFF2-40B4-BE49-F238E27FC236}">
                <a16:creationId xmlns:a16="http://schemas.microsoft.com/office/drawing/2014/main" id="{EBF76A5E-5D96-4908-8231-635B90CF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5560" y="4846320"/>
            <a:ext cx="32918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60" name="TextBox 59">
            <a:extLst xmlns:a="http://schemas.openxmlformats.org/drawingml/2006/main">
              <a:ext uri="{FF2B5EF4-FFF2-40B4-BE49-F238E27FC236}">
                <a16:creationId xmlns:a16="http://schemas.microsoft.com/office/drawing/2014/main" id="{8D92A2E8-75E5-4373-AA13-999D1B87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5175504"/>
            <a:ext cx="102412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8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Vocational routes are first-class</a:t>
            </a:r>
          </a:p>
        </p:txBody>
      </p:sp>
      <p:sp>
        <p:nvSpPr>
          <p:cNvPr id="61" name="TextBox 60">
            <a:extLst xmlns:a="http://schemas.openxmlformats.org/drawingml/2006/main">
              <a:ext uri="{FF2B5EF4-FFF2-40B4-BE49-F238E27FC236}">
                <a16:creationId xmlns:a16="http://schemas.microsoft.com/office/drawing/2014/main" id="{631DE6FA-90C0-483A-91D8-09C91191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Source: product design and implemented behavior</a:t>
            </a:r>
          </a:p>
        </p:txBody>
      </p:sp>
    </p:spTree>
    <p:extLst>
      <p:ext uri="{BB962C8B-B14F-4D97-AF65-F5344CB8AC3E}">
        <p14:creationId xmlns:p14="http://schemas.microsoft.com/office/powerpoint/2010/main" val="71696207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d61ea958d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229EA7-F193-4454-945D-E55F3876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666B6D2-4E10-4512-83DE-6EB0261F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 is the next product—not a footnote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7A9F338-2DC8-42DA-BDBC-0FD27DAC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 analysis pipeline is verified. The instrument is not.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F21AD5-A066-4CCA-8FA2-ABEBE613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63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4f27fa8e2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861C85-7888-4A3A-889F-8C41AC08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80F92236-1076-4AF2-9059-85E39C3A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3703320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42C81A9-1FF8-4366-BE11-0E97F694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46504"/>
            <a:ext cx="33467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PIPELINE VERIFIED</a:t>
            </a:r>
            <a:r>
              <a:rPr sz="1500" b="1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  ≠  </a:t>
            </a:r>
            <a:r>
              <a:rPr sz="150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INSTRUMENT VALIDATED</a:t>
            </a:r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F46792DB-7A05-4DD8-8184-5ED3F6DD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414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3C50571-1FB3-46CD-AF74-45DC9D26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25146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49EB181-3CEE-4DBB-A3EB-B099C35FF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4597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Ethics gate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FE3E4A0D-DC01-4CDE-93EC-102C07A4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24597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Approval · parent consent · student assent · PDPA</a:t>
            </a:r>
          </a:p>
        </p:txBody>
      </p:sp>
      <p:sp>
        <p:nvSpPr>
          <p:cNvPr id="15" name="Connector 14">
            <a:extLst xmlns:a="http://schemas.openxmlformats.org/drawingml/2006/main">
              <a:ext uri="{FF2B5EF4-FFF2-40B4-BE49-F238E27FC236}">
                <a16:creationId xmlns:a16="http://schemas.microsoft.com/office/drawing/2014/main" id="{BB8297C5-553C-450B-8A40-757AFA65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898648"/>
            <a:ext cx="0" cy="201167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Oval 15">
            <a:extLst xmlns:a="http://schemas.openxmlformats.org/drawingml/2006/main">
              <a:ext uri="{FF2B5EF4-FFF2-40B4-BE49-F238E27FC236}">
                <a16:creationId xmlns:a16="http://schemas.microsoft.com/office/drawing/2014/main" id="{BD5B5F3D-F868-4F51-BC8F-A7FBBF70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358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532937-DF63-4771-91C2-F689D6C25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10896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B6F1F7A-5863-4C4E-9594-8265B118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05409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Cognitive debrief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8E64445-79E7-466A-B586-27400659E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05409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n ≈ 30–40 · meaning and translation</a:t>
            </a:r>
          </a:p>
        </p:txBody>
      </p:sp>
      <p:sp>
        <p:nvSpPr>
          <p:cNvPr id="20" name="Connector 19">
            <a:extLst xmlns:a="http://schemas.openxmlformats.org/drawingml/2006/main">
              <a:ext uri="{FF2B5EF4-FFF2-40B4-BE49-F238E27FC236}">
                <a16:creationId xmlns:a16="http://schemas.microsoft.com/office/drawing/2014/main" id="{23A82DC0-EB39-4A6E-B518-BCAEBAD6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49300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1" name="Oval 20">
            <a:extLst xmlns:a="http://schemas.openxmlformats.org/drawingml/2006/main">
              <a:ext uri="{FF2B5EF4-FFF2-40B4-BE49-F238E27FC236}">
                <a16:creationId xmlns:a16="http://schemas.microsoft.com/office/drawing/2014/main" id="{69DA7D3D-6C93-4513-966B-2FE289207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63016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66D1A9F-CDD8-433E-B9C6-D3235B89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0332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B5187F6-8908-4B55-88BF-D831AA5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64845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CD198B9-14C5-4A1B-9DDE-8F51E3A5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364845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target n = 250 · minimum 200</a:t>
            </a:r>
          </a:p>
        </p:txBody>
      </p:sp>
      <p:sp>
        <p:nvSpPr>
          <p:cNvPr id="25" name="Connector 24">
            <a:extLst xmlns:a="http://schemas.openxmlformats.org/drawingml/2006/main">
              <a:ext uri="{FF2B5EF4-FFF2-40B4-BE49-F238E27FC236}">
                <a16:creationId xmlns:a16="http://schemas.microsoft.com/office/drawing/2014/main" id="{FBAE9FA2-A031-43BF-B100-CE9BCFF4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8736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8DFA72DB-A769-44E4-89D5-FF694B8C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2452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87440E6C-1635-4D49-8748-4A56BBE03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29768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31229BE-BDF8-4155-A3D5-895B09B0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24281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Measurement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6EF42F3A-BD1D-4EF7-9C79-662AABBA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24281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α + ω · item-total · “not sure” rate</a:t>
            </a:r>
          </a:p>
        </p:txBody>
      </p:sp>
      <p:sp>
        <p:nvSpPr>
          <p:cNvPr id="30" name="Connector 29">
            <a:extLst xmlns:a="http://schemas.openxmlformats.org/drawingml/2006/main">
              <a:ext uri="{FF2B5EF4-FFF2-40B4-BE49-F238E27FC236}">
                <a16:creationId xmlns:a16="http://schemas.microsoft.com/office/drawing/2014/main" id="{313BB7B9-F566-476C-A683-D4520AF6F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8172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1" name="Oval 30">
            <a:extLst xmlns:a="http://schemas.openxmlformats.org/drawingml/2006/main">
              <a:ext uri="{FF2B5EF4-FFF2-40B4-BE49-F238E27FC236}">
                <a16:creationId xmlns:a16="http://schemas.microsoft.com/office/drawing/2014/main" id="{B860DCEA-46EA-4319-8CAF-70440C81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1888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DDFB1862-D5E6-48A8-8D71-609DC526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89204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83D423CA-47C2-4DB1-AC25-513B4397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83717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399B3B6F-EA1C-40D9-9406-2CD102A6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483717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RIASEC circular-order randomisation test</a:t>
            </a:r>
          </a:p>
        </p:txBody>
      </p:sp>
      <p:sp>
        <p:nvSpPr>
          <p:cNvPr id="35" name="Connector 34">
            <a:extLst xmlns:a="http://schemas.openxmlformats.org/drawingml/2006/main">
              <a:ext uri="{FF2B5EF4-FFF2-40B4-BE49-F238E27FC236}">
                <a16:creationId xmlns:a16="http://schemas.microsoft.com/office/drawing/2014/main" id="{C061CC99-232C-4207-A272-DE6DFAAD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276088"/>
            <a:ext cx="0" cy="201168"/>
          </a:xfrm>
          <a:prstGeom xmlns:a="http://schemas.openxmlformats.org/drawingml/2006/main" prst="line">
            <a:avLst/>
          </a:prstGeom>
          <a:ln xmlns:a="http://schemas.openxmlformats.org/drawingml/2006/main" w="1651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Oval 35">
            <a:extLst xmlns:a="http://schemas.openxmlformats.org/drawingml/2006/main">
              <a:ext uri="{FF2B5EF4-FFF2-40B4-BE49-F238E27FC236}">
                <a16:creationId xmlns:a16="http://schemas.microsoft.com/office/drawing/2014/main" id="{FBF1DB71-B59E-466B-946A-DE369A81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41324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46C8E5FF-D396-4BA3-A5BE-C1BF9A18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5486400"/>
            <a:ext cx="31089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264D03FB-36E0-41A0-80CA-570184E1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431536"/>
            <a:ext cx="201168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Revise + re-pilot</a:t>
            </a:r>
          </a:p>
        </p:txBody>
      </p:sp>
      <p:sp>
        <p:nvSpPr>
          <p:cNvPr id="39" name="TextBox 38">
            <a:extLst xmlns:a="http://schemas.openxmlformats.org/drawingml/2006/main">
              <a:ext uri="{FF2B5EF4-FFF2-40B4-BE49-F238E27FC236}">
                <a16:creationId xmlns:a16="http://schemas.microsoft.com/office/drawing/2014/main" id="{DCA6BD3A-4147-4788-96E8-FCF6DD4E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5431536"/>
            <a:ext cx="2880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7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then invariance and outcome studies</a:t>
            </a:r>
          </a:p>
        </p:txBody>
      </p:sp>
      <p:sp>
        <p:nvSpPr>
          <p:cNvPr id="40" name="TextBox 39">
            <a:extLst xmlns:a="http://schemas.openxmlformats.org/drawingml/2006/main">
              <a:ext uri="{FF2B5EF4-FFF2-40B4-BE49-F238E27FC236}">
                <a16:creationId xmlns:a16="http://schemas.microsoft.com/office/drawing/2014/main" id="{E22B358C-E4CC-4AEC-8D3C-931F8D17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1627632"/>
            <a:ext cx="4023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PROPOSED SUCCESS MEASURES</a:t>
            </a: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AFF02292-C0D7-4915-A396-844E27876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084831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4D48E405-907D-4960-A906-919ECA877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31136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ASSESSMENT</a:t>
            </a:r>
          </a:p>
        </p:txBody>
      </p:sp>
      <p:sp>
        <p:nvSpPr>
          <p:cNvPr id="43" name="TextBox 42">
            <a:extLst xmlns:a="http://schemas.openxmlformats.org/drawingml/2006/main">
              <a:ext uri="{FF2B5EF4-FFF2-40B4-BE49-F238E27FC236}">
                <a16:creationId xmlns:a16="http://schemas.microsoft.com/office/drawing/2014/main" id="{81119A90-415F-44EA-AB8C-D9E9E82F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2221991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Reliability · item quality · construct structure</a:t>
            </a:r>
          </a:p>
        </p:txBody>
      </p:sp>
      <p:sp>
        <p:nvSpPr>
          <p:cNvPr id="44" name="Rounded Rectangle 43">
            <a:extLst xmlns:a="http://schemas.openxmlformats.org/drawingml/2006/main">
              <a:ext uri="{FF2B5EF4-FFF2-40B4-BE49-F238E27FC236}">
                <a16:creationId xmlns:a16="http://schemas.microsoft.com/office/drawing/2014/main" id="{13810C71-CC1C-46B4-8890-90AB750C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017520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5" name="TextBox 44">
            <a:extLst xmlns:a="http://schemas.openxmlformats.org/drawingml/2006/main">
              <a:ext uri="{FF2B5EF4-FFF2-40B4-BE49-F238E27FC236}">
                <a16:creationId xmlns:a16="http://schemas.microsoft.com/office/drawing/2014/main" id="{AC511071-0605-4F69-B6E5-2DB0F93E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163824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ROUTES</a:t>
            </a:r>
          </a:p>
        </p:txBody>
      </p:sp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EE932AB5-0C07-47FA-9534-3D2DA326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154679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Relevance · counsellor agreement · diversity</a:t>
            </a:r>
          </a:p>
        </p:txBody>
      </p:sp>
      <p:sp>
        <p:nvSpPr>
          <p:cNvPr id="47" name="Rounded Rectangle 46">
            <a:extLst xmlns:a="http://schemas.openxmlformats.org/drawingml/2006/main">
              <a:ext uri="{FF2B5EF4-FFF2-40B4-BE49-F238E27FC236}">
                <a16:creationId xmlns:a16="http://schemas.microsoft.com/office/drawing/2014/main" id="{536F9E96-86D7-40ED-81A8-1A2ED1EB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950208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8" name="TextBox 47">
            <a:extLst xmlns:a="http://schemas.openxmlformats.org/drawingml/2006/main">
              <a:ext uri="{FF2B5EF4-FFF2-40B4-BE49-F238E27FC236}">
                <a16:creationId xmlns:a16="http://schemas.microsoft.com/office/drawing/2014/main" id="{81762467-5F7C-4A35-AB64-957A760A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4096512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EXPERIENCE</a:t>
            </a:r>
          </a:p>
        </p:txBody>
      </p:sp>
      <p:sp>
        <p:nvSpPr>
          <p:cNvPr id="49" name="TextBox 48">
            <a:extLst xmlns:a="http://schemas.openxmlformats.org/drawingml/2006/main">
              <a:ext uri="{FF2B5EF4-FFF2-40B4-BE49-F238E27FC236}">
                <a16:creationId xmlns:a16="http://schemas.microsoft.com/office/drawing/2014/main" id="{5BDC60F4-B8AD-4432-9260-F4B2B4692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4087368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Completion · comprehension · route exploration</a:t>
            </a:r>
          </a:p>
        </p:txBody>
      </p:sp>
      <p:sp>
        <p:nvSpPr>
          <p:cNvPr id="50" name="Rounded Rectangle 49">
            <a:extLst xmlns:a="http://schemas.openxmlformats.org/drawingml/2006/main">
              <a:ext uri="{FF2B5EF4-FFF2-40B4-BE49-F238E27FC236}">
                <a16:creationId xmlns:a16="http://schemas.microsoft.com/office/drawing/2014/main" id="{609DCF93-D269-4395-9A1F-C28635E0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882896"/>
            <a:ext cx="4343400" cy="7680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71724"/>
          </a:solidFill>
          <a:ln xmlns:a="http://schemas.openxmlformats.org/drawingml/2006/main" w="12700">
            <a:solidFill>
              <a:srgbClr val="3434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1" name="TextBox 50">
            <a:extLst xmlns:a="http://schemas.openxmlformats.org/drawingml/2006/main">
              <a:ext uri="{FF2B5EF4-FFF2-40B4-BE49-F238E27FC236}">
                <a16:creationId xmlns:a16="http://schemas.microsoft.com/office/drawing/2014/main" id="{26B7B12B-B2DB-4DE6-A065-075F5150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29200"/>
            <a:ext cx="9601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LONG-TERM</a:t>
            </a:r>
          </a:p>
        </p:txBody>
      </p:sp>
      <p:sp>
        <p:nvSpPr>
          <p:cNvPr id="52" name="TextBox 51">
            <a:extLst xmlns:a="http://schemas.openxmlformats.org/drawingml/2006/main">
              <a:ext uri="{FF2B5EF4-FFF2-40B4-BE49-F238E27FC236}">
                <a16:creationId xmlns:a16="http://schemas.microsoft.com/office/drawing/2014/main" id="{9EE4E4C1-77E4-4922-9B91-328EAC6D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5020056"/>
            <a:ext cx="281635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Can the student still explain and defend the choice?</a:t>
            </a:r>
          </a:p>
        </p:txBody>
      </p:sp>
      <p:sp>
        <p:nvSpPr>
          <p:cNvPr id="53" name="Rounded Rectangle 52">
            <a:extLst xmlns:a="http://schemas.openxmlformats.org/drawingml/2006/main">
              <a:ext uri="{FF2B5EF4-FFF2-40B4-BE49-F238E27FC236}">
                <a16:creationId xmlns:a16="http://schemas.microsoft.com/office/drawing/2014/main" id="{405B38FC-C713-44DB-89F4-89FBD347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907024"/>
            <a:ext cx="434340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FFD37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8B60F882-CCFE-4918-AFBA-8ADF8320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07608"/>
            <a:ext cx="397763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No reliability, norms or validity results exist yet.</a:t>
            </a:r>
          </a:p>
        </p:txBody>
      </p:sp>
      <p:sp>
        <p:nvSpPr>
          <p:cNvPr id="55" name="TextBox 54">
            <a:extLst xmlns:a="http://schemas.openxmlformats.org/drawingml/2006/main">
              <a:ext uri="{FF2B5EF4-FFF2-40B4-BE49-F238E27FC236}">
                <a16:creationId xmlns:a16="http://schemas.microsoft.com/office/drawing/2014/main" id="{B514AC48-82BD-4F07-BAB6-E964EC0F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Sources: FutureMe validation plan + pre-registered pilot protocol (30 Jul 2026)</a:t>
            </a:r>
          </a:p>
        </p:txBody>
      </p:sp>
    </p:spTree>
    <p:extLst>
      <p:ext uri="{BB962C8B-B14F-4D97-AF65-F5344CB8AC3E}">
        <p14:creationId xmlns:p14="http://schemas.microsoft.com/office/powerpoint/2010/main" val="204513232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b40ac53a34a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715BD9-BB62-49D2-84E6-57C9EF75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10896"/>
            <a:ext cx="41148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12F8634-B947-43CC-B0AB-84FEBA0F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1792"/>
            <a:ext cx="1097280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From runnable demo to trusted decision support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C906F5B-0BF2-411E-8F35-8BF58A74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24712"/>
            <a:ext cx="10881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Every phase has a gate; partnerships stay exploratory until something is signed.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66B2B97-D80F-40AF-BDF4-CA062930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9960" y="32918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pic>
        <p:nvPicPr>
          <p:cNvPr id="44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5bcb0d6e74a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6601968"/>
            <a:ext cx="1325880" cy="32004"/>
          </a:xfrm>
          <a:prstGeom xmlns:a="http://schemas.openxmlformats.org/drawingml/2006/main" prst="rect">
            <a:avLst/>
          </a:prstGeom>
        </p:spPr>
      </p:pic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F3BE1D-CABB-43C9-9C3B-0EBE61B6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6473952"/>
            <a:ext cx="47548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FutureMe AI · Project case study · July 2026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16D2E42D-2EE1-41A3-8325-2E190614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11680"/>
            <a:ext cx="8412480" cy="0"/>
          </a:xfrm>
          <a:prstGeom xmlns:a="http://schemas.openxmlformats.org/drawingml/2006/main" prst="line">
            <a:avLst/>
          </a:prstGeom>
          <a:ln xmlns:a="http://schemas.openxmlformats.org/drawingml/2006/main" w="25400">
            <a:solidFill>
              <a:srgbClr val="34344A"/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8DD1E6C3-0ADB-4BDE-A8F0-42432F29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663BFA5-EA7B-425E-96CD-343628B3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797E6DE-9131-4FE3-AFA8-5DF107E3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Foundation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3BFAD7-5D7A-40C9-B1DC-2843B4CE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4" name="Oval 13">
            <a:extLst xmlns:a="http://schemas.openxmlformats.org/drawingml/2006/main">
              <a:ext uri="{FF2B5EF4-FFF2-40B4-BE49-F238E27FC236}">
                <a16:creationId xmlns:a16="http://schemas.microsoft.com/office/drawing/2014/main" id="{72D8D310-16C4-4F64-8BAA-5CA54259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E3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87F499E-3D75-44DB-A2B2-8AECB81D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2BE57EF-0636-4437-A7CF-EB09161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888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Runnable
prototype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B254FBE-545E-41DC-A2B2-C68D7903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DONE</a:t>
            </a:r>
          </a:p>
        </p:txBody>
      </p:sp>
      <p:sp>
        <p:nvSpPr>
          <p:cNvPr id="18" name="Oval 17">
            <a:extLst xmlns:a="http://schemas.openxmlformats.org/drawingml/2006/main">
              <a:ext uri="{FF2B5EF4-FFF2-40B4-BE49-F238E27FC236}">
                <a16:creationId xmlns:a16="http://schemas.microsoft.com/office/drawing/2014/main" id="{0C4727ED-1E22-4700-A88F-6C6CBA9B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37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0FF0F34-1B0D-4D07-B13D-0E322F91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7070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5A78263-6853-4DCB-B90A-A81BBC2C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7E7D3D8-2748-4867-9270-AB4F6621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NOW · NEXT</a:t>
            </a:r>
          </a:p>
        </p:txBody>
      </p:sp>
      <p:sp>
        <p:nvSpPr>
          <p:cNvPr id="22" name="Oval 21">
            <a:extLst xmlns:a="http://schemas.openxmlformats.org/drawingml/2006/main">
              <a:ext uri="{FF2B5EF4-FFF2-40B4-BE49-F238E27FC236}">
                <a16:creationId xmlns:a16="http://schemas.microsoft.com/office/drawing/2014/main" id="{68EEAB52-B2F5-4A4E-9AB3-A59E1B6E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13BF0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05F7FDC-768B-4DFB-B865-DD738AFB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75161A7-67B3-4F2E-8A64-091DAEC9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School pilot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11FCEB3F-BD5B-4A5E-BE01-C067D41F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C13BF0"/>
                </a:solidFill>
                <a:latin typeface="Aptos"/>
                <a:ea typeface="Aptos"/>
                <a:cs typeface="Aptos"/>
              </a:rPr>
              <a:t>PLANNED</a:t>
            </a:r>
          </a:p>
        </p:txBody>
      </p:sp>
      <p:sp>
        <p:nvSpPr>
          <p:cNvPr id="26" name="Oval 25">
            <a:extLst xmlns:a="http://schemas.openxmlformats.org/drawingml/2006/main">
              <a:ext uri="{FF2B5EF4-FFF2-40B4-BE49-F238E27FC236}">
                <a16:creationId xmlns:a16="http://schemas.microsoft.com/office/drawing/2014/main" id="{55599CDD-A39F-4702-9449-6F5DCF36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581912"/>
            <a:ext cx="859536" cy="85953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46C09C0B-57A9-4DD3-80CC-180062F4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655064"/>
            <a:ext cx="713231" cy="71323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5791E086-454B-4837-AF7D-6D5ACBBB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606040"/>
            <a:ext cx="16002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Aptos"/>
                <a:ea typeface="Aptos"/>
                <a:cs typeface="Aptos"/>
              </a:rPr>
              <a:t>Ecosystem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709E653-F4F1-482E-B4A0-9E0973EF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5468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 b="1" i="0">
                <a:solidFill>
                  <a:srgbClr val="6D5EF6"/>
                </a:solidFill>
                <a:latin typeface="Aptos"/>
                <a:ea typeface="Aptos"/>
                <a:cs typeface="Aptos"/>
              </a:rPr>
              <a:t>EXPLORATORY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A9201E0-6351-4863-8F51-BD96F4A0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675887"/>
            <a:ext cx="102412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FFD37A"/>
                </a:solidFill>
                <a:latin typeface="Aptos"/>
                <a:ea typeface="Aptos"/>
                <a:cs typeface="Aptos"/>
              </a:rPr>
              <a:t>Phase 3: adapt Thai translation · validate instrument + missions · licensed route data · bias + safety audit</a:t>
            </a:r>
          </a:p>
        </p:txBody>
      </p:sp>
      <p:sp>
        <p:nvSpPr>
          <p:cNvPr id="31" name="Rounded Rectangle 30">
            <a:extLst xmlns:a="http://schemas.openxmlformats.org/drawingml/2006/main">
              <a:ext uri="{FF2B5EF4-FFF2-40B4-BE49-F238E27FC236}">
                <a16:creationId xmlns:a16="http://schemas.microsoft.com/office/drawing/2014/main" id="{EBAE79EC-EBA4-4EB7-893D-A4746918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251960"/>
            <a:ext cx="5230368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02033"/>
          </a:solidFill>
          <a:ln xmlns:a="http://schemas.openxmlformats.org/drawingml/2006/main" w="12700">
            <a:solidFill>
              <a:srgbClr val="4FE3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4761EC1-3FF3-4817-B14F-2ECA2070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48056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0" i="0">
                <a:solidFill>
                  <a:srgbClr val="A8A8BE"/>
                </a:solidFill>
                <a:latin typeface="Aptos"/>
                <a:ea typeface="Aptos"/>
                <a:cs typeface="Aptos"/>
              </a:rPr>
              <a:t>Career test  →  </a:t>
            </a:r>
            <a:r>
              <a:rPr sz="15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AI career discovery companion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4E4B77E1-8ECA-4CCC-969C-91068E8F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084064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F5F5FA"/>
                </a:solidFill>
                <a:latin typeface="Sukhumvit Set"/>
                <a:ea typeface="Sukhumvit Set"/>
                <a:cs typeface="Sukhumvit Set"/>
              </a:rPr>
              <a:t>ช่วยให้เด็กเข้าใจตัวเอง ทดลองทางเลือก และตัดสินใจด้วยเหตุผลที่อธิบายได้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582CB4AA-0372-49E1-BDE2-EEE0BFC7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42816"/>
            <a:ext cx="36576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4FE3C1"/>
                </a:solidFill>
                <a:latin typeface="Aptos"/>
                <a:ea typeface="Aptos"/>
                <a:cs typeface="Aptos"/>
              </a:rPr>
              <a:t>SELECTED REFERENCES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3DACCD23-DE61-4A5F-BC74-EAF8BCDA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590288"/>
            <a:ext cx="5074920" cy="1536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[1] TDRI — การพัฒนาทุนมนุษย์ไทย (2025)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[2] NSO — Social Indicators 2025, p.185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[3] NESDC — ภาวะสังคมไทย Q2/2568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[4] OECD — PIAAC 2023 mismatch evidence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[5] WEF — Future of Jobs 2025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[6] Holland (1997) + O*NET Interest Profiler Manual</a:t>
            </a:r>
          </a:p>
          <a:p xmlns:a="http://schemas.openxmlformats.org/drawingml/2006/main">
            <a:pPr>
              <a:lnSpc>
                <a:spcPct val="105000"/>
              </a:lnSpc>
              <a:spcBef>
                <a:spcPts val="0"/>
              </a:spcBef>
              <a:spcAft>
                <a:spcPts val="250"/>
              </a:spcAft>
              <a:buNone/>
              <a:defRPr sz="950">
                <a:solidFill>
                  <a:srgbClr val="A8A8BE"/>
                </a:solidFill>
                <a:latin typeface="Aptos"/>
                <a:ea typeface="Aptos"/>
                <a:cs typeface="Aptos"/>
              </a:defRPr>
            </a:pPr>
            <a:r>
              <a:t>•  [7] FutureMe Source Audit, Methodology &amp; Pilot Protocol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DC69C690-118F-40E4-BF6D-B595695C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6419088"/>
            <a:ext cx="5193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80" b="0" i="0">
                <a:solidFill>
                  <a:srgbClr val="77778F"/>
                </a:solidFill>
                <a:latin typeface="Aptos"/>
                <a:ea typeface="Aptos"/>
                <a:cs typeface="Aptos"/>
              </a:rPr>
              <a:t>Full source registry: 01_Research/Data/REFERENCES.md</a:t>
            </a:r>
          </a:p>
        </p:txBody>
      </p:sp>
    </p:spTree>
    <p:extLst>
      <p:ext uri="{BB962C8B-B14F-4D97-AF65-F5344CB8AC3E}">
        <p14:creationId xmlns:p14="http://schemas.microsoft.com/office/powerpoint/2010/main" val="11201480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2026-08-11T07:57:23.0570000Z</dcterms:created>
  <dcterms:modified xsi:type="dcterms:W3CDTF">2026-08-11T07:57:23.0570000Z</dcterms:modified>
</coreProperties>
</file>