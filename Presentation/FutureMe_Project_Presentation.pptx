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17c99ab452427f" /><Relationship Type="http://schemas.openxmlformats.org/officeDocument/2006/relationships/extended-properties" Target="/docProps/app.xml" Id="R375b4e79bdee45a9" /><Relationship Type="http://schemas.openxmlformats.org/officeDocument/2006/relationships/officeDocument" Target="/ppt/presentation.xml" Id="R9fbbcf85c9a24b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94ddbbe93a4f5a"/>
  </p:sldMasterIdLst>
  <p:notesMasterIdLst>
    <p:notesMasterId xmlns:r="http://schemas.openxmlformats.org/officeDocument/2006/relationships" r:id="R8073e5e1d9cc4904"/>
  </p:notesMasterIdLst>
  <p:sldIdLst>
    <p:sldId xmlns:r="http://schemas.openxmlformats.org/officeDocument/2006/relationships" id="256" r:id="Rff8adb23ee2b4f63"/>
    <p:sldId xmlns:r="http://schemas.openxmlformats.org/officeDocument/2006/relationships" id="257" r:id="Rbf47c7534741407e"/>
    <p:sldId xmlns:r="http://schemas.openxmlformats.org/officeDocument/2006/relationships" id="258" r:id="R1f5bd94ec06c4aeb"/>
    <p:sldId xmlns:r="http://schemas.openxmlformats.org/officeDocument/2006/relationships" id="259" r:id="R76cf64df602e4bfd"/>
    <p:sldId xmlns:r="http://schemas.openxmlformats.org/officeDocument/2006/relationships" id="260" r:id="R2404a7faeefe4801"/>
    <p:sldId xmlns:r="http://schemas.openxmlformats.org/officeDocument/2006/relationships" id="261" r:id="Rf615e8877c854422"/>
    <p:sldId xmlns:r="http://schemas.openxmlformats.org/officeDocument/2006/relationships" id="262" r:id="R21f6784c81a0478a"/>
    <p:sldId xmlns:r="http://schemas.openxmlformats.org/officeDocument/2006/relationships" id="263" r:id="R9799b24dcebf4bfe"/>
    <p:sldId xmlns:r="http://schemas.openxmlformats.org/officeDocument/2006/relationships" id="264" r:id="R57bfba2ad1a54080"/>
    <p:sldId xmlns:r="http://schemas.openxmlformats.org/officeDocument/2006/relationships" id="265" r:id="Re459bddfd2974021"/>
    <p:sldId xmlns:r="http://schemas.openxmlformats.org/officeDocument/2006/relationships" id="266" r:id="R073d63f588754895"/>
    <p:sldId xmlns:r="http://schemas.openxmlformats.org/officeDocument/2006/relationships" id="267" r:id="Rc03cee49b4074ca2"/>
    <p:sldId xmlns:r="http://schemas.openxmlformats.org/officeDocument/2006/relationships" id="268" r:id="R572aa0e1d6e546f8"/>
    <p:sldId xmlns:r="http://schemas.openxmlformats.org/officeDocument/2006/relationships" id="269" r:id="R74fadf0998174441"/>
    <p:sldId xmlns:r="http://schemas.openxmlformats.org/officeDocument/2006/relationships" id="270" r:id="Rbb8be573a95843b4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0e789848e74216" /><Relationship Type="http://schemas.openxmlformats.org/officeDocument/2006/relationships/slideMaster" Target="/ppt/slideMasters/slideMaster1.xml" Id="R7094ddbbe93a4f5a" /><Relationship Type="http://schemas.openxmlformats.org/officeDocument/2006/relationships/notesMaster" Target="/ppt/notesMasters/notesMaster1.xml" Id="R8073e5e1d9cc4904" /><Relationship Type="http://schemas.openxmlformats.org/officeDocument/2006/relationships/presProps" Target="/ppt/presProps.xml" Id="R90ade29c63b34d0e" /><Relationship Type="http://schemas.openxmlformats.org/officeDocument/2006/relationships/viewProps" Target="/ppt/viewProps.xml" Id="R078b4f1856e447bf" /><Relationship Type="http://schemas.openxmlformats.org/officeDocument/2006/relationships/tableStyles" Target="/ppt/tableStyles.xml" Id="R2b54aeca87674ccb" /><Relationship Type="http://schemas.openxmlformats.org/officeDocument/2006/relationships/slide" Target="/ppt/slides/slide1.xml" Id="Rff8adb23ee2b4f63" /><Relationship Type="http://schemas.openxmlformats.org/officeDocument/2006/relationships/slide" Target="/ppt/slides/slide2.xml" Id="Rbf47c7534741407e" /><Relationship Type="http://schemas.openxmlformats.org/officeDocument/2006/relationships/slide" Target="/ppt/slides/slide3.xml" Id="R1f5bd94ec06c4aeb" /><Relationship Type="http://schemas.openxmlformats.org/officeDocument/2006/relationships/slide" Target="/ppt/slides/slide4.xml" Id="R76cf64df602e4bfd" /><Relationship Type="http://schemas.openxmlformats.org/officeDocument/2006/relationships/slide" Target="/ppt/slides/slide5.xml" Id="R2404a7faeefe4801" /><Relationship Type="http://schemas.openxmlformats.org/officeDocument/2006/relationships/slide" Target="/ppt/slides/slide6.xml" Id="Rf615e8877c854422" /><Relationship Type="http://schemas.openxmlformats.org/officeDocument/2006/relationships/slide" Target="/ppt/slides/slide7.xml" Id="R21f6784c81a0478a" /><Relationship Type="http://schemas.openxmlformats.org/officeDocument/2006/relationships/slide" Target="/ppt/slides/slide8.xml" Id="R9799b24dcebf4bfe" /><Relationship Type="http://schemas.openxmlformats.org/officeDocument/2006/relationships/slide" Target="/ppt/slides/slide9.xml" Id="R57bfba2ad1a54080" /><Relationship Type="http://schemas.openxmlformats.org/officeDocument/2006/relationships/slide" Target="/ppt/slides/slide10.xml" Id="Re459bddfd2974021" /><Relationship Type="http://schemas.openxmlformats.org/officeDocument/2006/relationships/slide" Target="/ppt/slides/slide11.xml" Id="R073d63f588754895" /><Relationship Type="http://schemas.openxmlformats.org/officeDocument/2006/relationships/slide" Target="/ppt/slides/slide12.xml" Id="Rc03cee49b4074ca2" /><Relationship Type="http://schemas.openxmlformats.org/officeDocument/2006/relationships/slide" Target="/ppt/slides/slide13.xml" Id="R572aa0e1d6e546f8" /><Relationship Type="http://schemas.openxmlformats.org/officeDocument/2006/relationships/slide" Target="/ppt/slides/slide14.xml" Id="R74fadf0998174441" /><Relationship Type="http://schemas.openxmlformats.org/officeDocument/2006/relationships/slide" Target="/ppt/slides/slide15.xml" Id="Rbb8be573a95843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350232526249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9059e700564503" /><Relationship Type="http://schemas.openxmlformats.org/officeDocument/2006/relationships/notesMaster" Target="/ppt/notesMasters/notesMaster1.xml" Id="Rb2f21e9f161d40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843c2e9b1d4a8f" /><Relationship Type="http://schemas.openxmlformats.org/officeDocument/2006/relationships/notesMaster" Target="/ppt/notesMasters/notesMaster1.xml" Id="Rc1ea6a1abb5c43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a03d3ab8094a22" /><Relationship Type="http://schemas.openxmlformats.org/officeDocument/2006/relationships/notesMaster" Target="/ppt/notesMasters/notesMaster1.xml" Id="Re924048e51da4a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0934712b014ab3" /><Relationship Type="http://schemas.openxmlformats.org/officeDocument/2006/relationships/notesMaster" Target="/ppt/notesMasters/notesMaster1.xml" Id="R21e33d7382a44e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b998fcfc2e405e" /><Relationship Type="http://schemas.openxmlformats.org/officeDocument/2006/relationships/notesMaster" Target="/ppt/notesMasters/notesMaster1.xml" Id="R561f812ee3384f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b7612d2a4f495f" /><Relationship Type="http://schemas.openxmlformats.org/officeDocument/2006/relationships/notesMaster" Target="/ppt/notesMasters/notesMaster1.xml" Id="R98a770930c2d4d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f6ca025f9641e3" /><Relationship Type="http://schemas.openxmlformats.org/officeDocument/2006/relationships/notesMaster" Target="/ppt/notesMasters/notesMaster1.xml" Id="Rbeaefee1b73647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142ef05f5348a8" /><Relationship Type="http://schemas.openxmlformats.org/officeDocument/2006/relationships/notesMaster" Target="/ppt/notesMasters/notesMaster1.xml" Id="R4dee902a1d2745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bb262f51f14674" /><Relationship Type="http://schemas.openxmlformats.org/officeDocument/2006/relationships/notesMaster" Target="/ppt/notesMasters/notesMaster1.xml" Id="R24a498b882184dc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a9ced5e3f54757" /><Relationship Type="http://schemas.openxmlformats.org/officeDocument/2006/relationships/notesMaster" Target="/ppt/notesMasters/notesMaster1.xml" Id="R1b9fc553d2cf48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dccab858d74e85" /><Relationship Type="http://schemas.openxmlformats.org/officeDocument/2006/relationships/notesMaster" Target="/ppt/notesMasters/notesMaster1.xml" Id="Rb476dbe8cb374cd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7355cf4c6049be" /><Relationship Type="http://schemas.openxmlformats.org/officeDocument/2006/relationships/notesMaster" Target="/ppt/notesMasters/notesMaster1.xml" Id="Re5cd47f5b9cc43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0a28d9726a43bb" /><Relationship Type="http://schemas.openxmlformats.org/officeDocument/2006/relationships/notesMaster" Target="/ppt/notesMasters/notesMaster1.xml" Id="Rc6a87cd58aa5416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70305d50a34d86" /><Relationship Type="http://schemas.openxmlformats.org/officeDocument/2006/relationships/notesMaster" Target="/ppt/notesMasters/notesMaster1.xml" Id="R8cc858e4ee3b4fc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336e06333b489c" /><Relationship Type="http://schemas.openxmlformats.org/officeDocument/2006/relationships/notesMaster" Target="/ppt/notesMasters/notesMaster1.xml" Id="Rcb5ee84a529841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FutureMe helps a learner choose the next experiment, not a permanent identity.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product boundary and status</a:t>
            </a:r>
          </a:p>
          <a:p xmlns:a="http://schemas.openxmlformats.org/drawingml/2006/main">
            <a:r>
              <a:t>- 03_WebApp/Pre_Present/READMEEN.md — implemented learner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choice-point examples are context, not evidence that FutureMe improves outcomes.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- 03_WebApp/Pre_Present/docs/02-research-and-evidence.md — Thai education and mismatch evidence</a:t>
            </a:r>
          </a:p>
          <a:p xmlns:a="http://schemas.openxmlformats.org/drawingml/2006/main">
            <a:r>
              <a:t>- 01_Research/Data/SOURCE_AUDIT.md — claim-status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combine the percentages causally; their scopes and denominators differ.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https://tdri.or.th/2025/09/thailand-human-capital-development/ — 56% and 27% public context</a:t>
            </a:r>
          </a:p>
          <a:p xmlns:a="http://schemas.openxmlformats.org/drawingml/2006/main">
            <a:r>
              <a:t>- https://www.weforum.org/publications/the-future-of-jobs-report-2025/in-full/3-skills-outlook/ — 39% core-skills outlook</a:t>
            </a:r>
          </a:p>
          <a:p xmlns:a="http://schemas.openxmlformats.org/drawingml/2006/main">
            <a:r>
              <a:t>- 01_Research/Data/SOURCE_AUDIT.md — interpretation limits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current demo-data flow. Unknown values remain unknown instead of being inferred.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- 01_Research/Geography_and_Access/README.md — pipeline, counts and limitations</a:t>
            </a:r>
          </a:p>
          <a:p xmlns:a="http://schemas.openxmlformats.org/drawingml/2006/main">
            <a:r>
              <a:t>- 01_Research/Geography_and_Access/PROVENANCE.json — dates, licences and full checksums</a:t>
            </a:r>
          </a:p>
          <a:p xmlns:a="http://schemas.openxmlformats.org/drawingml/2006/main">
            <a:r>
              <a:t>- 03_WebApp/Pre_Present/scripts/validate-research-data.mjs — integrity checks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route hypotheses are deliberately reversible.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- 03_WebApp/Pre_Present/docs/01-project-overview.md — product thesis</a:t>
            </a:r>
          </a:p>
          <a:p xmlns:a="http://schemas.openxmlformats.org/drawingml/2006/main">
            <a:r>
              <a:t>- 03_WebApp/Pre_Present/docs/03-user-experience.md — evidence-loop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RIASEC structures reflection; it does not make this project-specific instrument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- 03_WebApp/Pre_Present/docs/questionnaire-methodology.md — construct and item provenance</a:t>
            </a:r>
          </a:p>
          <a:p xmlns:a="http://schemas.openxmlformats.org/drawingml/2006/main">
            <a:r>
              <a:t>- 01_Research/Adaptive_Questionnaire/README.md — research-only adaptive 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rules are product principles derived from the source audit and safeguarding boundary.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- 03_WebApp/Pre_Present/docs/08-privacy-and-data.md — privacy boundary</a:t>
            </a:r>
          </a:p>
          <a:p xmlns:a="http://schemas.openxmlformats.org/drawingml/2006/main">
            <a:r>
              <a:t>- 03_WebApp/Pre_Present/docs/09-source-review.md — provenance and freshness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answer only changes order: all 30 live interest items are still asked and scoring is unchanged.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- 03_WebApp/Pre_Present/lib/adaptive-engine.ts — branch plan</a:t>
            </a:r>
          </a:p>
          <a:p xmlns:a="http://schemas.openxmlformats.org/drawingml/2006/main">
            <a:r>
              <a:t>- 03_WebApp/Pre_Present/tests/unit/adaptive-engine.test.ts — deterministic branch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learner can review answers, override a suggested mission, compare again and delete local state.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- 03_WebApp/Pre_Present/READMEEN.md — journey and control surfaces</a:t>
            </a:r>
          </a:p>
          <a:p xmlns:a="http://schemas.openxmlformats.org/drawingml/2006/main">
            <a:r>
              <a:t>- 03_WebApp/Pre_Present/e2e/journey.spec.ts — implemented browser journey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90-item and 1,000-item banks are future research inputs. Neither is imported by the live interview.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- 01_Research/Adaptive_Questionnaire/README.md — 90-item design boundary</a:t>
            </a:r>
          </a:p>
          <a:p xmlns:a="http://schemas.openxmlformats.org/drawingml/2006/main">
            <a:r>
              <a:t>- 03_WebApp/Pre_Present/data/question_bank_1000.json — restored research bank</a:t>
            </a:r>
          </a:p>
          <a:p xmlns:a="http://schemas.openxmlformats.org/drawingml/2006/main">
            <a:r>
              <a:t>- 03_WebApp/Pre_Present/scripts/validate-future-question-bank.mjs — structural validation</a:t>
            </a:r>
          </a:p>
          <a:p xmlns:a="http://schemas.openxmlformats.org/drawingml/2006/main">
            <a:r>
              <a:t>- 03_WebApp/Pre_Present/docs/05-system-architecture.md — current/planned architecture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Eligibility, scoring, refusal, ties and ordering are deterministic. The fixed weights are design judgement.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- 03_WebApp/Pre_Present/lib/decision-engine — current implementation</a:t>
            </a:r>
          </a:p>
          <a:p xmlns:a="http://schemas.openxmlformats.org/drawingml/2006/main">
            <a:r>
              <a:t>- 03_WebApp/Pre_Present/docs/04-ai-system.md — scoring and AI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Screenshots were captured from the current app and retained at their inherited crop and placement.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- 03_WebApp/Pre_Present/assets/screenshots/app/interview-2026-08-09.png — Reflect screen</a:t>
            </a:r>
          </a:p>
          <a:p xmlns:a="http://schemas.openxmlformats.org/drawingml/2006/main">
            <a:r>
              <a:t>- 03_WebApp/Pre_Present/assets/screenshots/app/routes-2026-08-09.png — Explore screen</a:t>
            </a:r>
          </a:p>
          <a:p xmlns:a="http://schemas.openxmlformats.org/drawingml/2006/main">
            <a:r>
              <a:t>- 03_WebApp/Pre_Present/assets/screenshots/app/plan-2026-08-09.png — Act screen</a:t>
            </a:r>
          </a:p>
          <a:p xmlns:a="http://schemas.openxmlformats.org/drawingml/2006/main">
            <a:r>
              <a:t>- npm test, 11 Aug 2026 — 26 files and 529 tests passed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FutureMe continues after the score by making evidence, uncertainty and a reversible action visible.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- 03_WebApp/Pre_Present/docs/03-user-experience.md — evidence-loop UX</a:t>
            </a:r>
          </a:p>
          <a:p xmlns:a="http://schemas.openxmlformats.org/drawingml/2006/main">
            <a:r>
              <a:t>- 03_WebApp/Pre_Present/READMEEN.md — implemented comparison and plan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Passing code and synthetic-pipeline checks does not establish reliability, validity, fairness or effectiveness.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- 03_WebApp/Pre_Present/docs/validation-plan.md — validation sequence</a:t>
            </a:r>
          </a:p>
          <a:p xmlns:a="http://schemas.openxmlformats.org/drawingml/2006/main">
            <a:r>
              <a:t>- 03_WebApp/Pre_Present/docs/pilot-protocol.md — proposed pilot gates</a:t>
            </a:r>
          </a:p>
          <a:p xmlns:a="http://schemas.openxmlformats.org/drawingml/2006/main">
            <a:r>
              <a:t>- 01_Research/Adaptive_Questionnaire/sim/README.md — limits of synthetic respondents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school, platform or cloud partnerships as confirmed until an agreement exists.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— current status and repository boundary</a:t>
            </a:r>
          </a:p>
          <a:p xmlns:a="http://schemas.openxmlformats.org/drawingml/2006/main">
            <a:r>
              <a:t>- 03_WebApp/Pre_Present/docs/07-roadmap.md — staged roadmap</a:t>
            </a:r>
          </a:p>
          <a:p xmlns:a="http://schemas.openxmlformats.org/drawingml/2006/main">
            <a:r>
              <a:t>- 01_Research/Data/REFERENCES.md — source registry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190b27b2b641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e49de757ef4d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b8584fbfa74e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b776372c3940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04d5655684456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2487073f44bb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e29e3a16546a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aeace9c99424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70b60e2a32460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463e4ee6c84db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a4307ab99f4af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A1FD4F-0BFD-4028-9CEB-42D8D58343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1E0904C-8C1A-4998-8ABA-0F7608381F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CDB9B4-72FE-4EAE-8C1E-E647C4180B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8E5FFB-3EE1-400C-9DB9-2C6C795C97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6F5D8B-F9B2-46D5-BCF1-C33ECA179F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F290E3-E8C2-40DF-A500-1290FAE5F9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0F3742-CA94-47DA-B452-21A167B3DC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6481E8-8DAD-4BD4-B3D9-B910B2BFD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4E159E-4170-4E65-91FB-CF2C89AF5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26F76A-F5EB-456F-934A-6AD686ABB9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6680E-D6D2-46E1-AD0F-112B285415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EEA071-AB5E-4C1A-A575-C955814544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A372C3-0879-4BFA-8203-C9B415BDE8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1518B1-483E-4894-A798-AC02C7DC08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BE2A63-A66A-4AF8-A071-D60F4448B0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F1A152-66AD-4A2F-B26E-17BF3DE67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7F0675-9D1B-4F1C-B54B-6EC1ED246F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1ACA41-531E-48DC-A7B1-C136E8F7B6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BB6AFE-7124-4E9F-83B2-886552CA0F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B6A440-C453-489E-908D-182DA79AD9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752848-785E-4AA4-94CC-093024D31C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4BFA9B-A8E4-43DB-9D9D-AF9D0BB9C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C6E93-7A51-4B5B-8D7B-4390B6DCF3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E9E00EB-A652-4752-965D-50097D71639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2C26D9F-73A7-4FD5-BBCB-46FFDB3124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F1BF8D-C1AC-4C36-9A79-5259BF495C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3A6DD1C-561B-4534-A191-7A7ACCC99D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AA1C573-0E4F-43A3-9EB4-D2EF4132AE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A3C751-D0A1-4706-A7B3-0F388DFA61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79F5E1-5E18-4F0A-8A94-A04EE1E641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14BE12-C9F6-4DC4-ACEA-0EB1F265C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27963A-2952-4F91-9C4C-F419537A38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1D1B3D-A828-456B-8A87-70E3328B1D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BE3AB63-AEB0-427A-8780-3CBA6487DB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8B35AD1-66AC-46EA-A96E-7786C3D345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556384-BFC8-4170-8A6C-E91C2A02A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C556D0-B4DF-4B47-8148-0DC348C06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C5D75B-59EA-4121-9E8A-592180CD2CD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CA9C4DF-CEC8-4741-BC46-53633DE52F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AA4E9-AE97-47C3-87FC-979FDAD951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751987-D5DD-4721-A3E0-D495DA73D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641BDA-2605-46C0-AF8B-3289D4FD11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235D6B-17B6-463C-A0E4-3E500E5782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8B8120F-64A2-4927-BDF6-4230D465338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6C266D-E7F8-400D-A819-77D030ADCB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7546F98-24A6-4AE4-81F2-558D525C97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561055-EEB1-44F9-915B-57315CD173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BFB132-D399-4FC0-9AF1-0BC32EC5B7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B73C91-DFCE-4691-89BB-7D73CA8EB0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1CCD1F-3D32-45FE-9A41-3C14CAD40F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E2586-FCD9-4B3F-875F-C4014161C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AE604B-7CC1-4669-80DA-AD5FE0E897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436AFF-FEDC-4DE8-B259-FA8B22CB92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10E9626-E7C3-4C83-B581-2B02DA85D3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2C5CEF-7230-4FB9-AB56-7A0B67CC92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0EB8E1-62B0-4A7B-B78D-D243F03600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D51CBF-708F-4BBE-963A-56089C800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E83D23-AB02-4683-B165-E9FF587218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8ae32aeab477f" /><Relationship Type="http://schemas.openxmlformats.org/officeDocument/2006/relationships/slideLayout" Target="/ppt/slideLayouts/slideLayout1.xml" Id="R94bf5650d3074799" /><Relationship Type="http://schemas.openxmlformats.org/officeDocument/2006/relationships/slideLayout" Target="/ppt/slideLayouts/slideLayout2.xml" Id="Rec2c95d0933e4c3b" /><Relationship Type="http://schemas.openxmlformats.org/officeDocument/2006/relationships/slideLayout" Target="/ppt/slideLayouts/slideLayout3.xml" Id="Rc023e9f76a1d47c3" /><Relationship Type="http://schemas.openxmlformats.org/officeDocument/2006/relationships/slideLayout" Target="/ppt/slideLayouts/slideLayout4.xml" Id="Rbe16bf8eb50448e0" /><Relationship Type="http://schemas.openxmlformats.org/officeDocument/2006/relationships/slideLayout" Target="/ppt/slideLayouts/slideLayout5.xml" Id="R8ebfa86cf7bf456a" /><Relationship Type="http://schemas.openxmlformats.org/officeDocument/2006/relationships/slideLayout" Target="/ppt/slideLayouts/slideLayout6.xml" Id="R0b7458e33865422a" /><Relationship Type="http://schemas.openxmlformats.org/officeDocument/2006/relationships/slideLayout" Target="/ppt/slideLayouts/slideLayout7.xml" Id="Rb7154f35fe4b430c" /><Relationship Type="http://schemas.openxmlformats.org/officeDocument/2006/relationships/slideLayout" Target="/ppt/slideLayouts/slideLayout8.xml" Id="R78d1d581111e4993" /><Relationship Type="http://schemas.openxmlformats.org/officeDocument/2006/relationships/slideLayout" Target="/ppt/slideLayouts/slideLayout9.xml" Id="Ref0675b363fb40cc" /><Relationship Type="http://schemas.openxmlformats.org/officeDocument/2006/relationships/slideLayout" Target="/ppt/slideLayouts/slideLayout10.xml" Id="Rd246e52a31454014" /><Relationship Type="http://schemas.openxmlformats.org/officeDocument/2006/relationships/slideLayout" Target="/ppt/slideLayouts/slideLayout11.xml" Id="Rdbfe202c2ac54a0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B39A5F4-7673-489A-9740-3F9FA28F4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CC9EDF-702B-48AC-B89A-D415E552C4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2020B-EC33-4D7E-8AA0-8CAB283830C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EA7E80-2074-4DF9-A19F-2F2EFD89D0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AC6F06-4FFE-4835-8A8E-E503D391DB6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bf5650d3074799"/>
    <p:sldLayoutId xmlns:r="http://schemas.openxmlformats.org/officeDocument/2006/relationships" id="2147483650" r:id="Rec2c95d0933e4c3b"/>
    <p:sldLayoutId xmlns:r="http://schemas.openxmlformats.org/officeDocument/2006/relationships" id="2147483651" r:id="Rc023e9f76a1d47c3"/>
    <p:sldLayoutId xmlns:r="http://schemas.openxmlformats.org/officeDocument/2006/relationships" id="2147483652" r:id="Rbe16bf8eb50448e0"/>
    <p:sldLayoutId xmlns:r="http://schemas.openxmlformats.org/officeDocument/2006/relationships" id="2147483653" r:id="R8ebfa86cf7bf456a"/>
    <p:sldLayoutId xmlns:r="http://schemas.openxmlformats.org/officeDocument/2006/relationships" id="2147483654" r:id="R0b7458e33865422a"/>
    <p:sldLayoutId xmlns:r="http://schemas.openxmlformats.org/officeDocument/2006/relationships" id="2147483655" r:id="Rb7154f35fe4b430c"/>
    <p:sldLayoutId xmlns:r="http://schemas.openxmlformats.org/officeDocument/2006/relationships" id="2147483656" r:id="R78d1d581111e4993"/>
    <p:sldLayoutId xmlns:r="http://schemas.openxmlformats.org/officeDocument/2006/relationships" id="2147483657" r:id="Ref0675b363fb40cc"/>
    <p:sldLayoutId xmlns:r="http://schemas.openxmlformats.org/officeDocument/2006/relationships" id="2147483658" r:id="Rd246e52a31454014"/>
    <p:sldLayoutId xmlns:r="http://schemas.openxmlformats.org/officeDocument/2006/relationships" id="2147483659" r:id="Rdbfe202c2ac54a0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b3a3b2a875246d0" /><Relationship Type="http://schemas.openxmlformats.org/officeDocument/2006/relationships/image" Target="/ppt/media/image.png" Id="Ra0c3ee52b3834d73" /><Relationship Type="http://schemas.openxmlformats.org/officeDocument/2006/relationships/notesSlide" Target="/ppt/notesSlides/notesSlide1.xml" Id="Rcb67d43649a646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2739d9b42445f1" /><Relationship Type="http://schemas.openxmlformats.org/officeDocument/2006/relationships/image" Target="/ppt/media/image2.png" Id="R95ff095bc2154875" /><Relationship Type="http://schemas.openxmlformats.org/officeDocument/2006/relationships/image" Target="/ppt/media/image3.png" Id="Rd6affd6591d748e6" /><Relationship Type="http://schemas.openxmlformats.org/officeDocument/2006/relationships/notesSlide" Target="/ppt/notesSlides/notesSlide2.xml" Id="Rb6824a15526241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f09cb3b6c64662" /><Relationship Type="http://schemas.openxmlformats.org/officeDocument/2006/relationships/image" Target="/ppt/media/image2.png" Id="R70037ce6ade24c8a" /><Relationship Type="http://schemas.openxmlformats.org/officeDocument/2006/relationships/image" Target="/ppt/media/image3.png" Id="R0e197ca1a8ca436e" /><Relationship Type="http://schemas.openxmlformats.org/officeDocument/2006/relationships/notesSlide" Target="/ppt/notesSlides/notesSlide3.xml" Id="Ra71528ca185d4a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8a7260fcf14ca2" /><Relationship Type="http://schemas.openxmlformats.org/officeDocument/2006/relationships/image" Target="/ppt/media/image2.png" Id="R0e44b6b0efde4738" /><Relationship Type="http://schemas.openxmlformats.org/officeDocument/2006/relationships/image" Target="/ppt/media/image3.png" Id="Rc2c92fd4024a47a0" /><Relationship Type="http://schemas.openxmlformats.org/officeDocument/2006/relationships/notesSlide" Target="/ppt/notesSlides/notesSlide4.xml" Id="Rf83c3c17d55a45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c832af99d74fad" /><Relationship Type="http://schemas.openxmlformats.org/officeDocument/2006/relationships/image" Target="/ppt/media/image2.png" Id="R0f29ee9d7fd44ae2" /><Relationship Type="http://schemas.openxmlformats.org/officeDocument/2006/relationships/image" Target="/ppt/media/image3.png" Id="R02a26cded7ac4c12" /><Relationship Type="http://schemas.openxmlformats.org/officeDocument/2006/relationships/notesSlide" Target="/ppt/notesSlides/notesSlide5.xml" Id="R269f7b560e2544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2896494b2a4b51" /><Relationship Type="http://schemas.openxmlformats.org/officeDocument/2006/relationships/image" Target="/ppt/media/image2.png" Id="R44d21ec7e4724530" /><Relationship Type="http://schemas.openxmlformats.org/officeDocument/2006/relationships/image" Target="/ppt/media/image3.png" Id="R1ba025fc02684670" /><Relationship Type="http://schemas.openxmlformats.org/officeDocument/2006/relationships/notesSlide" Target="/ppt/notesSlides/notesSlide6.xml" Id="Re0c28b6903af49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1c56d63ca34341" /><Relationship Type="http://schemas.openxmlformats.org/officeDocument/2006/relationships/image" Target="/ppt/media/image2.png" Id="R1305fed729d04c1f" /><Relationship Type="http://schemas.openxmlformats.org/officeDocument/2006/relationships/image" Target="/ppt/media/image3.png" Id="R5c2e5340f0e641bf" /><Relationship Type="http://schemas.openxmlformats.org/officeDocument/2006/relationships/notesSlide" Target="/ppt/notesSlides/notesSlide7.xml" Id="Rab174b556147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9054070f3e42a7" /><Relationship Type="http://schemas.openxmlformats.org/officeDocument/2006/relationships/image" Target="/ppt/media/image2.png" Id="R82b9b79fd1104694" /><Relationship Type="http://schemas.openxmlformats.org/officeDocument/2006/relationships/image" Target="/ppt/media/image3.png" Id="Rbcc86cf6082a4c31" /><Relationship Type="http://schemas.openxmlformats.org/officeDocument/2006/relationships/notesSlide" Target="/ppt/notesSlides/notesSlide8.xml" Id="Ra56246cc4eea48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c8119321514a90" /><Relationship Type="http://schemas.openxmlformats.org/officeDocument/2006/relationships/image" Target="/ppt/media/image2.png" Id="Ra2dcce338e7140d8" /><Relationship Type="http://schemas.openxmlformats.org/officeDocument/2006/relationships/image" Target="/ppt/media/image3.png" Id="R5204435e7950447a" /><Relationship Type="http://schemas.openxmlformats.org/officeDocument/2006/relationships/notesSlide" Target="/ppt/notesSlides/notesSlide9.xml" Id="Rcb09a9aaff7f44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bdf19466144f94" /><Relationship Type="http://schemas.openxmlformats.org/officeDocument/2006/relationships/image" Target="/ppt/media/image2.png" Id="R55ed13ab81fa40b6" /><Relationship Type="http://schemas.openxmlformats.org/officeDocument/2006/relationships/image" Target="/ppt/media/image3.png" Id="R2fe800335fc44cf2" /><Relationship Type="http://schemas.openxmlformats.org/officeDocument/2006/relationships/notesSlide" Target="/ppt/notesSlides/notesSlide10.xml" Id="R336e95eedb064c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6fae1c9ee44d85" /><Relationship Type="http://schemas.openxmlformats.org/officeDocument/2006/relationships/image" Target="/ppt/media/image2.png" Id="Re778bba3671f4321" /><Relationship Type="http://schemas.openxmlformats.org/officeDocument/2006/relationships/image" Target="/ppt/media/image3.png" Id="Rb2cb558f6ac348d3" /><Relationship Type="http://schemas.openxmlformats.org/officeDocument/2006/relationships/notesSlide" Target="/ppt/notesSlides/notesSlide11.xml" Id="Ra97bbb8bb29345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f449792ffe4e79" /><Relationship Type="http://schemas.openxmlformats.org/officeDocument/2006/relationships/image" Target="/ppt/media/image2.png" Id="R2dbbc139a1e64ae9" /><Relationship Type="http://schemas.openxmlformats.org/officeDocument/2006/relationships/image" Target="/ppt/media/image3.png" Id="Rebb65c8338444226" /><Relationship Type="http://schemas.openxmlformats.org/officeDocument/2006/relationships/image" Target="/ppt/media/image4.png" Id="R0655af96176a4e1c" /><Relationship Type="http://schemas.openxmlformats.org/officeDocument/2006/relationships/image" Target="/ppt/media/image5.png" Id="Rf7ac22d923e24cfd" /><Relationship Type="http://schemas.openxmlformats.org/officeDocument/2006/relationships/image" Target="/ppt/media/image6.png" Id="Rbccda1dc30364acc" /><Relationship Type="http://schemas.openxmlformats.org/officeDocument/2006/relationships/notesSlide" Target="/ppt/notesSlides/notesSlide12.xml" Id="R6b1847822b9140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786ff24df44d59" /><Relationship Type="http://schemas.openxmlformats.org/officeDocument/2006/relationships/image" Target="/ppt/media/image2.png" Id="Re99cbcb5ef964fac" /><Relationship Type="http://schemas.openxmlformats.org/officeDocument/2006/relationships/image" Target="/ppt/media/image3.png" Id="Rf7359f731b8e4952" /><Relationship Type="http://schemas.openxmlformats.org/officeDocument/2006/relationships/notesSlide" Target="/ppt/notesSlides/notesSlide13.xml" Id="R8d3b4250cdea4a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720727194e40fb" /><Relationship Type="http://schemas.openxmlformats.org/officeDocument/2006/relationships/image" Target="/ppt/media/image2.png" Id="Rf2a9eb0e30334672" /><Relationship Type="http://schemas.openxmlformats.org/officeDocument/2006/relationships/image" Target="/ppt/media/image3.png" Id="Re04257d5809d4426" /><Relationship Type="http://schemas.openxmlformats.org/officeDocument/2006/relationships/notesSlide" Target="/ppt/notesSlides/notesSlide14.xml" Id="Ra90be436cf8740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095f62615a45cf" /><Relationship Type="http://schemas.openxmlformats.org/officeDocument/2006/relationships/image" Target="/ppt/media/image2.png" Id="Rafcaea5393c64aff" /><Relationship Type="http://schemas.openxmlformats.org/officeDocument/2006/relationships/image" Target="/ppt/media/image3.png" Id="R3a86223977d84601" /><Relationship Type="http://schemas.openxmlformats.org/officeDocument/2006/relationships/notesSlide" Target="/ppt/notesSlides/notesSlide15.xml" Id="Rea81d58919e94f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3ee52b3834d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1989C7-3CC9-40B2-A7B0-819416B4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475488"/>
            <a:ext cx="5852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JUMP THAILAND HACKATHON 2026 · UPDATED PROJECT CASE STUDY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66D18A-2103-4C39-AD53-D25073C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78992"/>
            <a:ext cx="55778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AI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94F434-7D24-4E25-9374-E03F1BFC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5669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“I tried.”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B26401-B069-4857-886F-85273DDC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5669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F8B614-D327-4CC4-B320-EB6FD6F9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63240"/>
            <a:ext cx="5349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runnable decision-support prototype for Thai secondary and vocational students.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5758D38-9D25-4A85-8CCA-67E0285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2971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C62301-12D5-4F61-8BD7-AC2EA793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744468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RESEARCH-INFORMED · NOT VALIDATED GUIDANCE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1E51E5B-4EF7-4FCF-A032-BC9AB33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0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Explore the next step—not one final answer.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5186B4-FFF0-4E08-8B34-3528CC0C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062472"/>
            <a:ext cx="57607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Research · Data lineage · Product · Decision logic · Validation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4D60F7F-7CB8-4B98-BE71-71C50CD3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83464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7C3B88-99B5-4363-940C-140A9F0C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90779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ME
NOW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D55A4CD5-1AAF-4991-B1BF-BB2550CD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293608" y="1463040"/>
            <a:ext cx="438912" cy="1847088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CE06DABA-1614-4450-BDAE-A04EDAF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987552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941ADB8-C288-403F-91C4-BFE60B4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1060704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
ROUTE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FE72923-E502-4894-89D1-B45B831B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732520" y="1517904"/>
            <a:ext cx="1481328" cy="179222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03BB2CF-8B12-4EF1-B91E-BC85FDD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1042415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6244E2-C097-41E9-A47E-DC0670F4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111556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TVET
ROUTE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AEB8391-B6A2-4F11-AC82-E81ED425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10128"/>
            <a:ext cx="2029968" cy="15087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20CAFE38-0A84-48BE-A815-662240A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4340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554C1CE-238E-4D8A-AE59-0059839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441655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SKILL
TRIAL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3D18DA27-A0EF-4108-8DF0-076865AE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229600" y="3721608"/>
            <a:ext cx="914400" cy="1536192"/>
          </a:xfrm>
          <a:prstGeom xmlns:a="http://schemas.openxmlformats.org/drawingml/2006/main" prst="line">
            <a:avLst/>
          </a:prstGeom>
          <a:ln xmlns:a="http://schemas.openxmlformats.org/drawingml/2006/main" w="29209">
            <a:solidFill>
              <a:srgbClr val="4FE3C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2A6C5589-055B-48CE-8872-A2F7AD18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138928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185FE81-D21D-4505-A05E-7AF86672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5212080"/>
            <a:ext cx="905255" cy="9052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NEXT
EVIDENCE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4B42D16-0ADD-4706-A358-C27BEACC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36208"/>
            <a:ext cx="43434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Several hypotheses.
One reversible next step.</a:t>
            </a:r>
          </a:p>
        </p:txBody>
      </p:sp>
    </p:spTree>
    <p:extLst>
      <p:ext uri="{BB962C8B-B14F-4D97-AF65-F5344CB8AC3E}">
        <p14:creationId xmlns:p14="http://schemas.microsoft.com/office/powerpoint/2010/main" val="1468915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f095bc2154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186089-9EE6-42AD-B56C-6F55594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9BAA1D-A910-4BE3-B833-D00DF505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Students decide before they have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D3C932-CA45-4F4F-9FD1-07AB12C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CD2D1D-536E-428F-B892-3DD0AF08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4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ffd6591d748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34A476-BA89-41D6-A233-394DA96C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EA0D81-BE31-4177-9C87-9CBB5606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64208"/>
            <a:ext cx="37947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Decisions arrive
before experience.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0C91B-3974-4478-B058-C39A34C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743200"/>
            <a:ext cx="3291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FutureMe’s design hypothesis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45B39E-A7C4-466A-9D0E-DED53104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054096"/>
            <a:ext cx="3611880" cy="9326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58FA28-3072-4A77-BDB8-A65D7D3C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609344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CONSEQUENTIAL CHOICE POINTS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0E2FF6A3-CA9C-45FA-A91E-3E6308B4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26771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3224494-9250-4CB0-9C41-BED00E06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34086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ม.3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AD36DF15-12FF-4C07-B9F4-5CC3C07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879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C22586-4A4D-41D2-99B5-A5C983B0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426110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ม.6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71989F8D-3841-4364-939B-1D544A16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7223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7708A896-8C0E-4908-9D21-810FBFED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291693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19C1595E-C5A3-47BC-B186-3879DAF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43799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31A916B-7889-4272-BEF2-5ACF7761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31FADF-95A2-426B-8260-5376A986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General
upper secondary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B00C1AE-36EF-4C4A-80BC-89EA0D4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6B8D70-8D6C-4F87-B0EC-5ECA2B4B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
ปวช.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6221942-C976-442C-9A60-384E028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F32C3B1-6483-4CF8-8126-3B852A5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Other /
local options</a:t>
            </a:r>
          </a:p>
        </p:txBody>
      </p:sp>
      <p:sp>
        <p:nvSpPr>
          <p:cNvPr id="26" name="Connector 25">
            <a:extLst xmlns:a="http://schemas.openxmlformats.org/drawingml/2006/main">
              <a:ext uri="{FF2B5EF4-FFF2-40B4-BE49-F238E27FC236}">
                <a16:creationId xmlns:a16="http://schemas.microsoft.com/office/drawing/2014/main" id="{02EBF367-FD91-49AE-AEC0-99232F51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7223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43523DC2-7CFB-4B5A-B32F-795EF7C7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291693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27C329C1-83B8-4E6A-A993-537829AA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43799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7100C6CE-636C-41AE-9CBB-3B88A5DF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52C6881-D04F-4E99-8448-C2C042A5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TCAS /
university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5ACE7165-CC9B-4801-9D05-10DB9694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FAC3A10-825A-401A-A160-F93410AB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/
training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0977E60-EBA7-4736-9265-7D86A74A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19AD0A1-B081-4280-94EF-8083EBFC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Continue
vocational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F54A82E4-1E55-49D7-B871-0E77C53A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38928"/>
            <a:ext cx="653796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FF581D97-3F31-419A-A391-CCDD2094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58384"/>
            <a:ext cx="60716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CBDD4EFB-273C-4130-B54B-02CBDC9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3611880" cy="548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D9B7C865-6599-47CC-8E68-8770F81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55955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PRIMARY USER RESEARCH: NOT YET RUN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EAEC269-324E-423E-BEE6-67EB13F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Thai curriculum, VEC catalogue, TCAS70; FutureMe source audit (24 Jul 2026)</a:t>
            </a:r>
          </a:p>
        </p:txBody>
      </p:sp>
    </p:spTree>
    <p:extLst>
      <p:ext uri="{BB962C8B-B14F-4D97-AF65-F5344CB8AC3E}">
        <p14:creationId xmlns:p14="http://schemas.microsoft.com/office/powerpoint/2010/main" val="7548967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37ce6ade24c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AE52E4-62C1-43A2-A587-6778247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338948-58B0-41F7-81E8-718FF395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cost is mismatch—and a moving target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F37F9C-19CA-4381-ADB4-25914A76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13BC2E-2174-4A5D-B6F7-458A49CD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3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97ca1a8ca43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7470D5-6BB4-465B-B33C-969399CC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08F5992-65BE-4F90-B729-8080DC6D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2BEF0B9-A169-48D7-8CC0-1309B090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720D7-DDE9-45F5-A5B2-2EC4DF2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56%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551151-1A0B-4915-AEB0-CE986286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outside their field of study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CC6C15-E8DD-489A-BEF3-D22D7DCF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TDRI CONTEXT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7B95D02-4E66-4AF8-85E5-A3782949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8A1C4AB-7AA3-4678-B48A-94073FD4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AEB432C-FB11-4562-B2C4-1E5135B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27%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78FFE3F-A582-4862-A781-9BEBBE6D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below their skill or qualification level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2B80F7-DD32-491B-B7CA-19AF532D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SAME POPULATION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F9F9AC8-786D-403F-8EC5-ECEDAFCE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977E95E-314B-4FF2-9D4B-16D6D5B7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12156A-D0DA-4A2B-9DE8-784AD02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9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39%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749DF8-0009-4B9B-9569-3BF819E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 core skills expected to change by 2030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9576FFC-A4CB-4577-9E5C-B48E6F08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WEF EMPLOYER SURVEY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06B825F-D93C-4FCC-80B1-8EFB01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45152"/>
            <a:ext cx="9985248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3ED3CC1-7360-4175-BB1A-AA181097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7760"/>
            <a:ext cx="94183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D2136F1-6F62-4A4E-BF97-06532681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06440"/>
            <a:ext cx="1010412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0DDCE61-D33F-45FF-B94C-0F4DE5E2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TDRI (2025); WEF Future of Jobs (2025); scopes differ and are not combined causally</a:t>
            </a:r>
          </a:p>
        </p:txBody>
      </p:sp>
    </p:spTree>
    <p:extLst>
      <p:ext uri="{BB962C8B-B14F-4D97-AF65-F5344CB8AC3E}">
        <p14:creationId xmlns:p14="http://schemas.microsoft.com/office/powerpoint/2010/main" val="203523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4b6b0efde4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EC838-9839-4A25-9A57-12623E38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DATA PIPELINE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D1DABC-CE07-49E4-BBB9-A42A91C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data pipeline keeps limits attached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6F5986-AE9B-4DB1-A73D-B19CFD4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Source dates, unknowns and integrity checks travel with every demo record.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71CB-7648-4135-9D59-9C1C302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4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92fd4024a47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E574AE-2AAF-493D-8837-6B3A23BF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535589-9DDF-42B7-8D83-D01CA32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3F4EC64-90EA-4086-8F1D-3893D7CB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D5801F-4987-44DF-B30F-5F161FCD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Official registers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research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Project items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B06552-904D-4163-B3EF-0E5902D6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98D851D-1F09-4EA1-9DBF-6463D84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TRANSFORM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8A2EDC-5C3A-4D72-997F-78E44AD3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0F6142-7297-4C8D-B8DE-313AA38B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1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Reproducible scripts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Typed JSON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23C6666-1224-4FC0-84DE-DD327E02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4284B2-1A3C-4FF9-A6C8-A3CC74E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D212AC-0E95-444B-96A7-29C5A4BD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6B6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9BC0D7-A6C5-4059-A3E6-9A1865CD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Schema · counts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Hashes · cross-file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5101B25-9BE2-45A6-8CDE-FD2387C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7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F9DBD-CE95-487A-8EEE-A6BC759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SERVE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7C496F3-C4AE-4DEE-8411-B74D783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842191B-41A3-4C69-A735-29305EA4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Browser API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Warnings included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3D90C5-CD6A-48EC-9806-D42798B0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75887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Controls that stay visible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9694E4F-5C84-4939-8AA5-FD6CAFC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1648"/>
            <a:ext cx="10808208" cy="11338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5875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B169499-CB0F-406D-A5B8-763C83E0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3A73A13-976F-4174-9184-5BBDCD7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PROVENANCE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F9B8AD1-D852-4618-90DD-5C3E468A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802FA61C-E775-4FF3-BED3-ED19685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2DA308A-2464-40F7-A3B4-3ECEBD9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39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CHECKSUMS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402C45D-E3F2-48DE-8360-CFB25900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79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91912A15-FFF6-4E6E-956E-52DC57BA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D5F275D-D029-4C35-89EB-16280FE5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UNKNOWNS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CCD9673-C525-4AB5-A54E-20BDF66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46A9D76-E5C1-401C-982C-2FB81E10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1CE3853-1ED6-44BA-9192-C8DEF18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FRESHNESS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DA950BCF-6E7C-4ACE-83DC-391302D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559552"/>
            <a:ext cx="10241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1,961 institution options across 77 provinces; 207 coordinates and 987 websites remain explicitly unknown.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6CF63728-2049-403F-9C59-9CB0D43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Geography PROVENANCE + check:data; integration review 11 Aug 2026</a:t>
            </a:r>
          </a:p>
        </p:txBody>
      </p:sp>
    </p:spTree>
    <p:extLst>
      <p:ext uri="{BB962C8B-B14F-4D97-AF65-F5344CB8AC3E}">
        <p14:creationId xmlns:p14="http://schemas.microsoft.com/office/powerpoint/2010/main" val="10890648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9ee9d7fd44a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90C6E-FB49-47BE-B11C-3B3F36C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640915-0D30-4BFC-84F8-BE417153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idea evolved from matching to learning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EEA7CE-41E6-4416-94A8-505E9641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Each research input changed a product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92FD44-E605-4F18-9F71-1DCA0DC0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26cded7ac4c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C6C226-4623-41FF-B9EC-3459588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03E2D0B-A003-43E1-86FE-39EDB4CC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77D42A-9E13-4408-9A06-B3FD32E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41B80D-C48A-4728-8D8A-FAF19D6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EE1921-16A8-4370-BB49-F24CBB2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Study–work mismatch
is not one-to-one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248B0C-3CBC-44A7-ACF2-132C4FF2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D37CCF0A-8DDF-4A46-A67E-E5C6BD2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54AAC9-BA7C-4C06-8D2B-924D2F61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2DBD41-D03A-4FB6-89C0-8FDF8976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THEORY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D3DAD0-A347-43BA-8063-C4C5300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gives a
six-part interest language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91DF4E-FA40-414C-9C5E-049426F0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7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B9AD4E28-3761-4D39-878E-2175C20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FA1DE2-B468-4296-BDAA-B46C9254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B6AA44-3F7C-4D6F-8567-27EA1B7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293798F-1F8F-49FE-A3FB-0EC2B959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+ STAR
surface lived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D7D5FC-D100-4757-A895-88A190B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0825C4D9-64E4-4ECF-B7C2-A242B65B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797AC9-6F5E-40D8-A7DC-6B08662A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D915668-D474-4126-8250-0E0D7D19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5DA09C7-A019-4A85-BC8D-BDA607F7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mini mission
tests self-report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1F3CA04-4723-445E-B45B-D72B526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38899E1-4100-4EEF-AE85-D593F445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3A095E6-DF86-4548-8C4C-C250D010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DF841AB-4182-42A3-A2BB-5AC4B002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2935643-BD6D-4A1D-9C20-71F6348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 +
a 30-day experiment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60254C3E-FD8C-4E3B-A778-F5E11F2E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663440"/>
            <a:ext cx="8503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0DFF95D-57B7-4B7A-8F4E-1259D8C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1" y="4919472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, not a career oracle.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BAF55D7-2020-495D-BFD9-86A9507A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760720"/>
            <a:ext cx="7360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EBFBB3C-97A5-4FDE-B21B-A7A5585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research summaries; Holland RIASEC; interview framework files</a:t>
            </a:r>
          </a:p>
        </p:txBody>
      </p:sp>
    </p:spTree>
    <p:extLst>
      <p:ext uri="{BB962C8B-B14F-4D97-AF65-F5344CB8AC3E}">
        <p14:creationId xmlns:p14="http://schemas.microsoft.com/office/powerpoint/2010/main" val="203319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21ec7e47245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820AEA-9FA1-4FB4-B024-713A80F5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RESEARCH FOUNDATION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83CFA6-AF53-4427-BA17-0D756DFA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Research shaped the model—and what we rejected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5A3B8C-67F9-4BB4-AD19-E98035F8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892B77-E064-4F19-BFDE-3A844F82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5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025fc026846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4389BA-3E9C-4977-A971-9A861093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Hexagon 8">
            <a:extLst xmlns:a="http://schemas.openxmlformats.org/drawingml/2006/main">
              <a:ext uri="{FF2B5EF4-FFF2-40B4-BE49-F238E27FC236}">
                <a16:creationId xmlns:a16="http://schemas.microsoft.com/office/drawing/2014/main" id="{D502B3AF-6B62-438A-B147-C5C03FD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01952"/>
            <a:ext cx="3200400" cy="3200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2032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46ECF9-E874-4E39-ACF0-AC0FEB1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889504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CF765E-AAAE-4EEC-B684-4D69A817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3401568"/>
            <a:ext cx="1280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one vector
six interests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7AF5CE7-8E5E-4BE1-A427-47780B09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15270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19311C-C3E1-48B0-8296-7FB21515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002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7685EE-3D02-458A-AAFE-43701B9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9842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Hands-on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EDE81F57-E33A-44F9-8D03-2436AFE0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172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7B08B1-3BBC-4364-BA1C-1AB77EEE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0487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14F4ADC-3F55-4FB4-8637-87AC444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892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B5B9B16-FC5A-4087-A4BD-04E339F5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416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2BF0DDE-F771-4458-AD93-D6F65E36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1148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8634D59-A334-4DB9-9025-DA906E2F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4988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B792EE57-19C2-488B-BF95-9289676F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8280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64E326-F9A5-4423-B8ED-45DBE56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544" y="49011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C5B71F-CC1D-4027-8D64-0D455F6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52852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Help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C96EADAD-92CE-4369-B1E5-10400789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02336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C59200-D163-4ABD-9791-12AFA632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5E0F1B-E283-4DF0-B22C-3911699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448056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Lead</a:t>
            </a: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8391C2FD-69E2-432F-B971-F7B4AB6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3134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A8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E9F565-2CA6-4A88-B631-3694554A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865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71FC406-B5EF-4822-AEF5-B98CB299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27706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Organise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60747709-AD27-4E53-B334-683E92CA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773936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EA22AFD-424D-455F-BC9B-8EA7F6A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938528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C510E72-F592-462E-B12D-DF69660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interest vector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2A2E1C1-388A-4F2F-83E5-815F6538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920240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starting hypothesis for exploration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E75D8B40-75CC-4E3A-9A6C-AC9E7F1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61488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D1D3A7-B5B9-4D81-8958-08125F90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926080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DESIGN INPUT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389CD3-2A85-4253-B654-14A9E2A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889504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prompts + STAR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C8AADA3-6835-4C2D-A462-B3391956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907792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scaffolds—not psychometrics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D1F93F4-EFF9-43B4-A315-1186EE6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49039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D3FD8B2-D9B0-4390-A595-F2370724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913631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DEFERRED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8F998B1-A1EC-4C5A-9350-52CB69DB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877055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values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3D3AC71-80CC-408F-8495-711D2AE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895344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Route catalogue lacks value profiles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1E2B9A6-8D96-4C78-BF66-E2793A29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736592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5156FB7D-4CD1-4387-8111-3568A249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901183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19AC324-BE06-4F64-B4FB-9F71D297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864607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MBTI-type matching · VARK labels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1C3BD6B5-62B4-4AFE-9FF0-A681B3D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4882896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Unstable types / weak evidence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76033C12-C454-4D9E-A09B-BD6D4827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742432"/>
            <a:ext cx="6400800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066E2CB-F045-4C77-9E43-CA74A3C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870448"/>
            <a:ext cx="5943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The live 30-item instrument and both future banks remain unvalidated for real learners.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B87F13A-8D9A-4F7F-9085-3C337EA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Holland (1997); O*NET Interest Profiler Manual; FutureMe methodology</a:t>
            </a:r>
          </a:p>
        </p:txBody>
      </p:sp>
    </p:spTree>
    <p:extLst>
      <p:ext uri="{BB962C8B-B14F-4D97-AF65-F5344CB8AC3E}">
        <p14:creationId xmlns:p14="http://schemas.microsoft.com/office/powerpoint/2010/main" val="964803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5fed729d04c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9C6FDD-9A2C-4203-9DED-28EDD12C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PRINCIPLES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81187B-6324-4338-91F1-8665B4EC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Five product rules follow directly from the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9579C8-5416-40B1-A71F-D4E12339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Research is useful only when it changes what the product does.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537C0D-39FE-444A-8506-7D3AB94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e5340f0e641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E5D977-3090-4F4F-B426-8E71D533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DD489A-6B2C-43B6-A77F-D70E0DC5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992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BB9862-0D9C-4937-B89F-47EC68E7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645920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Interests still move in adolescence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17A2C23-BAE1-49F7-BE4D-73A62E1F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6002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38DE58-60C5-470B-9CAE-4024E8EB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645920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Offer hypotheses—not a verdict; keep routes reversible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DA8ECF6-74F5-4109-8FDC-CA1BB85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28711-5F52-452E-A5E4-989F0C0B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FA2D0BC-6652-4905-B043-3E70BE41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487168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Self-report is only one signal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E627A18-2B3D-4663-80B0-A6E3AE1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4414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07A2EB2-85BB-419E-BF32-39B056CC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487168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Add a scenario mission that can agree or disagree</a:t>
            </a:r>
          </a:p>
        </p:txBody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9F37A3B6-386F-49A1-BB66-1617F93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9232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AB6734-6F54-4A7F-9737-3295222E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242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2EFD4D-324D-4BD6-9B73-B312F06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28416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recommendations can become opaque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15B6E15-B919-401A-A04C-5086DCEC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2826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E87511-D0E2-4DDE-B8BF-3448855C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328416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Rules decide; show evidence, unknowns and contradictions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CB1506A3-9231-4ADB-BB33-555C85DC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FAE33BC-33E1-4AC2-B353-BDC2C95F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367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A3B8CC2-3FFC-4871-8817-C5D0A46D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69664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Admissions and labour data expire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95A75AB-7EA6-4317-B0DD-7D38A3C5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123944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3B97EC7-5A0F-427F-861B-794B97B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169664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Carry source, scope, last-checked date and freshness</a:t>
            </a: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EC578CB5-B8B0-4519-B3CA-6932051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1728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9CF4122-64DC-4BE2-A6D8-980E2B10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4E1EB88F-9F48-4F83-A365-318DA5CC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10912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users are minors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57CE04B-40BB-4919-BA44-541164D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9651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B397C59-6E6B-4DD5-BA48-A08DB0F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5010912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Guest-first, browser-local; consent before saving or sharing</a:t>
            </a:r>
          </a:p>
        </p:txBody>
      </p:sp>
      <p:sp>
        <p:nvSpPr>
          <p:cNvPr id="33" name="Connector 32">
            <a:extLst xmlns:a="http://schemas.openxmlformats.org/drawingml/2006/main">
              <a:ext uri="{FF2B5EF4-FFF2-40B4-BE49-F238E27FC236}">
                <a16:creationId xmlns:a16="http://schemas.microsoft.com/office/drawing/2014/main" id="{9E565685-8B13-4E76-980F-FF836E8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53F07664-330F-49C7-B24E-A1C2CA09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88736"/>
            <a:ext cx="923544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80490AA-BC7A-4F13-BB0C-7CC525D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998464"/>
            <a:ext cx="8778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E996052-25A4-41FA-8746-E688317B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Source audit, RAG data spec, interview research, privacy design</a:t>
            </a:r>
          </a:p>
        </p:txBody>
      </p:sp>
    </p:spTree>
    <p:extLst>
      <p:ext uri="{BB962C8B-B14F-4D97-AF65-F5344CB8AC3E}">
        <p14:creationId xmlns:p14="http://schemas.microsoft.com/office/powerpoint/2010/main" val="20092343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9b79fd11046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CCB9F0-CC35-461F-9AC4-EC72A424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2982D3-60F6-4228-9267-172CFC5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turns reflection into a low-stakes experiment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58B563-8D1C-46AA-A2A8-3D36DD7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55B428-5EA8-441C-8FBE-B6723702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86cf6082a4c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3D66D-AF37-4E2F-A492-BC6A5D9B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8D7F2CB-A8B1-421B-91DF-1BC53DCF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FFF6BE-DF20-401D-9EA8-2F05E9E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8969E4-D42B-4E51-8398-0BB00A34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65981E-E2B7-437E-AC14-E1C416F2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first-answer follow-ups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E3B2CE-FFA3-47F4-8292-5B52AC1A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4618A8CE-6D07-44B0-94A8-F040A082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C5B16F-67DF-47CF-A59F-00D5062A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05738F-B344-404E-A411-94727658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0126B8-52D8-478A-97EA-06990194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scenario
mission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7326722-6234-4327-B031-B266207F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16F47F7A-5198-4B08-9D22-611B322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526B16-539E-4D57-8B6F-A481FFC5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EA594BC-BD43-4DE4-8EBF-CB9FB57E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F9131C-F060-4974-9404-F8A74294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
with reasons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5B8141-1D64-482F-97A7-75750AAE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10264D-F0A7-420B-87FE-1E0754BF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7D56538-E473-4C63-BB04-A8FA980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355283-AB5B-42C8-B42A-43ECF9C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0E70D7B-3063-44D9-95C9-C242B715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 · trade-offs
unknowns · sources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9C26CD-ED5D-4251-B17C-8399136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CABCB58-752F-4E31-989E-950872EC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0F152B1-4495-4FFD-912D-BD377BE1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0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C5858320-1496-4724-8443-19B19E82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F3FCF78-6E43-4544-B46D-F42E0D2B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reversible
30-day plan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2B13D1F5-BBD8-4F51-AE5F-29AA67B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4572000"/>
            <a:ext cx="786384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1B0952B8-3F97-464C-84F0-44992F7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7132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— NOT CERTAINTY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37DCC3D-6C4F-4A4E-B42D-4C9C4618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38928"/>
            <a:ext cx="7132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2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AF598D7-6282-497A-A024-62A812E6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FutureMe guest journey</a:t>
            </a:r>
          </a:p>
        </p:txBody>
      </p:sp>
    </p:spTree>
    <p:extLst>
      <p:ext uri="{BB962C8B-B14F-4D97-AF65-F5344CB8AC3E}">
        <p14:creationId xmlns:p14="http://schemas.microsoft.com/office/powerpoint/2010/main" val="17146970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cce338e7140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B0C72D-1D1E-43E1-85F3-55CFE9A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USER JOURNEY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4FF3ED-46AD-4327-9A4A-9881A76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Each step gives the learner control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248883-847C-49E4-8FE3-E6D68D99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9ACD3C-9581-4FB4-B531-0AE3C8AB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4435e7950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05704DF-BB8A-4C09-A659-CF654C2B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71022CC-1F46-477C-A726-FE875961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4872"/>
            <a:ext cx="97840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BF08A2-0989-41CA-9C46-F58EF8C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9D3EF2-D670-4EB9-9A1F-25B76EEA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9E103E-BACF-4FDF-ABE4-E7F32E64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do I like—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and what follows?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64617E9-7245-4AA1-9FC3-8556B3A2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D35BCFB-C029-477B-BF3A-EED19CD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 items; answer 1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reorders the next two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B48C1640-CC5E-4971-90E2-75B89527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CED2E23-4BFB-4FEB-BBC9-9E23152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BD8CF35-F5A4-496E-B82E-FE6AA79C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Does action
agree?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243B1F9-CBE4-4FAE-B22F-B9EA3297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E61D737-992B-445C-94C6-F737DE38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Mission can
corroborate or contradict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F2ED63DF-9600-462B-928B-67180BA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A44B03D-D828-4A9C-9ED1-49AF4A43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A034D9B-9918-47AA-A917-57217E2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explore now?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3D0A154-A3AB-4083-A7AE-3765D8E1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24F51AB-1903-46EC-B7C6-985932DB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Tier gate · evidence ·
0–3 routes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F208D718-2A63-47EB-961F-FD57AD9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262BE4C-2BA5-486D-93D9-222DF44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9FF4422-8776-4A4C-AF45-F717B60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Why these
options?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757158C8-9655-415C-B3A5-C911D735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6824931-486F-4CE9-812A-52046A1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· evidence ·
unknowns · sources</a:t>
            </a: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112B471A-945C-4E82-A9E0-4942AA2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BE64AA1-E958-49C6-954B-4517EDF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05431A3-63EB-4B4E-B3C7-BED94C47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test next?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55F29243-EE71-4242-AE83-4F018D91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73EDF3-9095-4213-B88A-0E54E0AB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5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reversible
experiment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1509ECC3-53C7-4602-85B7-188A42D6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57800"/>
            <a:ext cx="1005840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938CC0E-7D3F-473C-8E92-4FA3FBE8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449824"/>
            <a:ext cx="9646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489A740-A8FC-4B28-984E-981DE14F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UX flow and session behavior</a:t>
            </a:r>
          </a:p>
        </p:txBody>
      </p:sp>
    </p:spTree>
    <p:extLst>
      <p:ext uri="{BB962C8B-B14F-4D97-AF65-F5344CB8AC3E}">
        <p14:creationId xmlns:p14="http://schemas.microsoft.com/office/powerpoint/2010/main" val="19941685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ed13ab81fa40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8192C7-4E13-4E47-B22C-5163DD1A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EBA611-2187-478E-AF86-62D3E83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Rules decide. AI explains. Research stays gated.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64AF74-6477-4DCD-92AC-48F50B3D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live decision path, future research inputs and production plan remain separate.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43D91F-C785-427A-BE65-7AB0B79F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51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800335fc44c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EF1899-8AE8-4608-9F89-75779B93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BF43AC3-E7B8-4BC5-9BCE-E56484DC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27048"/>
            <a:ext cx="1874519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03513F-D452-472E-B151-A491D959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1540763"/>
            <a:ext cx="17830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TODAY · IMPLEMENTED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2361AE-0D54-4EF7-9FBF-09B396FA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48256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74D20C-E301-4DDF-BC43-989D2282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85416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+ 5 context prompts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CAE558-8BC7-4C53-A17D-8274ABA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743200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BD0C0A-2770-47D3-9920-F768C213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27248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798655-7771-4ED7-99D1-071B09BC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First-answer ordering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deterministic rules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AE588C-042A-4B5C-9331-9EA1C65D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822191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34B03B7-4294-4D45-B137-F0E514C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06240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A46F234-17E5-4B33-B3C2-49FC4002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43400"/>
            <a:ext cx="3108960" cy="441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0–3 routes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+ 30-day plan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E8AB83-3EAA-456A-A42C-49B4211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30368"/>
            <a:ext cx="2816352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63E9F7-8A87-4CAB-8EE5-5832E08E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37667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Optional LLM: bounded chat + rewording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Outside scoring · offline fallback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AF4E036B-98DF-4870-ADA6-822D3FA5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536192"/>
            <a:ext cx="0" cy="445312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94C2696-B8CF-457C-9300-43F92304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527048"/>
            <a:ext cx="1700784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AA8AE0-92F9-4AF2-8D76-CD8CB9F9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7" y="1540763"/>
            <a:ext cx="16093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 / FUTURE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5B94EAB-81AB-41E9-8724-C38A2C8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5D43BFA-4212-4656-8F26-1AB791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90-item adaptive design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not live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73B7E51-65C3-44F2-9E85-472C1278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52B8B69-4905-42DA-9B68-A94EF7DE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74D8F542-7F54-4D3C-8F98-2365F262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1,000-item bilingual bank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structurally checked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BF91092-F670-4C39-8F62-70BA0BAB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EB92AC3-F42A-4641-BB8A-E1768171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D0E675E5-F971-4B3A-9810-0637031F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2313432"/>
            <a:ext cx="1426464" cy="525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Expert + student review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before import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E7B44A99-F5FC-4BAA-9723-4BBD9697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54717B0-B003-449B-AB28-703B790C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RAG retrieval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E04A30-0DA1-4F47-AF8F-3BAFC6DB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C16E10FC-6957-405D-9A92-33C44BE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00B8BD4-289D-46B8-B5BF-F9C5DBA3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Evidence-grounded explanation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7D25D997-CAA5-459C-8B8A-7C9141BF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28A1A777-9DD9-4D42-A4A9-9F19DD7C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E3EC573D-C36B-4FEF-ACFE-1F6137B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Interactive roadmap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A5B15737-F4E9-4458-BD10-52592E54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035808"/>
            <a:ext cx="47548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66C80E9-4761-4272-B19F-90404C89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5257800"/>
            <a:ext cx="5513832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E0B5D5A-6339-4A13-B101-7FA8ED47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46811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Rules decide. Validated data grounds. AI explains.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061F5372-C0A1-4A2B-A73B-D98E21A8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current code + research banks; production RAG and cloud services are 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0819903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78bba3671f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253BE-E97F-4ED9-A780-9C592139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RECOMMENDATION LOGIC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7114A7-6EDD-461C-A6CB-658B2997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Recommendation logic is explicit and auditable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7171AE-B909-4AD3-A363-1A3E4ED7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Same answers, same routes. The model cannot change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8B5008-6E77-4226-9DCD-BD18E4D7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5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b558f6ac348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0A02A5-D71D-452C-A4D2-47A50A08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48DC8BC-CE1B-40E1-BF7B-CD1CBAA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F6128D8-9370-43E4-B4C7-3545B445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live items</a:t>
            </a:r>
          </a:p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+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DCF652-D3C6-4EC6-B9BE-59B3F8F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C60A928-4DC3-4CC2-A092-4E237AE1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D56EA2D-F04D-4F48-A0DB-BB9445FB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
vector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1674597-3846-48F3-A045-4E56CB40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E27C7F0-283C-4BAA-8330-6609C0D9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D2F88D-36EE-41E9-A554-D964B8F1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Mission
vector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5ACDC6-9450-4323-A40C-87A61A2B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A0DBBB8-365A-4358-AD99-B486487B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E59103-7D66-4B05-9953-3FE6812C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Tier
gate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1DF7BC-C53F-437E-9773-E0BBB4C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67E3B69-96CD-4B76-9258-28956EA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A0AACED-9E63-4390-9C5A-76F1B7D8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3-criterion
matrix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95F5F5-6675-4409-8CAD-A5711212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134D42E-5DA9-43B6-A362-1531DC22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DE75019-9963-4586-BDD8-7DBCE03C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
routes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3960845-6F85-4297-8D12-07F98B1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8648"/>
            <a:ext cx="5394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SCORED SIGNALS + UNVERIFIED PROMPTS · BLOCKS NOT TO SCALE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855CA9F-9BEC-4B05-B945-79FE220D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994" y="3291840"/>
            <a:ext cx="3204401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38A34B4-563D-4D8C-8E06-7CD0019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447288"/>
            <a:ext cx="318759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Interests 50%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7A330E-8238-48CE-A101-49D9711C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495" y="3291840"/>
            <a:ext cx="266395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ECABE8E-B04E-4621-9F00-D74DD28D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38" y="3447288"/>
            <a:ext cx="26471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Mission evidence 30%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6029721-8DFD-4E71-BF5C-A3B89368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8546" y="3291840"/>
            <a:ext cx="2123504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4AFD3-5F3A-4728-9A5F-E442DA81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6890" y="3447288"/>
            <a:ext cx="210677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Learning env. 20%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0CF94AB0-0E25-4D35-9F8C-C0BC93CE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91840"/>
            <a:ext cx="158315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8EDADE6-6DEB-4908-B6CA-06019242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8532" y="3447288"/>
            <a:ext cx="156636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Practical prompts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1DE761F7-D686-48B7-B682-7A96B8DB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400" y="3291840"/>
            <a:ext cx="104270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833ECE1-24D8-40FE-B8E0-99991F8B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763" y="3447288"/>
            <a:ext cx="10259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 scored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59A0DA84-EA15-4239-A100-E489332F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5C8651E-F97B-41E9-8BBA-61B1853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23 / 30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F2F9851-08D6-4287-B9CD-5EC7C07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minimum items answered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56A79353-EA5E-4971-BD8D-A0EE4EB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14702D3D-22FD-442B-94FD-FF01584C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FLAT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831E0AA-BB9A-4AD8-96B1-54F31C63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profile → no route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671168F5-5298-4285-B073-EAD2318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257B6AF-52FD-4433-B4C8-8C80F838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WEAK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637C46-D9B6-4D3B-999F-EF93095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all evidence insufficient → no route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AD2DDB31-3847-4391-BA40-EB479452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DA276F00-4B98-4736-87D3-3F2199D3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TIES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7171A41-84E2-4475-8ECD-4D4C28EB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shown, not falsely ranked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F50F8588-4CC8-4D02-A5FD-BE1BB89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15584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Live scoring uses 30 items. The 1,000-item bank is structurally checked and research-only.</a:t>
            </a: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217D1F40-4E9A-4BD0-9766-A4EC86CA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adaptive-engine + decision-engine + future-bank validator (current prototype)</a:t>
            </a:r>
          </a:p>
        </p:txBody>
      </p:sp>
    </p:spTree>
    <p:extLst>
      <p:ext uri="{BB962C8B-B14F-4D97-AF65-F5344CB8AC3E}">
        <p14:creationId xmlns:p14="http://schemas.microsoft.com/office/powerpoint/2010/main" val="164271125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bc139a1e64a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F4A75B-3DCB-4353-939A-BCFAFF5C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7DF09-8FB8-4D29-975B-21467999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latest prototype runs end to end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18DBF0-0DAD-4A57-9337-0453159B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app screenshots—not concept mockups. Mascot motion is on by default with a persisted system opt-out.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3DE039-354C-4F6E-AB2D-09A8EA4E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4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65c83384442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AD39A-2AEE-481E-A37C-0678EBF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19CF4D2-B372-4947-BE14-600AA926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1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5af96176a4e1c"/>
          <a:srcRect xmlns:a="http://schemas.openxmlformats.org/drawingml/2006/main" l="11145" t="0" r="111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5836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C65C48-CBAB-4797-BB55-4FEDDD2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CF71B1-6F8F-412C-AC54-5FC5397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 · REFLECT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A035A9-F39E-41B7-880E-35DA686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item at a time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E22AC9-45EE-4C5E-98E7-9D88ED6D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6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c22d923e24cfd"/>
          <a:srcRect xmlns:a="http://schemas.openxmlformats.org/drawingml/2006/main" l="0" t="0" r="0" b="29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17880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C3CE57F-691A-4E9B-836F-A06FCB63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E3FB30A-BC6D-498D-8249-E45D2190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 · EXPLORE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AA3E1A-BF42-4CC2-AB54-5D5B15B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80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Several hypotheses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B5B9151-208A-47C0-9FEB-D312210A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61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da1dc30364acc"/>
          <a:srcRect xmlns:a="http://schemas.openxmlformats.org/drawingml/2006/main" l="0" t="0" r="0" b="36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69924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34046E-57A8-4849-81F7-FB18027B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C9BBF8B-C14F-48C9-BDC0-BDE205E7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5 · ACT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2683544-DB9B-45CA-9002-3B2030A2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79D82B1-3023-45BC-A361-83D74197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23560"/>
            <a:ext cx="16916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83A1205-0E7A-4285-A0E2-9B6EFEC8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637276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TH / EN + THEMES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7C92603-6EF3-4F30-9578-B73F0EE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623560"/>
            <a:ext cx="12801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0693007-FF58-4DB4-AE47-1DC4CB91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637276"/>
            <a:ext cx="11887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 MISSIONS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C69B02A-4F8C-4A38-9F23-70B42C89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4216" y="5623560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EBC9876-27D7-4D90-8A33-05831802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936" y="5637276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12 ILLUSTRATIVE ROUTES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7ED102C-C376-400F-B43D-EDFA3FC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5623560"/>
            <a:ext cx="15087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3701A1-81CB-4358-9EE1-A1A60F2F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5637276"/>
            <a:ext cx="14173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BROWSER-LOCAL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FFF62E32-A797-4A91-8852-E439511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23560"/>
            <a:ext cx="11430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EFCB971-5861-4A20-BE9E-097DE3D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637276"/>
            <a:ext cx="1051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529 TESTS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FB1E72F2-F7CF-4600-8BC3-EA158100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23560"/>
            <a:ext cx="96012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71DD843-2A1D-44F2-8458-1A650BB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637276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94 E2E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2D0807A-1448-44B9-B1E1-7DDB1C83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6071616"/>
            <a:ext cx="6355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Route profiles and mission rubrics remain illustrative and unvalidated.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753DAA9-6B66-49B2-90A5-646D3565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Verification rerun 11 Aug 2026: 529 Vitest tests and all 94 Playwright browser journeys passed.</a:t>
            </a:r>
          </a:p>
        </p:txBody>
      </p:sp>
    </p:spTree>
    <p:extLst>
      <p:ext uri="{BB962C8B-B14F-4D97-AF65-F5344CB8AC3E}">
        <p14:creationId xmlns:p14="http://schemas.microsoft.com/office/powerpoint/2010/main" val="10772614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cbcb5ef964f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49E11-D5E3-4D51-A326-6EBDD08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VALUE PROPOSITION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687F618-CF96-4AAE-AB32-E1BDED28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difference is what happens after the score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C52AAD-21DA-4502-9B08-B6098DB4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FutureMe changes a result into a testable next step.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68CCE5-B7BD-488E-B1DE-0C2F1A5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pic>
        <p:nvPicPr>
          <p:cNvPr id="69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59f731b8e49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A71B87-2F7E-486B-B594-3C0D99C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4392417-5AEC-4A39-8DD5-8A1DB68E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829F58-DED2-4E3A-ACFC-164D4F48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TRADITIONAL CAREER TEST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FE9BF0A-D337-4EC6-AB9D-97F0F2D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128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736665-6DD8-40BE-9A5E-9170E64E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591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Questionnaire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A214927-8F3B-40B0-8C6F-02ABF38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7889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45CFF8-7A5F-48E3-A23C-73B0123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272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23B5C1-3F69-433A-BCD5-C78F5399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2735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Score / type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35035A-FFAF-4C82-AA38-A51298D5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7033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9D62EB-C953-4200-A37F-A9C2FD8C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416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74B0AF-68BE-4170-8436-98CEA5D1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1879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list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37F460B-8A12-4BFC-8689-76321A2F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6177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701BAA3-C39F-40CA-8D21-D5F0966B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9560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E3EABE6-FDD3-4F98-AE46-9E0EFAD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1023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Stops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18E9A67-41AD-47E2-87C2-AD7FB48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7D742E4-F3A7-4D47-A911-5DB0EAA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59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FUTUREME EVIDENCE LOOP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7F4245B3-2EC1-45C6-A9D5-2AA277F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E856E37-04C6-4ACD-97AC-701EDCF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7272FB-5376-4AF9-A4D0-B3434035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E50539-6C4F-42A7-B688-F2849E1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provisional signal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3CB9103-1D46-4611-9C20-C5A19578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5F1DDD5-465F-4EF5-9FDD-3973F4B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8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8A9E2E8-C32F-4220-BEB9-51276AB1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9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59AC679-0D73-4F41-A637-6889C52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8804B56-5AAA-4F6D-9982-5FE593A3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independent evidence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C674124-641A-4527-8ACF-D843B055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DEB03B73-B6FA-42BC-A928-1547A9A6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3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66702AD5-B092-418E-B547-45403BE1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5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FC789A4-BC72-4DC4-8554-B5EA397A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1014697-E0DB-4D26-BB33-B5F6E7AF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+ unknowns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C052167B-515D-471C-88D4-21EB57E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D3EBE9EF-762D-4115-BC52-3882AF83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1C68E8AE-E6AF-4432-9E3C-B4149239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42067F8-0AF5-4788-8F42-CF3207F4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E8F6D70-038B-4EB9-9C35-653B0898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evidence + trade-offs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E8DCA7E1-152F-4D9B-96C5-C326EEC1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6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D7E9E549-0498-493C-AB30-6AA69A7B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76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D4AC7EB7-7F1A-4275-A433-35CCBC1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7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2F302F59-4CAE-4128-8865-A68BF7B5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88E2A44-9F01-4D39-9D09-597E31B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48" name="Connector 47">
            <a:extLst xmlns:a="http://schemas.openxmlformats.org/drawingml/2006/main">
              <a:ext uri="{FF2B5EF4-FFF2-40B4-BE49-F238E27FC236}">
                <a16:creationId xmlns:a16="http://schemas.microsoft.com/office/drawing/2014/main" id="{48DD94BB-AD11-42A8-9EFE-1BACD8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486400" y="3858768"/>
            <a:ext cx="544068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4FE3C1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532CC34-FEAF-45EF-8C5B-712638DF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13632"/>
            <a:ext cx="3657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4FE3C1"/>
                </a:solidFill>
                <a:latin typeface="Aptos"/>
                <a:ea typeface="Aptos"/>
                <a:cs typeface="Aptos"/>
              </a:rPr>
              <a:t>new evidence updates the next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37407FD3-DA7B-4E8D-BCAC-FB3F3269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645152"/>
            <a:ext cx="6419088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B414532A-2A95-40B8-B83B-39B9260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77B93DBB-2FF8-4781-AFA8-37249CF3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Refuses to guess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36206375-B74F-4747-82CA-D66A579C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47B8E97C-7F93-4203-83E9-A0F8B41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Shows disagreement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45D454D6-985F-4B68-864E-2300114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24CBB940-ACBC-4D3F-983D-155CA334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 manufactured winner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E7CF9E19-3767-496C-986A-09205D1C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1E5775CE-D580-467D-9597-AE37FAAE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Sources + freshness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EBF76A5E-5D96-4908-8231-635B90CF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D92A2E8-75E5-4373-AA13-999D1B87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 routes are first-class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631DE6FA-90C0-483A-91D8-09C9119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product design and implemented behavior</a:t>
            </a:r>
          </a:p>
        </p:txBody>
      </p:sp>
    </p:spTree>
    <p:extLst>
      <p:ext uri="{BB962C8B-B14F-4D97-AF65-F5344CB8AC3E}">
        <p14:creationId xmlns:p14="http://schemas.microsoft.com/office/powerpoint/2010/main" val="7169620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9eb0e303346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229EA7-F193-4454-945D-E55F387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66B6D2-4E10-4512-83DE-6EB0261F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 is the next product—not a footnote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A9F338-2DC8-42DA-BDBC-0FD27DAC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Software and data pipelines are verified. The instrument and outcomes are not.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F21AD5-A066-4CCA-8FA2-ABEBE613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6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4257d5809d4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861C85-7888-4A3A-889F-8C41AC0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F92236-1076-4AF2-9059-85E39C3A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3703320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2C81A9-1FF8-4366-BE11-0E97F694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46504"/>
            <a:ext cx="334670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PIPELINES VERIFIED  ≠  PEOPLE VALIDATED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46792DB-7A05-4DD8-8184-5ED3F6DD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414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C50571-1FB3-46CD-AF74-45DC9D2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9EB181-3CEE-4DBB-A3EB-B099C35F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597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Ethics 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3E4A0D-DC01-4CDE-93EC-102C07A4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24597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Approval · parent consent · student assent · PDPA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BB8297C5-553C-450B-8A40-757AFA6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98648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BD5B5F3D-F868-4F51-BC8F-A7FBBF7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358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532937-DF63-4771-91C2-F689D6C2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10896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B6F1F7A-5863-4C4E-9594-8265B11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5409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Cognitive debrief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8E64445-79E7-466A-B586-27400659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05409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n ≈ 30–40 · meaning and translation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23A82DC0-EB39-4A6E-B518-BCAEBAD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69DA7D3D-6C93-4513-966B-2FE2892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66D1A9F-CDD8-433E-B9C6-D3235B89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0332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B5187F6-8908-4B55-88BF-D831AA5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64845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D198B9-14C5-4A1B-9DDE-8F51E3A5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64845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target n = 250 · minimum 200</a:t>
            </a:r>
          </a:p>
        </p:txBody>
      </p:sp>
      <p:sp>
        <p:nvSpPr>
          <p:cNvPr id="25" name="Connector 24">
            <a:extLst xmlns:a="http://schemas.openxmlformats.org/drawingml/2006/main">
              <a:ext uri="{FF2B5EF4-FFF2-40B4-BE49-F238E27FC236}">
                <a16:creationId xmlns:a16="http://schemas.microsoft.com/office/drawing/2014/main" id="{FBAE9FA2-A031-43BF-B100-CE9BCFF4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736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8DFA72DB-A769-44E4-89D5-FF694B8C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2452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7440E6C-1635-4D49-8748-4A56BBE0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29768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31229BE-BDF8-4155-A3D5-895B09B0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24281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Measurement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EF42F3A-BD1D-4EF7-9C79-662AABBA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24281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α + ω · item-total · “not sure” rate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313BB7B9-F566-476C-A683-D4520AF6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8172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B860DCEA-46EA-4319-8CAF-70440C81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18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DFB1862-D5E6-48A8-8D71-609DC526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9204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3D423CA-47C2-4DB1-AC25-513B4397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83717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399B3B6F-EA1C-40D9-9406-2CD102A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83717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RIASEC circular-order randomisation test</a:t>
            </a:r>
          </a:p>
        </p:txBody>
      </p:sp>
      <p:sp>
        <p:nvSpPr>
          <p:cNvPr id="35" name="Connector 34">
            <a:extLst xmlns:a="http://schemas.openxmlformats.org/drawingml/2006/main">
              <a:ext uri="{FF2B5EF4-FFF2-40B4-BE49-F238E27FC236}">
                <a16:creationId xmlns:a16="http://schemas.microsoft.com/office/drawing/2014/main" id="{C061CC99-232C-4207-A272-DE6DFAAD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7608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F1DB71-B59E-466B-946A-DE369A8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46C8E5FF-D396-4BA3-A5BE-C1BF9A18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54864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64D03FB-36E0-41A0-80CA-570184E1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4315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Revise + re-pilot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CA6BD3A-4147-4788-96E8-FCF6DD4E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54315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then invariance and outcome studies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E22B358C-E4CC-4AEC-8D3C-931F8D17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627632"/>
            <a:ext cx="4023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PROPOSED SUCCESS MEASURES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AFF02292-C0D7-4915-A396-844E2787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084831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4D48E405-907D-4960-A906-919ECA87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31136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1119A90-415F-44EA-AB8C-D9E9E82F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2221991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Reliability · item quality · construct structure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13810C71-CC1C-46B4-8890-90AB750C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017520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C511071-0605-4F69-B6E5-2DB0F93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163824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ROUTES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E932AB5-0C07-47FA-9534-3D2DA326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154679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Relevance · counsellor agreement · diversity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536F9E96-86D7-40ED-81A8-1A2ED1E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950208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1762467-5F7C-4A35-AB64-957A760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4096512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5BDC60F4-B8AD-4432-9260-F4B2B469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4087368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Completion · comprehension · route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09DCF93-D269-4395-9A1F-C28635E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82896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26B7B12B-B2DB-4DE6-A065-075F5150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29200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9EE4E4C1-77E4-4922-9B91-328EAC6D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5020056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Can the student still explain and defend the choice?</a:t>
            </a: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405B38FC-C713-44DB-89F4-89FBD347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907024"/>
            <a:ext cx="434340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8B60F882-CCFE-4918-AFBA-8ADF832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07608"/>
            <a:ext cx="397763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No reliability, validity, fairness or outcome evidence yet.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514AC48-82BD-4F07-BAB6-E964EC0F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validation plan + pre-registered pilot protocol (30 Jul 2026)</a:t>
            </a:r>
          </a:p>
        </p:txBody>
      </p:sp>
    </p:spTree>
    <p:extLst>
      <p:ext uri="{BB962C8B-B14F-4D97-AF65-F5344CB8AC3E}">
        <p14:creationId xmlns:p14="http://schemas.microsoft.com/office/powerpoint/2010/main" val="20451323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aea5393c64a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15BD9-BB62-49D2-84E6-57C9EF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2F8634-B947-43CC-B0AB-84FEBA0F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From runnable demo to trusted decision support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C906F5B-0BF2-411E-8F35-8BF58A74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phase: validate with people, not just pipelines.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6B2B97-D80F-40AF-BDF4-CA06293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6223977d846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F3BE1D-CABB-43C9-9C3B-0EBE61B6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August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6D2E42D-2EE1-41A3-8325-2E190614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84124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DD1E6C3-0ADB-4BDE-A8F0-42432F29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3BFA5-EA7B-425E-96CD-343628B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97E6DE-9131-4FE3-AFA8-5DF107E3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Foundation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3BFAD7-5D7A-40C9-B1DC-2843B4C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D8D310-16C4-4F64-8BAA-5CA54259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7F499E-3D75-44DB-A2B2-8AECB81D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2BE57EF-0636-4437-A7CF-EB09161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Runnable
prototype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254FBE-545E-41DC-A2B2-C68D7903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C4727ED-1E22-4700-A88F-6C6CBA9B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FF0F34-1B0D-4D07-B13D-0E322F91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A78263-6853-4DCB-B90A-A81BBC2C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7E7D3D8-2748-4867-9270-AB4F662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CURRENT · NEXT</a:t>
            </a: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68EEAB52-B2F5-4A4E-9AB3-A59E1B6E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05F7FDC-768B-4DFB-B865-DD738AFB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75161A7-67B3-4F2E-8A64-091DAEC9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School pilot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1FCEB3F-BD5B-4A5E-BE01-C067D41F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PLANNED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55599CDD-A39F-4702-9449-6F5DCF3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6C09C0B-57A9-4DD3-80CC-180062F4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791E086-454B-4837-AF7D-6D5ACBBB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Ecosystem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709E653-F4F1-482E-B4A0-9E0973E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A9201E0-6351-4863-8F51-BD96F4A0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7"/>
            <a:ext cx="10241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Phase 3: Thai adaptation · expert and student review · instrument + mission pilot · licensed route data · bias + safety audit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EBAE79EC-EBA4-4EB7-893D-A4746918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51960"/>
            <a:ext cx="5230368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4761EC1-3FF3-4817-B14F-2ECA2070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056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career discovery 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E4B77E1-8ECA-4CCC-969C-91068E8F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08406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82CB4AA-0372-49E1-BDE2-EEE0BFC7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42816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SELECTED REFERENCES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DACCD23-DE61-4A5F-BC74-EAF8BCD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590288"/>
            <a:ext cx="507492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[1] TDRI — การพัฒนาทุนมนุษย์ไทย (2025)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[2] NSO — Social Indicators 2025, p.185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[3] NESDC — ภาวะสังคมไทย Q2/2568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[4] OECD — PIAAC 2023 mismatch evidence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[5] WEF — Future of Jobs 2025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[6] Holland (1997) + O*NET Interest Profiler Manual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C69C690-118F-40E4-BF6D-B595695C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Repository evidence: README files · validation plan · source audit · geography provenance</a:t>
            </a:r>
          </a:p>
        </p:txBody>
      </p:sp>
    </p:spTree>
    <p:extLst>
      <p:ext uri="{BB962C8B-B14F-4D97-AF65-F5344CB8AC3E}">
        <p14:creationId xmlns:p14="http://schemas.microsoft.com/office/powerpoint/2010/main" val="11201480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2026-08-11T10:15:23.2810000Z</dcterms:created>
  <dcterms:modified xsi:type="dcterms:W3CDTF">2026-08-11T10:15:23.2810000Z</dcterms:modified>
</coreProperties>
</file>