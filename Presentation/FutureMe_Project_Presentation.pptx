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1792" y="47548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700">
                <a:solidFill>
                  <a:srgbClr val="4FE3C1"/>
                </a:solidFill>
                <a:latin typeface="Aptos"/>
              </a:rPr>
              <a:t>JUMP THAILAND HACKATHON 2026 · PROJECT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5577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5F5FA"/>
                </a:solidFill>
                <a:latin typeface="Aptos"/>
              </a:rPr>
              <a:t>FutureMe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A8A8BE"/>
                </a:solidFill>
                <a:latin typeface="Aptos"/>
              </a:rPr>
              <a:t>From </a:t>
            </a:r>
            <a:r>
              <a:rPr sz="2300" b="1" i="0">
                <a:solidFill>
                  <a:srgbClr val="FFD37A"/>
                </a:solidFill>
                <a:latin typeface="Aptos"/>
              </a:rPr>
              <a:t>“I think”</a:t>
            </a:r>
            <a:r>
              <a:rPr sz="2300" b="0" i="0">
                <a:solidFill>
                  <a:srgbClr val="A8A8BE"/>
                </a:solidFill>
                <a:latin typeface="Aptos"/>
              </a:rPr>
              <a:t> to </a:t>
            </a:r>
            <a:r>
              <a:rPr sz="2300" b="1" i="0">
                <a:solidFill>
                  <a:srgbClr val="4FE3C1"/>
                </a:solidFill>
                <a:latin typeface="Aptos"/>
              </a:rPr>
              <a:t>“I tried.”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56692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5FA"/>
                </a:solidFill>
                <a:latin typeface="Sukhumvit Set"/>
              </a:rPr>
              <a:t>ช่วยให้นักเรียนเข้าใจตัวเอง ก่อนตัดสินใจอนาคต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6324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8A8BE"/>
                </a:solidFill>
                <a:latin typeface="Aptos"/>
              </a:rPr>
              <a:t>A decision-support prototype for Thai secondary and vocational students.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30752"/>
            <a:ext cx="297180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744468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D37A"/>
                </a:solidFill>
                <a:latin typeface="Aptos"/>
              </a:rPr>
              <a:t>RESEARCH-INFORMED · NOT VALIDATED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669280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Explore the next step—not one final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062472"/>
            <a:ext cx="5760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7778F"/>
                </a:solidFill>
                <a:latin typeface="Aptos"/>
              </a:rPr>
              <a:t>Research synthesis · Product strategy · UX · AI architecture · Validation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2" y="2834640"/>
            <a:ext cx="950976" cy="9509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2907792"/>
            <a:ext cx="80467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7070D"/>
                </a:solidFill>
                <a:latin typeface="Aptos"/>
              </a:rPr>
              <a:t>ME
NOW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8293608" y="1463040"/>
            <a:ext cx="438912" cy="1847088"/>
          </a:xfrm>
          <a:prstGeom prst="line">
            <a:avLst/>
          </a:prstGeom>
          <a:ln w="25400">
            <a:solidFill>
              <a:srgbClr val="777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818120" y="987552"/>
            <a:ext cx="950976" cy="950976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2" y="1060704"/>
            <a:ext cx="80467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STUDY
ROUTE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732520" y="1517904"/>
            <a:ext cx="1481328" cy="1792224"/>
          </a:xfrm>
          <a:prstGeom prst="line">
            <a:avLst/>
          </a:prstGeom>
          <a:ln w="25400">
            <a:solidFill>
              <a:srgbClr val="777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738360" y="1042415"/>
            <a:ext cx="950976" cy="950976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2" y="1115568"/>
            <a:ext cx="80467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TVET
ROUTE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32520" y="3310128"/>
            <a:ext cx="2029968" cy="1508760"/>
          </a:xfrm>
          <a:prstGeom prst="line">
            <a:avLst/>
          </a:prstGeom>
          <a:ln w="25400">
            <a:solidFill>
              <a:srgbClr val="777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287000" y="4343400"/>
            <a:ext cx="950976" cy="95097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60152" y="4416552"/>
            <a:ext cx="80467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SKILL
TRIAL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229600" y="3721608"/>
            <a:ext cx="914400" cy="1536192"/>
          </a:xfrm>
          <a:prstGeom prst="line">
            <a:avLst/>
          </a:prstGeom>
          <a:ln w="29209">
            <a:solidFill>
              <a:srgbClr val="4FE3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54112" y="5138928"/>
            <a:ext cx="1051560" cy="1051560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27264" y="5212080"/>
            <a:ext cx="905255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NEXT
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6236208"/>
            <a:ext cx="4343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Several hypotheses.
One reversible next step.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Students decide before they have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Thai education has visible forks; the day-to-day reality behind each route is harder to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02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664208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F5FA"/>
                </a:solidFill>
                <a:latin typeface="Aptos"/>
              </a:rPr>
              <a:t>Decisions arrive
before experience.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4320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50">
                <a:solidFill>
                  <a:srgbClr val="FFD37A"/>
                </a:solidFill>
                <a:latin typeface="Aptos"/>
              </a:rPr>
              <a:t>FutureMe’s design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054096"/>
            <a:ext cx="361188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8A8BE"/>
                </a:solidFill>
                <a:latin typeface="Aptos"/>
              </a:rPr>
              <a:t>Students need a safe way to test a direction before committing time, prerequisites and money.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093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CONSEQUENTIAL CHOICE POINTS</a:t>
            </a:r>
          </a:p>
        </p:txBody>
      </p:sp>
      <p:sp>
        <p:nvSpPr>
          <p:cNvPr id="13" name="Oval 12"/>
          <p:cNvSpPr/>
          <p:nvPr/>
        </p:nvSpPr>
        <p:spPr>
          <a:xfrm>
            <a:off x="5074920" y="2267712"/>
            <a:ext cx="749808" cy="749808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072" y="2340864"/>
            <a:ext cx="603503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ม.3</a:t>
            </a:r>
          </a:p>
        </p:txBody>
      </p:sp>
      <p:sp>
        <p:nvSpPr>
          <p:cNvPr id="15" name="Oval 14"/>
          <p:cNvSpPr/>
          <p:nvPr/>
        </p:nvSpPr>
        <p:spPr>
          <a:xfrm>
            <a:off x="5074920" y="4187952"/>
            <a:ext cx="749808" cy="749808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8072" y="4261104"/>
            <a:ext cx="603503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ม.6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815584" y="2322576"/>
            <a:ext cx="722376" cy="320040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815584" y="2322576"/>
            <a:ext cx="2916936" cy="320040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15584" y="2322576"/>
            <a:ext cx="4379976" cy="320040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37960" y="1938528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1112" y="2029968"/>
            <a:ext cx="12710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General
upper secondary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938528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05672" y="2029968"/>
            <a:ext cx="12710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Vocational
ปวช.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5560" y="1938528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029968"/>
            <a:ext cx="12710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Other /
local options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5815584" y="4224528"/>
            <a:ext cx="722376" cy="338328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815584" y="4224528"/>
            <a:ext cx="2916936" cy="338328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815584" y="4224528"/>
            <a:ext cx="4379976" cy="338328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37960" y="3840480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11112" y="3931920"/>
            <a:ext cx="12710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TCAS /
university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840480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05672" y="3931920"/>
            <a:ext cx="12710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Work /
training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5560" y="3840480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68712" y="3931920"/>
            <a:ext cx="12710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Continue
vocational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2040" y="5138928"/>
            <a:ext cx="6537960" cy="67665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8928" y="5358384"/>
            <a:ext cx="607161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D37A"/>
                </a:solidFill>
                <a:latin typeface="Aptos"/>
              </a:rPr>
              <a:t>Criteria vary by school, campus, programme and admission year.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394960"/>
            <a:ext cx="3611880" cy="54864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559552"/>
            <a:ext cx="33649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D37A"/>
                </a:solidFill>
                <a:latin typeface="Aptos"/>
              </a:rPr>
              <a:t>PRIMARY USER RESEARCH: NOT YET RUN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Thai curriculum, VEC catalogue, TCAS70; FutureMe source audit (24 Jul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The cost is mismatch—and a moving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evidence supports earlier exploration, not a promise of one perfect match.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03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3246120" cy="2423160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73152" cy="2423160"/>
          </a:xfrm>
          <a:prstGeom prst="rect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83664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6D5EF6"/>
                </a:solidFill>
                <a:latin typeface="Aptos"/>
              </a:rPr>
              <a:t>56%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79192"/>
            <a:ext cx="267004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5FA"/>
                </a:solidFill>
                <a:latin typeface="Aptos"/>
              </a:rPr>
              <a:t>work outside their field of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6027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 spc="350">
                <a:solidFill>
                  <a:srgbClr val="77778F"/>
                </a:solidFill>
                <a:latin typeface="Aptos"/>
              </a:rPr>
              <a:t>TDRI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691640"/>
            <a:ext cx="3246120" cy="2423160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691640"/>
            <a:ext cx="73152" cy="2423160"/>
          </a:xfrm>
          <a:prstGeom prst="rect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883664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C13BF0"/>
                </a:solidFill>
                <a:latin typeface="Aptos"/>
              </a:rPr>
              <a:t>27%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679192"/>
            <a:ext cx="267004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5FA"/>
                </a:solidFill>
                <a:latin typeface="Aptos"/>
              </a:rPr>
              <a:t>work below their skill or qualification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 spc="350">
                <a:solidFill>
                  <a:srgbClr val="77778F"/>
                </a:solidFill>
                <a:latin typeface="Aptos"/>
              </a:rPr>
              <a:t>SAME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0688" y="1691640"/>
            <a:ext cx="3246120" cy="2423160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90688" y="1691640"/>
            <a:ext cx="73152" cy="2423160"/>
          </a:xfrm>
          <a:prstGeom prst="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883664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4FE3C1"/>
                </a:solidFill>
                <a:latin typeface="Aptos"/>
              </a:rPr>
              <a:t>39%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679192"/>
            <a:ext cx="267004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5FA"/>
                </a:solidFill>
                <a:latin typeface="Aptos"/>
              </a:rPr>
              <a:t>of core skills expected to change by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6027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 spc="350">
                <a:solidFill>
                  <a:srgbClr val="77778F"/>
                </a:solidFill>
                <a:latin typeface="Aptos"/>
              </a:rPr>
              <a:t>WEF EMPLOYER SURVEY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645152"/>
            <a:ext cx="9985248" cy="91440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4937760"/>
            <a:ext cx="9418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E3C1"/>
                </a:solidFill>
                <a:latin typeface="Aptos"/>
              </a:rPr>
              <a:t>Design implication: </a:t>
            </a:r>
            <a:r>
              <a:rPr sz="1800" b="1" i="0">
                <a:solidFill>
                  <a:srgbClr val="F5F5FA"/>
                </a:solidFill>
                <a:latin typeface="Aptos"/>
              </a:rPr>
              <a:t>help students test, compare and revise—before a direction becomes expensive to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806440"/>
            <a:ext cx="10104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Caution: the TDRI public page describes a broadly highly educated group and does not expose its denominator or method. These figures are problem context, not a FutureMe performance baseline.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TDRI (2025); WEF Future of Jobs (2025); scopes differ and are not combined causally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CURRENT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Information exists. Interpretation is fragmented.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gap is not another list—it is a visible chain from self-knowledge to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04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6D5EF6"/>
                </a:solidFill>
                <a:latin typeface="Aptos"/>
              </a:rPr>
              <a:t>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6D5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103120"/>
            <a:ext cx="1819656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School plans
TCAS pages
Career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235915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5544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C13BF0"/>
                </a:solidFill>
                <a:latin typeface="Aptos"/>
              </a:rPr>
              <a:t>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C13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1" y="2103120"/>
            <a:ext cx="1819656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Static interest
questionnaire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35915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5544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6B6B"/>
                </a:solidFill>
                <a:latin typeface="Aptos"/>
              </a:rPr>
              <a:t>RESULT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2103120"/>
            <a:ext cx="1819656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Generic career
or faculty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35915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5544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D37A"/>
                </a:solidFill>
                <a:latin typeface="Aptos"/>
              </a:rPr>
              <a:t>AFTER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5632" y="2103120"/>
            <a:ext cx="1819656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Still unsure
what to 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675887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500">
                <a:solidFill>
                  <a:srgbClr val="4FE3C1"/>
                </a:solidFill>
                <a:latin typeface="Aptos"/>
              </a:rPr>
              <a:t>What is missing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41648"/>
            <a:ext cx="10808208" cy="1133856"/>
          </a:xfrm>
          <a:prstGeom prst="roundRect">
            <a:avLst/>
          </a:prstGeom>
          <a:solidFill>
            <a:srgbClr val="202033"/>
          </a:solidFill>
          <a:ln w="15875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6D5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42112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D5EF6"/>
                </a:solidFill>
                <a:latin typeface="Aptos"/>
              </a:rPr>
              <a:t>WHAT I SAID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36168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C13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442112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3BF0"/>
                </a:solidFill>
                <a:latin typeface="Aptos"/>
              </a:rPr>
              <a:t>WHAT I TRIED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79" y="436168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42112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FE3C1"/>
                </a:solidFill>
                <a:latin typeface="Aptos"/>
              </a:rPr>
              <a:t>WHY THIS 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6168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442112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D37A"/>
                </a:solidFill>
                <a:latin typeface="Aptos"/>
              </a:rPr>
              <a:t>WHAT TO DO NEXT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55955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8A8BE"/>
                </a:solidFill>
                <a:latin typeface="Aptos"/>
              </a:rPr>
              <a:t>Admission criteria expire. Career-to-programme links are many-to-many. A trustworthy product must show scope, date and source.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FutureMe Data/RAG_DATA_SPEC; curriculum and source-audit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The idea evolved from matching to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Each research input changed a product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05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Oval 8"/>
          <p:cNvSpPr/>
          <p:nvPr/>
        </p:nvSpPr>
        <p:spPr>
          <a:xfrm>
            <a:off x="1207007" y="1828800"/>
            <a:ext cx="658368" cy="65836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901952"/>
            <a:ext cx="512063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6B6B"/>
                </a:solidFill>
                <a:latin typeface="Aptos"/>
              </a:rPr>
              <a:t>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181051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Study–work mismatch
is not one-to-one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96596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3447288" y="1828800"/>
            <a:ext cx="658368" cy="658368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901952"/>
            <a:ext cx="512063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651760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6D5EF6"/>
                </a:solidFill>
                <a:latin typeface="Aptos"/>
              </a:rPr>
              <a:t>THEORY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99232"/>
            <a:ext cx="181051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RIASEC gives a
six-part interest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196596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5687568" y="1828800"/>
            <a:ext cx="658368" cy="658368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1901952"/>
            <a:ext cx="512063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651760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C13BF0"/>
                </a:solidFill>
                <a:latin typeface="Aptos"/>
              </a:rPr>
              <a:t>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999232"/>
            <a:ext cx="181051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Socratic + STAR
surface lived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196596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7927848" y="1828800"/>
            <a:ext cx="658368" cy="658368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1901952"/>
            <a:ext cx="512063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651760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4FE3C1"/>
                </a:solidFill>
                <a:latin typeface="Aptos"/>
              </a:rPr>
              <a:t>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2999232"/>
            <a:ext cx="181051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A mini mission
tests self-report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196596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10168128" y="1828800"/>
            <a:ext cx="658368" cy="658368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1901952"/>
            <a:ext cx="512063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651760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D37A"/>
                </a:solidFill>
                <a:latin typeface="Aptos"/>
              </a:rPr>
              <a:t>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2999232"/>
            <a:ext cx="181051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Top 5 programmes +
a 30-day experiment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47088" y="4663440"/>
            <a:ext cx="8503920" cy="84124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4831" y="491947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5F5FA"/>
                </a:solidFill>
                <a:latin typeface="Aptos"/>
              </a:rPr>
              <a:t>FutureMe is an </a:t>
            </a:r>
            <a:r>
              <a:rPr sz="2100" b="1" i="0">
                <a:solidFill>
                  <a:srgbClr val="4FE3C1"/>
                </a:solidFill>
                <a:latin typeface="Aptos"/>
              </a:rPr>
              <a:t>evidence loop</a:t>
            </a:r>
            <a:r>
              <a:rPr sz="2100" b="1" i="0">
                <a:solidFill>
                  <a:srgbClr val="F5F5FA"/>
                </a:solidFill>
                <a:latin typeface="Aptos"/>
              </a:rPr>
              <a:t>, not a career oracle.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5760720"/>
            <a:ext cx="7360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Conversation frameworks guide prompts; they do not validate the questionnaire.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FutureMe research summaries; Holland RIASEC; interview framework 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RESEARCH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Research shaped the model—and what we rejected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Only constructs that change the product’s output earn a place in the assessment.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06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Hexagon 8"/>
          <p:cNvSpPr/>
          <p:nvPr/>
        </p:nvSpPr>
        <p:spPr>
          <a:xfrm>
            <a:off x="841248" y="1901952"/>
            <a:ext cx="3200400" cy="3200400"/>
          </a:xfrm>
          <a:prstGeom prst="hexagon">
            <a:avLst/>
          </a:prstGeom>
          <a:solidFill>
            <a:srgbClr val="171724"/>
          </a:solidFill>
          <a:ln w="20320">
            <a:solidFill>
              <a:srgbClr val="6D5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9928" y="28895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5FA"/>
                </a:solidFill>
                <a:latin typeface="Aptos"/>
              </a:rPr>
              <a:t>RIASEC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1368" y="340156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one vector
six interests</a:t>
            </a:r>
          </a:p>
        </p:txBody>
      </p:sp>
      <p:sp>
        <p:nvSpPr>
          <p:cNvPr id="12" name="Oval 11"/>
          <p:cNvSpPr/>
          <p:nvPr/>
        </p:nvSpPr>
        <p:spPr>
          <a:xfrm>
            <a:off x="2029968" y="1527048"/>
            <a:ext cx="420624" cy="42062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600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98424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Hands-on</a:t>
            </a:r>
          </a:p>
        </p:txBody>
      </p:sp>
      <p:sp>
        <p:nvSpPr>
          <p:cNvPr id="15" name="Oval 14"/>
          <p:cNvSpPr/>
          <p:nvPr/>
        </p:nvSpPr>
        <p:spPr>
          <a:xfrm>
            <a:off x="3429000" y="2331720"/>
            <a:ext cx="420624" cy="420624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2152" y="24048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788920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Investigate</a:t>
            </a:r>
          </a:p>
        </p:txBody>
      </p:sp>
      <p:sp>
        <p:nvSpPr>
          <p:cNvPr id="18" name="Oval 17"/>
          <p:cNvSpPr/>
          <p:nvPr/>
        </p:nvSpPr>
        <p:spPr>
          <a:xfrm>
            <a:off x="3383280" y="4041648"/>
            <a:ext cx="420624" cy="420624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41148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49884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Create</a:t>
            </a:r>
          </a:p>
        </p:txBody>
      </p:sp>
      <p:sp>
        <p:nvSpPr>
          <p:cNvPr id="21" name="Oval 20"/>
          <p:cNvSpPr/>
          <p:nvPr/>
        </p:nvSpPr>
        <p:spPr>
          <a:xfrm>
            <a:off x="1993392" y="4828032"/>
            <a:ext cx="420624" cy="420624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4792" y="528523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Help</a:t>
            </a:r>
          </a:p>
        </p:txBody>
      </p:sp>
      <p:sp>
        <p:nvSpPr>
          <p:cNvPr id="24" name="Oval 23"/>
          <p:cNvSpPr/>
          <p:nvPr/>
        </p:nvSpPr>
        <p:spPr>
          <a:xfrm>
            <a:off x="475488" y="4023360"/>
            <a:ext cx="420624" cy="420624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096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4480560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Lead</a:t>
            </a:r>
          </a:p>
        </p:txBody>
      </p:sp>
      <p:sp>
        <p:nvSpPr>
          <p:cNvPr id="27" name="Oval 26"/>
          <p:cNvSpPr/>
          <p:nvPr/>
        </p:nvSpPr>
        <p:spPr>
          <a:xfrm>
            <a:off x="475488" y="2313432"/>
            <a:ext cx="420624" cy="420624"/>
          </a:xfrm>
          <a:prstGeom prst="ellipse">
            <a:avLst/>
          </a:prstGeom>
          <a:solidFill>
            <a:srgbClr val="A8A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3865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" y="277063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Organise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1773936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1938528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4FE3C1"/>
                </a:solidFill>
                <a:latin typeface="Aptos"/>
              </a:rPr>
              <a:t>INCLUDED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1901952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RIASEC interest vector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5632" y="1920240"/>
            <a:ext cx="23957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A starting hypothesis for exploration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2761488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10912" y="2926080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6D5EF6"/>
                </a:solidFill>
                <a:latin typeface="Aptos"/>
              </a:rPr>
              <a:t>DESIGN INPUT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8895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Socratic prompts + STAR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5632" y="2907792"/>
            <a:ext cx="23957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Conversation scaffolds—not psychometrics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3749039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10912" y="39136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FFD37A"/>
                </a:solidFill>
                <a:latin typeface="Aptos"/>
              </a:rPr>
              <a:t>DEFERRED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3877055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Work values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85632" y="3895344"/>
            <a:ext cx="23957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Route catalogue lacks value profiles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54880" y="4736592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0912" y="4901183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FF6B6B"/>
                </a:solidFill>
                <a:latin typeface="Aptos"/>
              </a:rPr>
              <a:t>REJECTED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4864607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MBTI-type matching · learning styles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4882896"/>
            <a:ext cx="23957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Unstable types / weak evidence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54880" y="5742432"/>
            <a:ext cx="6400800" cy="43891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83480" y="5870448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D37A"/>
                </a:solidFill>
                <a:latin typeface="Aptos"/>
              </a:rPr>
              <a:t>The 41-item instrument is research-informed—but has never been validated.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Holland (1997); O*NET Interest Profiler Manual; FutureMe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Five product rules follow directly from the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Research is useful only when it changes what the product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07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D5EF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645920"/>
            <a:ext cx="3703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Interests still move in adolescence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160020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D5EF6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1645920"/>
            <a:ext cx="5413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Offer hypotheses—not a verdict; keep routes reversible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57984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55117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13BF0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487168"/>
            <a:ext cx="3703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Self-report is only one 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44144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13BF0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2487168"/>
            <a:ext cx="5413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Add a scenario mission that can agree or disagree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99232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9242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E3C1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3328416"/>
            <a:ext cx="3703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AI recommendations can become opaque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328269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E3C1"/>
                </a:solidFill>
                <a:latin typeface="Aptos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3328416"/>
            <a:ext cx="5413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Rules decide; show evidence, unknowns and contradictions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840480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336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37A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4169664"/>
            <a:ext cx="3703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Admissions and labour data expire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412394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D37A"/>
                </a:solidFill>
                <a:latin typeface="Aptos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4169664"/>
            <a:ext cx="5413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Carry source, scope, last-checked date and freshness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681728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507492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6B6B"/>
                </a:solidFill>
                <a:latin typeface="Apto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5010912"/>
            <a:ext cx="3703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The users are minors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496519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6B6B"/>
                </a:solidFill>
                <a:latin typeface="Aptos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5010912"/>
            <a:ext cx="5413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Guest-first, browser-local; consent before saving or sharing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522976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3312" y="5888736"/>
            <a:ext cx="9235440" cy="420624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72768" y="5998464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E3C1"/>
                </a:solidFill>
                <a:latin typeface="Aptos"/>
              </a:rPr>
              <a:t>Private by default · Evidence before confidence · One useful next 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Source audit, RAG data spec, interview research, privacy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FutureMe turns reflection into a low-stakes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experience accumulates evidence instead of manufacturing certainty.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08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Oval 8"/>
          <p:cNvSpPr/>
          <p:nvPr/>
        </p:nvSpPr>
        <p:spPr>
          <a:xfrm>
            <a:off x="1243584" y="1828800"/>
            <a:ext cx="603504" cy="603504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7004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6D5EF6"/>
                </a:solidFill>
                <a:latin typeface="Aptos"/>
              </a:rPr>
              <a:t>REFLECT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035808"/>
            <a:ext cx="1828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41-item profile:
interest + 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199339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3529584" y="1828800"/>
            <a:ext cx="603504" cy="603504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67004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C13BF0"/>
                </a:solidFill>
                <a:latin typeface="Aptos"/>
              </a:rPr>
              <a:t>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3035808"/>
            <a:ext cx="1828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One scenario
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199339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5815583" y="1828800"/>
            <a:ext cx="603504" cy="603504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8736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267004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4FE3C1"/>
                </a:solidFill>
                <a:latin typeface="Aptos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2" y="3035808"/>
            <a:ext cx="1828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Top 5 real
programmes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4" y="199339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8101583" y="1828800"/>
            <a:ext cx="603504" cy="603504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67004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FFD37A"/>
                </a:solidFill>
                <a:latin typeface="Aptos"/>
              </a:rPr>
              <a:t>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9792" y="3035808"/>
            <a:ext cx="1828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Evidence · trade-offs
unknowns · 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199339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10387584" y="1828800"/>
            <a:ext cx="603504" cy="60350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60736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267004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FF6B6B"/>
                </a:solidFill>
                <a:latin typeface="Aptos"/>
              </a:rPr>
              <a:t>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35808"/>
            <a:ext cx="1828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A reversible
30-day plan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57984" y="4572000"/>
            <a:ext cx="7863840" cy="91440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800600"/>
            <a:ext cx="7132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700">
                <a:solidFill>
                  <a:srgbClr val="4FE3C1"/>
                </a:solidFill>
                <a:latin typeface="Aptos"/>
              </a:rPr>
              <a:t>EVIDENCE — NOT CERTAINTY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513892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5F5FA"/>
                </a:solidFill>
                <a:latin typeface="Aptos"/>
              </a:rPr>
              <a:t>A learner can revise answers, override the mission, compare routes or stop.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implemented FutureMe guest journey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Each step gives the learner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output at every stage is provisional, inspectable and editable.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09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43000" y="2404872"/>
            <a:ext cx="9784080" cy="0"/>
          </a:xfrm>
          <a:prstGeom prst="line">
            <a:avLst/>
          </a:prstGeom>
          <a:ln w="2540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261872" y="2057400"/>
            <a:ext cx="694944" cy="694944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19385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What activities
draw 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114800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Provisional
RIASEC vector</a:t>
            </a:r>
          </a:p>
        </p:txBody>
      </p:sp>
      <p:sp>
        <p:nvSpPr>
          <p:cNvPr id="15" name="Oval 14"/>
          <p:cNvSpPr/>
          <p:nvPr/>
        </p:nvSpPr>
        <p:spPr>
          <a:xfrm>
            <a:off x="3529584" y="2057400"/>
            <a:ext cx="694944" cy="694944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2999232"/>
            <a:ext cx="19385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Does action
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7792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4114800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Mission can
corroborate or contradict</a:t>
            </a:r>
          </a:p>
        </p:txBody>
      </p:sp>
      <p:sp>
        <p:nvSpPr>
          <p:cNvPr id="20" name="Oval 19"/>
          <p:cNvSpPr/>
          <p:nvPr/>
        </p:nvSpPr>
        <p:spPr>
          <a:xfrm>
            <a:off x="5797296" y="2057400"/>
            <a:ext cx="694944" cy="694944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0448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999232"/>
            <a:ext cx="19385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What is
feasible now?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75504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85232" y="4114800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Cost · location ·
timing filters</a:t>
            </a:r>
          </a:p>
        </p:txBody>
      </p:sp>
      <p:sp>
        <p:nvSpPr>
          <p:cNvPr id="25" name="Oval 24"/>
          <p:cNvSpPr/>
          <p:nvPr/>
        </p:nvSpPr>
        <p:spPr>
          <a:xfrm>
            <a:off x="8065008" y="2057400"/>
            <a:ext cx="694944" cy="694944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2999232"/>
            <a:ext cx="19385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Why these
options?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43216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52944" y="4114800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Reasons · evidence ·
unknowns · sources</a:t>
            </a:r>
          </a:p>
        </p:txBody>
      </p:sp>
      <p:sp>
        <p:nvSpPr>
          <p:cNvPr id="30" name="Oval 29"/>
          <p:cNvSpPr/>
          <p:nvPr/>
        </p:nvSpPr>
        <p:spPr>
          <a:xfrm>
            <a:off x="10332719" y="2057400"/>
            <a:ext cx="694944" cy="69494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0587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0928" y="2999232"/>
            <a:ext cx="19385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What can I
test next?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10928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5" y="4114800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30-day reversible
experiment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" y="5257800"/>
            <a:ext cx="10058400" cy="603504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5449824"/>
            <a:ext cx="9646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FE3C1"/>
                </a:solidFill>
                <a:latin typeface="Aptos"/>
              </a:rPr>
              <a:t>CONTROL LOOP  ·  change answers  ·  choose another mission  ·  compare again  ·  keep, park or drop a route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implemented UX flow and session behavior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AI supports the conversation—not 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Current capabilities and future architecture are deliberately separated.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10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527048"/>
            <a:ext cx="1874519" cy="292608"/>
          </a:xfrm>
          <a:prstGeom prst="round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540763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7070D"/>
                </a:solidFill>
                <a:latin typeface="Aptos"/>
              </a:rPr>
              <a:t>TODAY · IMPLEMENTED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48256"/>
            <a:ext cx="3383280" cy="65836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85416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5FA"/>
                </a:solidFill>
                <a:latin typeface="Aptos"/>
              </a:rPr>
              <a:t>Learner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7432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127248"/>
            <a:ext cx="3383280" cy="658368"/>
          </a:xfrm>
          <a:prstGeom prst="roundRect">
            <a:avLst/>
          </a:prstGeom>
          <a:solidFill>
            <a:srgbClr val="6D5EF6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6440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5FA"/>
                </a:solidFill>
                <a:latin typeface="Aptos"/>
              </a:rPr>
              <a:t>Deterministic
TypeScript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822191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3383280" cy="658368"/>
          </a:xfrm>
          <a:prstGeom prst="roundRect">
            <a:avLst/>
          </a:prstGeom>
          <a:solidFill>
            <a:srgbClr val="4FE3C1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4340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7070D"/>
                </a:solidFill>
                <a:latin typeface="Aptos"/>
              </a:rPr>
              <a:t>Top 5 programmes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230368"/>
            <a:ext cx="2816352" cy="65836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C13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5296" y="5376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A8BE"/>
                </a:solidFill>
                <a:latin typeface="Aptos"/>
              </a:rPr>
              <a:t>Optional LLM: reword reasons only
Off by default · no learner answers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99432" y="1536192"/>
            <a:ext cx="0" cy="4453128"/>
          </a:xfrm>
          <a:prstGeom prst="line">
            <a:avLst/>
          </a:prstGeom>
          <a:ln w="16510">
            <a:solidFill>
              <a:srgbClr val="3434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047488" y="1527048"/>
            <a:ext cx="1700784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93207" y="1540763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D37A"/>
                </a:solidFill>
                <a:latin typeface="Aptos"/>
              </a:rPr>
              <a:t>FUTURE · PLANNED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214884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2313432"/>
            <a:ext cx="14264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Adaptive Thai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39572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14884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2313432"/>
            <a:ext cx="14264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Structured profile extraction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67928" y="239572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2148840"/>
            <a:ext cx="1645920" cy="841248"/>
          </a:xfrm>
          <a:prstGeom prst="roundRect">
            <a:avLst/>
          </a:prstGeom>
          <a:solidFill>
            <a:srgbClr val="6D5EF6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87967" y="2313432"/>
            <a:ext cx="14264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Rule engine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379476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959352"/>
            <a:ext cx="14264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Audited RAG retrieval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404164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03720" y="379476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13448" y="3959352"/>
            <a:ext cx="14264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Evidence-grounded 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04164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379476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87967" y="3959352"/>
            <a:ext cx="14264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Interactive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035808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488" y="5257800"/>
            <a:ext cx="5513832" cy="62179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0" y="546811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E3C1"/>
                </a:solidFill>
                <a:latin typeface="Aptos"/>
              </a:rPr>
              <a:t>Rules decide. </a:t>
            </a:r>
            <a:r>
              <a:rPr sz="1600" b="1" i="0">
                <a:solidFill>
                  <a:srgbClr val="FFD37A"/>
                </a:solidFill>
                <a:latin typeface="Aptos"/>
              </a:rPr>
              <a:t>Retrieval grounds. </a:t>
            </a:r>
            <a:r>
              <a:rPr sz="1600" b="1" i="0">
                <a:solidFill>
                  <a:srgbClr val="F5F5FA"/>
                </a:solidFill>
                <a:latin typeface="Aptos"/>
              </a:rPr>
              <a:t>AI explains.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current code + planned RAG architecture; Qdrant/AIS/NDLP are not implemented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RECOMMENDATION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Every number is measured, derived, or declared missing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Same answers, same programmes. No model touches the ranking.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11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64208"/>
            <a:ext cx="1325880" cy="84124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47088"/>
            <a:ext cx="11795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41 items
+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1920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2032" y="1664208"/>
            <a:ext cx="1325880" cy="841248"/>
          </a:xfrm>
          <a:prstGeom prst="roundRect">
            <a:avLst/>
          </a:prstGeom>
          <a:solidFill>
            <a:srgbClr val="6D5EF6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5184" y="1847088"/>
            <a:ext cx="11795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RIASEC
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920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664208"/>
            <a:ext cx="1325880" cy="841248"/>
          </a:xfrm>
          <a:prstGeom prst="roundRect">
            <a:avLst/>
          </a:prstGeom>
          <a:solidFill>
            <a:srgbClr val="C13BF0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847088"/>
            <a:ext cx="11795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Kelley
shrinkage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920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1664208"/>
            <a:ext cx="1325880" cy="841248"/>
          </a:xfrm>
          <a:prstGeom prst="roundRect">
            <a:avLst/>
          </a:prstGeom>
          <a:solidFill>
            <a:srgbClr val="4FE3C1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47088"/>
            <a:ext cx="11795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7070D"/>
                </a:solidFill>
                <a:latin typeface="Aptos"/>
              </a:rPr>
              <a:t>Core fit
cos + efficacy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5" y="1920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1664208"/>
            <a:ext cx="1325880" cy="841248"/>
          </a:xfrm>
          <a:prstGeom prst="roundRect">
            <a:avLst/>
          </a:prstGeom>
          <a:solidFill>
            <a:srgbClr val="FFD37A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0768" y="1847088"/>
            <a:ext cx="11795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7070D"/>
                </a:solidFill>
                <a:latin typeface="Aptos"/>
              </a:rPr>
              <a:t>Context
capped +15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7504" y="1920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96144" y="1664208"/>
            <a:ext cx="1325880" cy="841248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69296" y="1847088"/>
            <a:ext cx="11795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Top 5
programmes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898648"/>
            <a:ext cx="8595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INTEREST VECTORS ARE MEASURED, NOT ASSIGNED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255264"/>
            <a:ext cx="10789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A8BE"/>
                </a:solidFill>
                <a:latin typeface="Aptos"/>
              </a:rPr>
              <a:t>A programme’s six-dimension profile is the mean of the O*NET occupations in its official ISCED-F field — 923 occupations, measured. The twelve hand-written vectors it replaced had the wrong dominant dimension in four of nine comparable fields.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68496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FFD37A"/>
                </a:solidFill>
                <a:latin typeface="Aptos"/>
              </a:rPr>
              <a:t>ACADEMIC FIT AND CONTEXT STAY APART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43159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A8BE"/>
                </a:solidFill>
                <a:latin typeface="Aptos"/>
              </a:rPr>
              <a:t>Final = CoreFit + 15 × ContextFit.  Distance, cost and intake reorder programmes of similar fit; they cannot lift a poor fit above a strong one, because 15 points is smaller than any gap that matters.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956048"/>
            <a:ext cx="2450592" cy="969264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512064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“3” = 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" y="5449824"/>
            <a:ext cx="2157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Aptos"/>
              </a:rPr>
              <a:t>an unsure answer is not 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4956048"/>
            <a:ext cx="2450592" cy="969264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21024" y="512064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FLAT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21024" y="5449824"/>
            <a:ext cx="2157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Aptos"/>
              </a:rPr>
              <a:t>profile → no ranking (Holland)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956048"/>
            <a:ext cx="2450592" cy="969264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9944" y="512064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NULL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9944" y="5449824"/>
            <a:ext cx="2157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Aptos"/>
              </a:rPr>
              <a:t>tuition unknown → link, not a guess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4956048"/>
            <a:ext cx="2450592" cy="969264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512064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TRACE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98864" y="5449824"/>
            <a:ext cx="2157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Aptos"/>
              </a:rPr>
              <a:t>every figure opens to its source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lib/recommend · the Python reference in 01_Research/Recommendation_Engine is pinned to it by 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23,257 real programmes, and the gaps named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Every figure traces to a government register. Nothing on a card is an estimate.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12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27632"/>
            <a:ext cx="2615184" cy="14813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79222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FE3C1"/>
                </a:solidFill>
                <a:latin typeface="Aptos"/>
              </a:rPr>
              <a:t>23,257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Sukhumvit Set"/>
              </a:rPr>
              <a:t>หลักสูตรจริง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61518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ปวช. 16,908 · ปวส. · ป.ตรี 6,349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627632"/>
            <a:ext cx="2615184" cy="14813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179222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D5EF6"/>
                </a:solidFill>
                <a:latin typeface="Aptos"/>
              </a:rPr>
              <a:t>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2304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Sukhumvit Set"/>
              </a:rPr>
              <a:t>สถาบัน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261518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840 วิทยาลัยอาชีวะ · 153 มหาวิทยาลัย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9672" y="1627632"/>
            <a:ext cx="2615184" cy="14813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84264" y="179222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13BF0"/>
                </a:solidFill>
                <a:latin typeface="Aptos"/>
              </a:rPr>
              <a:t>923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4264" y="2304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Sukhumvit Set"/>
              </a:rPr>
              <a:t>อาชีพ O*NET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61518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RIASEC วัดจริง · 269 สาย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6608" y="1627632"/>
            <a:ext cx="2615184" cy="14813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79222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6B6B"/>
                </a:solidFill>
                <a:latin typeface="Aptos"/>
              </a:rPr>
              <a:t>15,586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304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Sukhumvit Set"/>
              </a:rPr>
              <a:t>มีผลการมีงานทำ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1518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สอศ. 2566 · แสดงฐานเสมอ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36499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SOURCES · ALL GOVERNMENT REGISTERS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3712463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Sukhumvit Set"/>
              </a:rPr>
              <a:t>แผนการรับนักศึกษา (data.go.th) · หลักสูตรและรหัส ISCED-F (อว.) · ต้นทุนต่อหัวรายหลักสูตร (อว.)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4023359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Sukhumvit Set"/>
              </a:rPr>
              <a:t>นักเรียนอาชีวะรายวิทยาลัยรายสาขา (สอศ. 2568) · ภาวะการมีงานทำ (สอศ. 2566) · ระยะทางถนนจริง OSRM 77 จังหวัด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334255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Sukhumvit Set"/>
              </a:rPr>
              <a:t>O*NET 29.1 Interests (US DOL, CC BY 4.0) · ทะเบียนที่ตั้งสถานศึกษา อว. และ สอศ.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773168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FFD37A"/>
                </a:solidFill>
                <a:latin typeface="Aptos"/>
              </a:rPr>
              <a:t>WHAT WE DO NOT HAVE — AND DO NOT ESTIMATE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138928"/>
            <a:ext cx="3383280" cy="85953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" y="5266944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D37A"/>
                </a:solidFill>
                <a:latin typeface="Sukhumvit Set"/>
              </a:rPr>
              <a:t>ค่าเทอมจริง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" y="5559552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ไม่มีชุดข้อมูลเปิด → ลิงก์ประกาศของสถาบัน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138928"/>
            <a:ext cx="3383280" cy="85953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7992" y="5266944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D37A"/>
                </a:solidFill>
                <a:latin typeface="Sukhumvit Set"/>
              </a:rPr>
              <a:t>รอบ TCAS · คะแนน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7992" y="5559552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mytcas ไม่มี API → ยังตอบไม่ได้ บอกตรง 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5138928"/>
            <a:ext cx="3383280" cy="85953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5266944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D37A"/>
                </a:solidFill>
                <a:latin typeface="Sukhumvit Set"/>
              </a:rPr>
              <a:t>ทุนการศึกษา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2" y="5559552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8BE"/>
                </a:solidFill>
                <a:latin typeface="Sukhumvit Set"/>
              </a:rPr>
              <a:t>ไม่มีทะเบียนกลาง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A blank field is a finding. Filling it with an average would be the failure this project keeps arguing against.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A complete prototype already runs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These are screenshots from the implemented app—not concept mockups.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13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" y="1572768"/>
            <a:ext cx="3310128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terview-desktop.png"/>
          <p:cNvPicPr>
            <a:picLocks noChangeAspect="1"/>
          </p:cNvPicPr>
          <p:nvPr/>
        </p:nvPicPr>
        <p:blipFill>
          <a:blip r:embed="rId4"/>
          <a:srcRect l="11145" r="11145"/>
          <a:stretch>
            <a:fillRect/>
          </a:stretch>
        </p:blipFill>
        <p:spPr>
          <a:xfrm>
            <a:off x="658368" y="1618488"/>
            <a:ext cx="3218688" cy="32552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8096" y="1728216"/>
            <a:ext cx="100584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17419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A"/>
                </a:solidFill>
                <a:latin typeface="Aptos"/>
              </a:rPr>
              <a:t>1 · ASSESS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1768"/>
            <a:ext cx="3218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One item at a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8" y="1572768"/>
            <a:ext cx="3310128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outes-desktop.png"/>
          <p:cNvPicPr>
            <a:picLocks noChangeAspect="1"/>
          </p:cNvPicPr>
          <p:nvPr/>
        </p:nvPicPr>
        <p:blipFill>
          <a:blip r:embed="rId5"/>
          <a:srcRect b="29182"/>
          <a:stretch>
            <a:fillRect/>
          </a:stretch>
        </p:blipFill>
        <p:spPr>
          <a:xfrm>
            <a:off x="4178808" y="1618488"/>
            <a:ext cx="3218688" cy="32552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288536" y="1728216"/>
            <a:ext cx="100584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4256" y="17419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A"/>
                </a:solidFill>
                <a:latin typeface="Aptos"/>
              </a:rPr>
              <a:t>3 · EXPLORE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5001768"/>
            <a:ext cx="3218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Several hypotheses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53527" y="1572768"/>
            <a:ext cx="3310128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lan-desktop.png"/>
          <p:cNvPicPr>
            <a:picLocks noChangeAspect="1"/>
          </p:cNvPicPr>
          <p:nvPr/>
        </p:nvPicPr>
        <p:blipFill>
          <a:blip r:embed="rId6"/>
          <a:srcRect b="36198"/>
          <a:stretch>
            <a:fillRect/>
          </a:stretch>
        </p:blipFill>
        <p:spPr>
          <a:xfrm>
            <a:off x="7699248" y="1618488"/>
            <a:ext cx="3218688" cy="3255264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808975" y="1728216"/>
            <a:ext cx="100584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54696" y="17419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A"/>
                </a:solidFill>
                <a:latin typeface="Aptos"/>
              </a:rPr>
              <a:t>5 · 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5001768"/>
            <a:ext cx="3218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30-day experiment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623560"/>
            <a:ext cx="169164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5637276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TH / EN + THEMES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9464" y="5623560"/>
            <a:ext cx="128016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15184" y="5637276"/>
            <a:ext cx="118871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3 MISSIONS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14216" y="5623560"/>
            <a:ext cx="214884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59936" y="5637276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6 ILLUSTRATIVE ROUTES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5623560"/>
            <a:ext cx="150876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5637276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BROWSER-LOCAL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5623560"/>
            <a:ext cx="114300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563727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234 TESTS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8592" y="5623560"/>
            <a:ext cx="96012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63727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20 E2E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071616"/>
            <a:ext cx="6355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D37A"/>
                </a:solidFill>
                <a:latin typeface="Aptos"/>
              </a:rPr>
              <a:t>Route constraints and mission rubrics remain illustrative and unvalidated.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Verification rerun 30 Jul 2026: npm run verify + 20 Playwright journeys passed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The difference is what happens after the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FutureMe changes a result into a testable next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214884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8648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8A8BE"/>
                </a:solidFill>
                <a:latin typeface="Aptos"/>
              </a:rPr>
              <a:t>TRADITIONAL CAREER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22128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359152"/>
            <a:ext cx="3063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Questionnaire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78892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31272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273552"/>
            <a:ext cx="3063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Score /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70332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0416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187952"/>
            <a:ext cx="3063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Career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61772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" y="49560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5102352"/>
            <a:ext cx="3063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Stops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1572768"/>
            <a:ext cx="2148840" cy="292608"/>
          </a:xfrm>
          <a:prstGeom prst="round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59" y="158648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7070D"/>
                </a:solidFill>
                <a:latin typeface="Aptos"/>
              </a:rPr>
              <a:t>FUTUREME EVIDENCE LOOP</a:t>
            </a:r>
          </a:p>
        </p:txBody>
      </p:sp>
      <p:sp>
        <p:nvSpPr>
          <p:cNvPr id="24" name="Oval 23"/>
          <p:cNvSpPr/>
          <p:nvPr/>
        </p:nvSpPr>
        <p:spPr>
          <a:xfrm>
            <a:off x="5221224" y="2267712"/>
            <a:ext cx="530352" cy="530352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2340864"/>
            <a:ext cx="384047" cy="3840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9718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D5EF6"/>
                </a:solidFill>
                <a:latin typeface="Aptos"/>
              </a:rPr>
              <a:t>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310128"/>
            <a:ext cx="1261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provisional 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25896" y="236829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6592824" y="2267712"/>
            <a:ext cx="530352" cy="530352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65976" y="2340864"/>
            <a:ext cx="384047" cy="3840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9718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13BF0"/>
                </a:solidFill>
                <a:latin typeface="Aptos"/>
              </a:rPr>
              <a:t>Try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310128"/>
            <a:ext cx="1261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independent 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236829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4" name="Oval 33"/>
          <p:cNvSpPr/>
          <p:nvPr/>
        </p:nvSpPr>
        <p:spPr>
          <a:xfrm>
            <a:off x="7964423" y="2267712"/>
            <a:ext cx="530352" cy="530352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37575" y="2340864"/>
            <a:ext cx="384047" cy="3840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29718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FE3C1"/>
                </a:solidFill>
                <a:latin typeface="Aptos"/>
              </a:rPr>
              <a:t>Explain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3310128"/>
            <a:ext cx="1261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reasons + unknowns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69096" y="236829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9" name="Oval 38"/>
          <p:cNvSpPr/>
          <p:nvPr/>
        </p:nvSpPr>
        <p:spPr>
          <a:xfrm>
            <a:off x="9336024" y="2267712"/>
            <a:ext cx="530352" cy="530352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09176" y="2340864"/>
            <a:ext cx="384047" cy="3840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29718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D37A"/>
                </a:solidFill>
                <a:latin typeface="Aptos"/>
              </a:rPr>
              <a:t>Compare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19" y="3310128"/>
            <a:ext cx="1261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constraints + trade-offs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40696" y="236829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44" name="Oval 43"/>
          <p:cNvSpPr/>
          <p:nvPr/>
        </p:nvSpPr>
        <p:spPr>
          <a:xfrm>
            <a:off x="10707624" y="2267712"/>
            <a:ext cx="530352" cy="53035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780776" y="2340864"/>
            <a:ext cx="384047" cy="3840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78440" y="29718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6B6B"/>
                </a:solidFill>
                <a:latin typeface="Aptos"/>
              </a:rPr>
              <a:t>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19" y="3310128"/>
            <a:ext cx="1261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30-day experiment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486400" y="3858768"/>
            <a:ext cx="5440680" cy="0"/>
          </a:xfrm>
          <a:prstGeom prst="line">
            <a:avLst/>
          </a:prstGeom>
          <a:ln w="20320">
            <a:solidFill>
              <a:srgbClr val="4FE3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492240" y="391363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4FE3C1"/>
                </a:solidFill>
                <a:latin typeface="Aptos"/>
              </a:rPr>
              <a:t>new evidence updates the next exploration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92040" y="4645152"/>
            <a:ext cx="6419088" cy="107899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4920" y="484632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5175504"/>
            <a:ext cx="1024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Refuses to guess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484632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5175504"/>
            <a:ext cx="1024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Shows disagreement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484632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5175504"/>
            <a:ext cx="1024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No manufactured winner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484632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95360" y="5175504"/>
            <a:ext cx="1024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Sources + freshness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95560" y="484632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75520" y="5175504"/>
            <a:ext cx="1024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Vocational routes are first-class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product design and implemented behavior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Validation is the next product—not a footnote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analysis pipeline is verified. The instrument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15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27048"/>
            <a:ext cx="3703320" cy="64008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46504"/>
            <a:ext cx="3346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PIPELINE VERIFIED</a:t>
            </a:r>
            <a:r>
              <a:rPr sz="1500" b="1" i="0">
                <a:solidFill>
                  <a:srgbClr val="A8A8BE"/>
                </a:solidFill>
                <a:latin typeface="Aptos"/>
              </a:rPr>
              <a:t>  ≠  </a:t>
            </a:r>
            <a:r>
              <a:rPr sz="1500" b="1" i="0">
                <a:solidFill>
                  <a:srgbClr val="FFD37A"/>
                </a:solidFill>
                <a:latin typeface="Aptos"/>
              </a:rPr>
              <a:t>INSTRUMENT VALIDATED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41448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5146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Ethics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45973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Approval · parent consent · student assent · PDPA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2898648"/>
            <a:ext cx="0" cy="201167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77240" y="3035808"/>
            <a:ext cx="457200" cy="457200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05409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Cognitive debrief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305409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n ≈ 30–40 · meaning and translation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40" y="349300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77240" y="3630168"/>
            <a:ext cx="457200" cy="457200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37033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64845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364845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target n = 250 · minimum 200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5840" y="408736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77240" y="4224528"/>
            <a:ext cx="457200" cy="457200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4297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24281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Measurement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424281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α + ω · item-total · “not sure” rate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468172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489204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3717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483717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RIASEC circular-order randomisation test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5840" y="527608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77240" y="5413248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" y="54864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43153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Revise + re-pilot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543153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then invariance and outcome studies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16276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PROPOSED SUCCESS MEASURES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03720" y="2084831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50608" y="22311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ASSESSMENT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2221991"/>
            <a:ext cx="28163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Reliability · item quality · construct structure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3017520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50608" y="316382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ROUTES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79" y="3154679"/>
            <a:ext cx="28163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Relevance · counsellor agreement · diversity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03720" y="3950208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50608" y="409651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EXPERIENCE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4087368"/>
            <a:ext cx="28163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Completion · comprehension · route exploration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03720" y="4882896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50608" y="502920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LONG-TERM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83879" y="5020056"/>
            <a:ext cx="28163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Can the student still explain and defend the choice?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03720" y="5907024"/>
            <a:ext cx="4343400" cy="38404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6007608"/>
            <a:ext cx="3977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D37A"/>
                </a:solidFill>
                <a:latin typeface="Aptos"/>
              </a:rPr>
              <a:t>No reliability, norms or validity results exist yet.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FutureMe validation plan + pre-registered pilot protocol (30 Jul 2026)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From runnable demo to trusted 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Every phase has a gate; partnerships stay exploratory until something is signed.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16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August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011680"/>
            <a:ext cx="8412480" cy="0"/>
          </a:xfrm>
          <a:prstGeom prst="line">
            <a:avLst/>
          </a:prstGeom>
          <a:ln w="2540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31520" y="1581912"/>
            <a:ext cx="859536" cy="859536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55064"/>
            <a:ext cx="713231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070D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06040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4FE3C1"/>
                </a:solidFill>
                <a:latin typeface="Aptos"/>
              </a:rPr>
              <a:t>DONE</a:t>
            </a:r>
          </a:p>
        </p:txBody>
      </p:sp>
      <p:sp>
        <p:nvSpPr>
          <p:cNvPr id="14" name="Oval 13"/>
          <p:cNvSpPr/>
          <p:nvPr/>
        </p:nvSpPr>
        <p:spPr>
          <a:xfrm>
            <a:off x="2834640" y="1581912"/>
            <a:ext cx="859536" cy="859536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1655064"/>
            <a:ext cx="713231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06040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Runnable
prototype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15468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4FE3C1"/>
                </a:solidFill>
                <a:latin typeface="Aptos"/>
              </a:rPr>
              <a:t>DONE</a:t>
            </a:r>
          </a:p>
        </p:txBody>
      </p:sp>
      <p:sp>
        <p:nvSpPr>
          <p:cNvPr id="18" name="Oval 17"/>
          <p:cNvSpPr/>
          <p:nvPr/>
        </p:nvSpPr>
        <p:spPr>
          <a:xfrm>
            <a:off x="4937760" y="1581912"/>
            <a:ext cx="859536" cy="859536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0912" y="1655064"/>
            <a:ext cx="713231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606040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5468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FFD37A"/>
                </a:solidFill>
                <a:latin typeface="Aptos"/>
              </a:rPr>
              <a:t>NOW · NEXT</a:t>
            </a:r>
          </a:p>
        </p:txBody>
      </p:sp>
      <p:sp>
        <p:nvSpPr>
          <p:cNvPr id="22" name="Oval 21"/>
          <p:cNvSpPr/>
          <p:nvPr/>
        </p:nvSpPr>
        <p:spPr>
          <a:xfrm>
            <a:off x="7040880" y="1581912"/>
            <a:ext cx="859536" cy="859536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4032" y="1655064"/>
            <a:ext cx="713231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606040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School 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15468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C13BF0"/>
                </a:solidFill>
                <a:latin typeface="Aptos"/>
              </a:rPr>
              <a:t>PLANNED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0" y="1581912"/>
            <a:ext cx="859536" cy="859536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17152" y="1655064"/>
            <a:ext cx="713231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606040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Ecosystem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15468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6D5EF6"/>
                </a:solidFill>
                <a:latin typeface="Aptos"/>
              </a:rPr>
              <a:t>EXPLORATORY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675887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D37A"/>
                </a:solidFill>
                <a:latin typeface="Aptos"/>
              </a:rPr>
              <a:t>Phase 3: adapt Thai translation · validate instrument + missions · licensed route data · bias + safety audit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251960"/>
            <a:ext cx="5230368" cy="71323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4805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8A8BE"/>
                </a:solidFill>
                <a:latin typeface="Aptos"/>
              </a:rPr>
              <a:t>Career test  →  </a:t>
            </a:r>
            <a:r>
              <a:rPr sz="1550" b="1" i="0">
                <a:solidFill>
                  <a:srgbClr val="4FE3C1"/>
                </a:solidFill>
                <a:latin typeface="Aptos"/>
              </a:rPr>
              <a:t>AI career discovery companion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084064"/>
            <a:ext cx="4892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Sukhumvit Set"/>
              </a:rPr>
              <a:t>ช่วยให้เด็กเข้าใจตัวเอง ทดลองทางเลือก และตัดสินใจด้วยเหตุผลที่อธิบายได้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242816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SELECTED REFERENCES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590288"/>
            <a:ext cx="50749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[1] TDRI — การพัฒนาทุนมนุษย์ไทย (2025)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[2] NSO — Social Indicators 2025, p.185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[3] NESDC — ภาวะสังคมไทย Q2/2568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[4] OECD — PIAAC 2023 mismatch evidence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[5] WEF — Future of Jobs 2025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[6] Holland (1997) + O*NET Interest Profiler Manual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[7] FutureMe Source Audit, Methodology &amp; Pilot Protocol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Full source registry: 01_Research/Data/REFERENCES.md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FutureMe AI — Project Case Study</dc:title>
  <dc:subject>Problem, evidence, design, implementation, validation and roadmap</dc:subject>
  <dc:creator>FutureMe AI project team</dc:creator>
  <cp:keywords>FutureMe, Thai education, career exploration, RIASEC, explainable AI</cp:keywords>
  <dc:description>Generated from the audited Data folder and the runnable prototype. Current versus planned capabilities are separated throughout.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